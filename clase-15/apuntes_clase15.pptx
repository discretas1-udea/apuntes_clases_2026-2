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5" r:id="rId1"/>
    <p:sldMasterId id="2147483712" r:id="rId2"/>
  </p:sldMasterIdLst>
  <p:notesMasterIdLst>
    <p:notesMasterId r:id="rId42"/>
  </p:notesMasterIdLst>
  <p:sldIdLst>
    <p:sldId id="256" r:id="rId3"/>
    <p:sldId id="618" r:id="rId4"/>
    <p:sldId id="402" r:id="rId5"/>
    <p:sldId id="614" r:id="rId6"/>
    <p:sldId id="615" r:id="rId7"/>
    <p:sldId id="616" r:id="rId8"/>
    <p:sldId id="619" r:id="rId9"/>
    <p:sldId id="617" r:id="rId10"/>
    <p:sldId id="491" r:id="rId11"/>
    <p:sldId id="585" r:id="rId12"/>
    <p:sldId id="716" r:id="rId13"/>
    <p:sldId id="678" r:id="rId14"/>
    <p:sldId id="679" r:id="rId15"/>
    <p:sldId id="613" r:id="rId16"/>
    <p:sldId id="593" r:id="rId17"/>
    <p:sldId id="676" r:id="rId18"/>
    <p:sldId id="621" r:id="rId19"/>
    <p:sldId id="622" r:id="rId20"/>
    <p:sldId id="623" r:id="rId21"/>
    <p:sldId id="624" r:id="rId22"/>
    <p:sldId id="681" r:id="rId23"/>
    <p:sldId id="682" r:id="rId24"/>
    <p:sldId id="683" r:id="rId25"/>
    <p:sldId id="684" r:id="rId26"/>
    <p:sldId id="685" r:id="rId27"/>
    <p:sldId id="625" r:id="rId28"/>
    <p:sldId id="626" r:id="rId29"/>
    <p:sldId id="627" r:id="rId30"/>
    <p:sldId id="629" r:id="rId31"/>
    <p:sldId id="630" r:id="rId32"/>
    <p:sldId id="631" r:id="rId33"/>
    <p:sldId id="632" r:id="rId34"/>
    <p:sldId id="633" r:id="rId35"/>
    <p:sldId id="634" r:id="rId36"/>
    <p:sldId id="635" r:id="rId37"/>
    <p:sldId id="636" r:id="rId38"/>
    <p:sldId id="637" r:id="rId39"/>
    <p:sldId id="638" r:id="rId40"/>
    <p:sldId id="639" r:id="rId41"/>
  </p:sldIdLst>
  <p:sldSz cx="12192000" cy="6858000"/>
  <p:notesSz cx="6858000" cy="9144000"/>
  <p:embeddedFontLst>
    <p:embeddedFont>
      <p:font typeface="Calibri" panose="020F0502020204030204" pitchFamily="34" charset="0"/>
      <p:regular r:id="rId43"/>
      <p:bold r:id="rId44"/>
      <p:italic r:id="rId45"/>
      <p:boldItalic r:id="rId46"/>
    </p:embeddedFont>
    <p:embeddedFont>
      <p:font typeface="Calibri Light" panose="020F0302020204030204" pitchFamily="34" charset="0"/>
      <p:regular r:id="rId47"/>
      <p:italic r:id="rId48"/>
    </p:embeddedFont>
    <p:embeddedFont>
      <p:font typeface="Cambria Math" panose="02040503050406030204" pitchFamily="18" charset="0"/>
      <p:regular r:id="rId49"/>
    </p:embeddedFont>
    <p:embeddedFont>
      <p:font typeface="Consolas" panose="020B0609020204030204" pitchFamily="49" charset="0"/>
      <p:regular r:id="rId50"/>
      <p:bold r:id="rId51"/>
      <p:italic r:id="rId52"/>
      <p:boldItalic r:id="rId53"/>
    </p:embeddedFont>
    <p:embeddedFont>
      <p:font typeface="Roboto" panose="02000000000000000000" pitchFamily="2" charset="0"/>
      <p:regular r:id="rId54"/>
      <p:bold r:id="rId55"/>
      <p:italic r:id="rId56"/>
      <p:boldItalic r:id="rId57"/>
    </p:embeddedFont>
    <p:embeddedFont>
      <p:font typeface="Roboto Slab" panose="020B0604020202020204" charset="0"/>
      <p:regular r:id="rId58"/>
      <p:bold r:id="rId59"/>
    </p:embeddedFont>
  </p:embeddedFontLst>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D6A3598-7CB8-4345-8D95-17CE05F158A0}">
  <a:tblStyle styleId="{AD6A3598-7CB8-4345-8D95-17CE05F158A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56" autoAdjust="0"/>
    <p:restoredTop sz="89503" autoAdjust="0"/>
  </p:normalViewPr>
  <p:slideViewPr>
    <p:cSldViewPr snapToGrid="0">
      <p:cViewPr>
        <p:scale>
          <a:sx n="75" d="100"/>
          <a:sy n="75" d="100"/>
        </p:scale>
        <p:origin x="522" y="-5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font" Target="fonts/font16.fntdata"/><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font" Target="fonts/font14.fntdata"/><Relationship Id="rId8" Type="http://schemas.openxmlformats.org/officeDocument/2006/relationships/slide" Target="slides/slide6.xml"/><Relationship Id="rId51" Type="http://schemas.openxmlformats.org/officeDocument/2006/relationships/font" Target="fonts/font9.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4.fntdata"/><Relationship Id="rId59" Type="http://schemas.openxmlformats.org/officeDocument/2006/relationships/font" Target="fonts/font17.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2.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7.fntdata"/><Relationship Id="rId57" Type="http://schemas.openxmlformats.org/officeDocument/2006/relationships/font" Target="fonts/font1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2.fntdata"/><Relationship Id="rId52" Type="http://schemas.openxmlformats.org/officeDocument/2006/relationships/font" Target="fonts/font10.fntdata"/><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78358aba0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78358aba0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60381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8457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38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62757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215557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887028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1872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4461601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2746271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2584412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9240904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7387042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1397242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5258363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42074840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2142176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7617062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1940702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475287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42007334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9416986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246352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6257592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6924728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42459377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90016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04884718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3913422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4939151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4846798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1425313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1067445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51139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5040741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783384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2946307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9013762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6058621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197931-88D2-48EC-BDFD-C8C3C5166BD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38679D90-F057-4BD5-83C0-DDC6EE21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2C13BD3-4696-4B09-8A88-F3994E7C744A}"/>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FF285628-4B07-48C3-A0F4-63457190B13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2DA6BEC-6DF4-4166-BD89-B2E0A39B701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8165647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74B2C-17C9-4AA4-9668-F80AC962E69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258D9D8-9866-4269-8D7D-807856891CC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9E009FBE-E524-4470-9FCD-AEB4BE306994}"/>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944FB710-71F8-4468-A8D3-4E66EDFF901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AD742D-28B3-4CCB-96B9-49F1E45104F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91804877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24E514-96C5-4BA6-8853-8FD23DBA49B2}"/>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CB46064-8B93-4EDC-9C8C-E62E5E204D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0B64F67B-C4F9-4EEE-B654-135E40590AE6}"/>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D642D2EB-0949-472E-B96E-7077F243965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48BF961-D28F-480C-A33B-2D90830F3586}"/>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855607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D49851-BE79-4814-B324-7A715144F00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B8196A1-DDE1-4352-9C3D-A0CD29769B44}"/>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370082F4-C4BC-4497-8E38-2AAC216C98E3}"/>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41CBF39F-7AC4-42AD-8BED-FB13480278B0}"/>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32CD1E40-2EDD-42B2-8717-B610AA70C44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2C650591-7D21-4F93-B6A8-04637AA5290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2587911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A18ABB-EB85-46DB-94FC-5071555A8DD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20E644E-2C94-4905-A3B3-39494B91F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91FDA4E-3792-47ED-A324-BE4AB193A7A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BAA52EB-49DC-417B-A1D3-7E5D77F55D4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6D28227-5811-416F-8EB6-975798573498}"/>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13328A4A-DB4B-4AF3-A5E0-7FDD49D01449}"/>
              </a:ext>
            </a:extLst>
          </p:cNvPr>
          <p:cNvSpPr>
            <a:spLocks noGrp="1"/>
          </p:cNvSpPr>
          <p:nvPr>
            <p:ph type="dt" sz="half" idx="10"/>
          </p:nvPr>
        </p:nvSpPr>
        <p:spPr/>
        <p:txBody>
          <a:bodyPr/>
          <a:lstStyle/>
          <a:p>
            <a:endParaRPr lang="es-CO"/>
          </a:p>
        </p:txBody>
      </p:sp>
      <p:sp>
        <p:nvSpPr>
          <p:cNvPr id="8" name="Marcador de pie de página 7">
            <a:extLst>
              <a:ext uri="{FF2B5EF4-FFF2-40B4-BE49-F238E27FC236}">
                <a16:creationId xmlns:a16="http://schemas.microsoft.com/office/drawing/2014/main" id="{8760E545-7BCF-40CB-8EA9-E2B4649257ED}"/>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3089E4DE-3B1B-4798-B272-2678EA5F2ED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1935449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87F13F-4B41-424E-B1EA-AD2F1961BB7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A0B4F20C-7C18-429B-BBC6-F1E1923258DF}"/>
              </a:ext>
            </a:extLst>
          </p:cNvPr>
          <p:cNvSpPr>
            <a:spLocks noGrp="1"/>
          </p:cNvSpPr>
          <p:nvPr>
            <p:ph type="dt" sz="half" idx="10"/>
          </p:nvPr>
        </p:nvSpPr>
        <p:spPr/>
        <p:txBody>
          <a:bodyPr/>
          <a:lstStyle/>
          <a:p>
            <a:endParaRPr lang="es-CO"/>
          </a:p>
        </p:txBody>
      </p:sp>
      <p:sp>
        <p:nvSpPr>
          <p:cNvPr id="4" name="Marcador de pie de página 3">
            <a:extLst>
              <a:ext uri="{FF2B5EF4-FFF2-40B4-BE49-F238E27FC236}">
                <a16:creationId xmlns:a16="http://schemas.microsoft.com/office/drawing/2014/main" id="{D3DD1AD9-50A0-4CE3-8023-232BC37E16F2}"/>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0C54793-A555-45AF-9D0F-A5E36048093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0695830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0C75C98-5CC7-41D3-8B42-1FBCC7B8604E}"/>
              </a:ext>
            </a:extLst>
          </p:cNvPr>
          <p:cNvSpPr>
            <a:spLocks noGrp="1"/>
          </p:cNvSpPr>
          <p:nvPr>
            <p:ph type="dt" sz="half" idx="10"/>
          </p:nvPr>
        </p:nvSpPr>
        <p:spPr/>
        <p:txBody>
          <a:bodyPr/>
          <a:lstStyle/>
          <a:p>
            <a:endParaRPr lang="es-CO"/>
          </a:p>
        </p:txBody>
      </p:sp>
      <p:sp>
        <p:nvSpPr>
          <p:cNvPr id="3" name="Marcador de pie de página 2">
            <a:extLst>
              <a:ext uri="{FF2B5EF4-FFF2-40B4-BE49-F238E27FC236}">
                <a16:creationId xmlns:a16="http://schemas.microsoft.com/office/drawing/2014/main" id="{A4F9A19D-8546-4DB7-943E-A6C40975FE65}"/>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E834467-C085-4B5F-A2D6-1D111E7B63C3}"/>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429740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815EE5-EEA6-4207-BAC5-8F00A701829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FEC8231-695B-4518-9BF7-E97F512387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92354B8A-1CBC-41E0-A9E8-5FB2EDDB22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4F94055-E401-4C0E-938D-614524727DC5}"/>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83E66432-8574-4009-93CD-B90204AD67C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6F7A7D2-9509-468B-B64D-B399F9DB324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4490933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E419B6-6D50-4A22-8E95-82EE8602FE7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F31C67-83EC-4E09-A025-68611B0A313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88D1882C-D761-4343-B07D-229B12E86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1EC2773-E284-4FB7-96DB-FA2355335C55}"/>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D2179AA4-7DC2-4E0C-97DC-8A68C1379C78}"/>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407F01C-D4A8-4D86-8512-8420DA1E1638}"/>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20013850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3C9AA4-F3E2-4CC2-A284-905F19ECAC4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A6CBEBAE-E35C-4899-864F-A5E0E8FF5631}"/>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92D712-9AB0-4144-8F48-C505B6253E04}"/>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CD14778D-63AC-4546-B99B-D4A982BAA4F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B497614-F0BD-4E0B-BF9D-789914892DD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315041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DCF5863-9BB8-4C9A-9E37-8A7D97BE2D6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736A67F6-87AB-4DD7-B3BC-A39896F4C89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7C8C0A3-B3A6-4C11-B5E9-3F6DDA9113A6}"/>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30C6C295-0416-473F-848C-AC3B030A9B1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9718280-2589-4855-81D4-C63D086CD72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8751463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
        <p:nvSpPr>
          <p:cNvPr id="29" name="Google Shape;29;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0" name="Google Shape;30;p3"/>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31" name="Google Shape;31;p3"/>
          <p:cNvSpPr/>
          <p:nvPr/>
        </p:nvSpPr>
        <p:spPr>
          <a:xfrm rot="5400000">
            <a:off x="-3061973" y="3062100"/>
            <a:ext cx="6858000" cy="7338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32" name="Google Shape;32;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3" name="Google Shape;33;p3"/>
          <p:cNvSpPr/>
          <p:nvPr/>
        </p:nvSpPr>
        <p:spPr>
          <a:xfrm>
            <a:off x="11347918" y="6390907"/>
            <a:ext cx="178200" cy="1782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4" name="Google Shape;34;p3"/>
          <p:cNvSpPr/>
          <p:nvPr/>
        </p:nvSpPr>
        <p:spPr>
          <a:xfrm>
            <a:off x="11042181" y="6386352"/>
            <a:ext cx="178200" cy="1782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 name="Google Shape;35;p3"/>
          <p:cNvSpPr/>
          <p:nvPr/>
        </p:nvSpPr>
        <p:spPr>
          <a:xfrm>
            <a:off x="10736444" y="6390907"/>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16371077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1 1">
  <p:cSld name="UdeA-Nueva 1 1 1">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701E5C"/>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0" name="Google Shape;50;p5"/>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51" name="Google Shape;51;p5"/>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2" name="Google Shape;52;p5"/>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5"/>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pic>
        <p:nvPicPr>
          <p:cNvPr id="54" name="Google Shape;54;p5"/>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55" name="Google Shape;55;p5"/>
          <p:cNvSpPr/>
          <p:nvPr/>
        </p:nvSpPr>
        <p:spPr>
          <a:xfrm rot="5400000">
            <a:off x="-3061973" y="3062100"/>
            <a:ext cx="6858000" cy="7338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56" name="Google Shape;56;p5"/>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7" name="Google Shape;57;p5"/>
          <p:cNvSpPr/>
          <p:nvPr/>
        </p:nvSpPr>
        <p:spPr>
          <a:xfrm>
            <a:off x="11347918" y="6390907"/>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 name="Google Shape;58;p5"/>
          <p:cNvSpPr/>
          <p:nvPr/>
        </p:nvSpPr>
        <p:spPr>
          <a:xfrm>
            <a:off x="11042181" y="6386352"/>
            <a:ext cx="178200" cy="178200"/>
          </a:xfrm>
          <a:prstGeom prst="rect">
            <a:avLst/>
          </a:prstGeom>
          <a:solidFill>
            <a:srgbClr val="0B693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 name="Google Shape;59;p5"/>
          <p:cNvSpPr/>
          <p:nvPr/>
        </p:nvSpPr>
        <p:spPr>
          <a:xfrm>
            <a:off x="10736444" y="6390907"/>
            <a:ext cx="178200" cy="1782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40233359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pic>
        <p:nvPicPr>
          <p:cNvPr id="42" name="Google Shape;42;p4"/>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43" name="Google Shape;43;p4"/>
          <p:cNvSpPr/>
          <p:nvPr/>
        </p:nvSpPr>
        <p:spPr>
          <a:xfrm rot="5400000">
            <a:off x="-3061973" y="3062100"/>
            <a:ext cx="6858000" cy="7338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44" name="Google Shape;44;p4"/>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5" name="Google Shape;45;p4"/>
          <p:cNvSpPr/>
          <p:nvPr/>
        </p:nvSpPr>
        <p:spPr>
          <a:xfrm>
            <a:off x="11347918" y="6390907"/>
            <a:ext cx="178200" cy="1782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11042181" y="6386352"/>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 name="Google Shape;47;p4"/>
          <p:cNvSpPr/>
          <p:nvPr/>
        </p:nvSpPr>
        <p:spPr>
          <a:xfrm>
            <a:off x="10736444" y="6390907"/>
            <a:ext cx="178200" cy="178200"/>
          </a:xfrm>
          <a:prstGeom prst="rect">
            <a:avLst/>
          </a:prstGeom>
          <a:solidFill>
            <a:srgbClr val="0B693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19296263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AFFE9A-A417-49FE-A689-B6B8F3B54EC7}"/>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BCDE3CE-5C25-4D75-B1E8-601BEC3A03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1DB345CD-D978-4478-86BC-D30AA7FBC1FA}"/>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5DC4F2C3-5846-4BF1-BF74-D719F20ED64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F26BDC5-4CF2-4362-A1B1-95A8F0914724}"/>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216940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E9A81F-D782-459B-9ECA-C8FDBF74991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921949F-F43D-46BA-86DB-C41ED300D85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42556E40-33B4-4D2F-981F-683E38BEE269}"/>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C65510E2-C9EA-4244-8E3E-A653DDCA037B}"/>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C446CF-C75D-4425-9864-F4E0E9E48096}"/>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143047269"/>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D6096A-9154-428C-BEAF-F27AA61904D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9A21B222-E0E5-4A28-AC65-8D33E8BE94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8E95E541-A600-44BB-B03C-8EA9AEB6E911}"/>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82F69A72-44C3-4CD7-8632-80B9AA39726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259939E-D8BF-4ED0-A96D-3C075B2013A6}"/>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6030417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B7F495-F900-4084-90A3-D03A6FC8413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B5921C08-4321-4B88-9527-6CA32B0AE20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46EB8F8-B48E-4CEA-98BE-A6F0A26049E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9CD3F49-4699-400C-B4ED-75F4623461EC}"/>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DE1A9E01-2AE3-4296-A89B-8A3BFA4FF57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A787672-B2D9-4540-BF33-5D0395983C2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7157385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AFC7F4-25A0-4091-948A-B3250DD7E4B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9B30B18-65A3-49DF-AB28-57C2927166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404E654-9BBC-4536-8629-0EB08F46303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3A19DF87-A8F4-458D-AE8D-A32220B131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94147DCC-131E-4CDF-B129-CAD0F7EEA3C4}"/>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3E467E3A-7505-492B-9A0D-F5BE19CA0334}"/>
              </a:ext>
            </a:extLst>
          </p:cNvPr>
          <p:cNvSpPr>
            <a:spLocks noGrp="1"/>
          </p:cNvSpPr>
          <p:nvPr>
            <p:ph type="dt" sz="half" idx="10"/>
          </p:nvPr>
        </p:nvSpPr>
        <p:spPr/>
        <p:txBody>
          <a:bodyPr/>
          <a:lstStyle/>
          <a:p>
            <a:endParaRPr lang="es-CO"/>
          </a:p>
        </p:txBody>
      </p:sp>
      <p:sp>
        <p:nvSpPr>
          <p:cNvPr id="8" name="Marcador de pie de página 7">
            <a:extLst>
              <a:ext uri="{FF2B5EF4-FFF2-40B4-BE49-F238E27FC236}">
                <a16:creationId xmlns:a16="http://schemas.microsoft.com/office/drawing/2014/main" id="{02D965C2-14E2-448C-90E9-8084B12F4684}"/>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CDEC7A39-E8BD-402A-B0B5-C0422375CB0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81010863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A00798-7608-4077-8891-B7E9818E72F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117429B-9DFB-4A22-AD34-A206B023A1BE}"/>
              </a:ext>
            </a:extLst>
          </p:cNvPr>
          <p:cNvSpPr>
            <a:spLocks noGrp="1"/>
          </p:cNvSpPr>
          <p:nvPr>
            <p:ph type="dt" sz="half" idx="10"/>
          </p:nvPr>
        </p:nvSpPr>
        <p:spPr/>
        <p:txBody>
          <a:bodyPr/>
          <a:lstStyle/>
          <a:p>
            <a:endParaRPr lang="es-CO"/>
          </a:p>
        </p:txBody>
      </p:sp>
      <p:sp>
        <p:nvSpPr>
          <p:cNvPr id="4" name="Marcador de pie de página 3">
            <a:extLst>
              <a:ext uri="{FF2B5EF4-FFF2-40B4-BE49-F238E27FC236}">
                <a16:creationId xmlns:a16="http://schemas.microsoft.com/office/drawing/2014/main" id="{079D6513-9725-4CBB-BC5E-5B57B0E34189}"/>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41A5A103-AAFF-48E8-BCE4-C606863DB24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81271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1AC886D-5DAD-4EBF-ABDF-0D6D50361229}"/>
              </a:ext>
            </a:extLst>
          </p:cNvPr>
          <p:cNvSpPr>
            <a:spLocks noGrp="1"/>
          </p:cNvSpPr>
          <p:nvPr>
            <p:ph type="dt" sz="half" idx="10"/>
          </p:nvPr>
        </p:nvSpPr>
        <p:spPr/>
        <p:txBody>
          <a:bodyPr/>
          <a:lstStyle/>
          <a:p>
            <a:endParaRPr lang="es-CO"/>
          </a:p>
        </p:txBody>
      </p:sp>
      <p:sp>
        <p:nvSpPr>
          <p:cNvPr id="3" name="Marcador de pie de página 2">
            <a:extLst>
              <a:ext uri="{FF2B5EF4-FFF2-40B4-BE49-F238E27FC236}">
                <a16:creationId xmlns:a16="http://schemas.microsoft.com/office/drawing/2014/main" id="{BE76F4A8-8066-48C2-9DC1-9181C20C4802}"/>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B1D8469B-A72C-4E36-82EE-4D0EB2BAFDF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00332147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D3618-A05A-44A6-B4CC-4C374C18C82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F3121F3-EF8A-4ED7-8718-67DDE198FA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C449BBE3-A17A-4762-B3AB-D43BF29D8E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B607123-93A8-4D4C-B404-A444FAA2A429}"/>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1E23344E-0C4D-4A07-AC26-2080E087308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1E9CBE4F-8891-4273-9EF2-688C1C91EAD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42105532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4AAF77-186F-4730-A135-F23727E2E39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64436F4C-1038-497F-9430-0E48278F5A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680645CA-97ED-400F-8B73-37F9C995A7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48EADD-F282-4E9E-9F6D-6AC3A71FA720}"/>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F2B1FF73-BD0D-4136-9544-FD0C1F7F222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2E67645-D4E4-4AFB-A797-89F025DCD48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541429856"/>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3B7FAB-D592-490F-AB1D-B83BE9A013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EE6A8C98-F81D-4BD7-BA72-3D711A4F5BD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2E0E42C-1CFC-40E8-BB7A-AF4E25B6D96F}"/>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BF6BF48B-8518-4C75-A0E6-D82580A3FCA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BDA933D-073A-4157-8588-6B7B9DF3C35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6920926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2080420E-76BF-4145-B1EC-805FAE4502C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06A5153-DD80-4362-8834-C3E356F6257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498D883B-914C-4858-89D9-C6F153D21601}"/>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AAB43954-EE32-4BB8-8BBE-B0634096F6C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D9C55D8-E6B3-4A1F-9738-C7B7C54503B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7733163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UdeA-Nueva 1 1 1">
  <p:cSld name="UdeA-Nueva 1 1 1">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701E5C"/>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0" name="Google Shape;50;p5"/>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51" name="Google Shape;51;p5"/>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2" name="Google Shape;52;p5"/>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5"/>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51733488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2876159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1E7B29E-FD20-45CE-B6B9-11DBA95B44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6E3B48-B3F4-480E-AA13-7F98C293F8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C5C6A56-744E-406A-A3F4-EB0DB79BFC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s-CO"/>
          </a:p>
        </p:txBody>
      </p:sp>
      <p:sp>
        <p:nvSpPr>
          <p:cNvPr id="5" name="Marcador de pie de página 4">
            <a:extLst>
              <a:ext uri="{FF2B5EF4-FFF2-40B4-BE49-F238E27FC236}">
                <a16:creationId xmlns:a16="http://schemas.microsoft.com/office/drawing/2014/main" id="{6AFCF1F0-6C88-47BC-ABAB-E51E406569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687FB6FA-3336-4974-922C-505465D633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819279301"/>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9" r:id="rId12"/>
    <p:sldLayoutId id="2147483710" r:id="rId13"/>
    <p:sldLayoutId id="2147483711" r:id="rId14"/>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C0DC71A-3361-40A9-B642-F4482181AA1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42EF320-A41C-4D87-ACA2-ADF742E0B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DFCA02E-F067-4D87-867B-DDDA684C4F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s-CO"/>
          </a:p>
        </p:txBody>
      </p:sp>
      <p:sp>
        <p:nvSpPr>
          <p:cNvPr id="5" name="Marcador de pie de página 4">
            <a:extLst>
              <a:ext uri="{FF2B5EF4-FFF2-40B4-BE49-F238E27FC236}">
                <a16:creationId xmlns:a16="http://schemas.microsoft.com/office/drawing/2014/main" id="{A138B066-89C7-426A-B233-DA4FF62CF8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018512A4-01C6-40E0-A0BA-EEAB89FA06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283212898"/>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hyperlink" Target="https://www.explainxkcd.com/" TargetMode="Externa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6.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6.png"/><Relationship Id="rId12"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6.xml"/><Relationship Id="rId6" Type="http://schemas.openxmlformats.org/officeDocument/2006/relationships/image" Target="../media/image15.png"/><Relationship Id="rId11" Type="http://schemas.openxmlformats.org/officeDocument/2006/relationships/image" Target="../media/image12.png"/><Relationship Id="rId5" Type="http://schemas.openxmlformats.org/officeDocument/2006/relationships/image" Target="../media/image14.jpeg"/><Relationship Id="rId10" Type="http://schemas.openxmlformats.org/officeDocument/2006/relationships/image" Target="../media/image19.png"/><Relationship Id="rId4" Type="http://schemas.openxmlformats.org/officeDocument/2006/relationships/image" Target="../media/image13.jpe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www.manning.com/books/grokking-algorithms-second-edition" TargetMode="External"/><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image" Target="../media/image21.jpe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hyperlink" Target="https://www.manning.com/books/grokking-algorithms-second-edition" TargetMode="External"/><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6.xml"/><Relationship Id="rId6" Type="http://schemas.openxmlformats.org/officeDocument/2006/relationships/image" Target="../media/image29.png"/><Relationship Id="rId11" Type="http://schemas.openxmlformats.org/officeDocument/2006/relationships/image" Target="../media/image33.png"/><Relationship Id="rId5" Type="http://schemas.openxmlformats.org/officeDocument/2006/relationships/image" Target="../media/image28.png"/><Relationship Id="rId10" Type="http://schemas.openxmlformats.org/officeDocument/2006/relationships/image" Target="../media/image12.png"/><Relationship Id="rId4" Type="http://schemas.openxmlformats.org/officeDocument/2006/relationships/image" Target="../media/image27.png"/><Relationship Id="rId9" Type="http://schemas.openxmlformats.org/officeDocument/2006/relationships/image" Target="../media/image32.png"/></Relationships>
</file>

<file path=ppt/slides/_rels/slide8.xml.rels><?xml version="1.0" encoding="UTF-8" standalone="yes"?>
<Relationships xmlns="http://schemas.openxmlformats.org/package/2006/relationships"><Relationship Id="rId3" Type="http://schemas.openxmlformats.org/officeDocument/2006/relationships/hyperlink" Target="https://www.manning.com/books/grokking-algorithms-second-edition" TargetMode="External"/><Relationship Id="rId7"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6.xml"/><Relationship Id="rId6" Type="http://schemas.openxmlformats.org/officeDocument/2006/relationships/image" Target="../media/image12.png"/><Relationship Id="rId5" Type="http://schemas.openxmlformats.org/officeDocument/2006/relationships/image" Target="../media/image34.png"/><Relationship Id="rId4" Type="http://schemas.openxmlformats.org/officeDocument/2006/relationships/hyperlink" Target="https://github.com/egonSchiele/grokking_algorithms/blob/master/06_breadth-first_search/python/01_breadth-first_search.py"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6.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1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20.png"/><Relationship Id="rId7" Type="http://schemas.openxmlformats.org/officeDocument/2006/relationships/image" Target="../media/image47.png"/><Relationship Id="rId2" Type="http://schemas.openxmlformats.org/officeDocument/2006/relationships/notesSlide" Target="../notesSlides/notesSlide10.xml"/><Relationship Id="rId1" Type="http://schemas.openxmlformats.org/officeDocument/2006/relationships/slideLayout" Target="../slideLayouts/slideLayout16.xml"/><Relationship Id="rId6" Type="http://schemas.openxmlformats.org/officeDocument/2006/relationships/image" Target="../media/image46.png"/><Relationship Id="rId5" Type="http://schemas.openxmlformats.org/officeDocument/2006/relationships/image" Target="../media/image45.png"/><Relationship Id="rId10"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49.png"/></Relationships>
</file>

<file path=ppt/slides/_rels/slide11.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20.png"/><Relationship Id="rId7" Type="http://schemas.openxmlformats.org/officeDocument/2006/relationships/image" Target="../media/image52.png"/><Relationship Id="rId2" Type="http://schemas.openxmlformats.org/officeDocument/2006/relationships/notesSlide" Target="../notesSlides/notesSlide11.xml"/><Relationship Id="rId1" Type="http://schemas.openxmlformats.org/officeDocument/2006/relationships/slideLayout" Target="../slideLayouts/slideLayout16.xml"/><Relationship Id="rId6" Type="http://schemas.openxmlformats.org/officeDocument/2006/relationships/image" Target="../media/image51.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0.png"/></Relationships>
</file>

<file path=ppt/slides/_rels/slide1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4.xml"/><Relationship Id="rId1" Type="http://schemas.openxmlformats.org/officeDocument/2006/relationships/slideLayout" Target="../slideLayouts/slideLayout16.xml"/><Relationship Id="rId6" Type="http://schemas.openxmlformats.org/officeDocument/2006/relationships/image" Target="../media/image57.png"/><Relationship Id="rId5" Type="http://schemas.openxmlformats.org/officeDocument/2006/relationships/image" Target="../media/image55.jpeg"/><Relationship Id="rId4" Type="http://schemas.openxmlformats.org/officeDocument/2006/relationships/image" Target="../media/image54.png"/></Relationships>
</file>

<file path=ppt/slides/_rels/slide1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6.xml"/><Relationship Id="rId1" Type="http://schemas.openxmlformats.org/officeDocument/2006/relationships/slideLayout" Target="../slideLayouts/slideLayout27.xml"/></Relationships>
</file>

<file path=ppt/slides/_rels/slide17.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620.png"/><Relationship Id="rId7"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27.xml"/><Relationship Id="rId6" Type="http://schemas.openxmlformats.org/officeDocument/2006/relationships/image" Target="../media/image59.png"/><Relationship Id="rId11" Type="http://schemas.openxmlformats.org/officeDocument/2006/relationships/image" Target="../media/image67.png"/><Relationship Id="rId5" Type="http://schemas.openxmlformats.org/officeDocument/2006/relationships/image" Target="../media/image58.png"/><Relationship Id="rId10" Type="http://schemas.openxmlformats.org/officeDocument/2006/relationships/image" Target="../media/image66.png"/><Relationship Id="rId4" Type="http://schemas.openxmlformats.org/officeDocument/2006/relationships/image" Target="../media/image63.png"/><Relationship Id="rId9" Type="http://schemas.openxmlformats.org/officeDocument/2006/relationships/image" Target="../media/image65.png"/></Relationships>
</file>

<file path=ppt/slides/_rels/slide1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8.xml"/><Relationship Id="rId1" Type="http://schemas.openxmlformats.org/officeDocument/2006/relationships/slideLayout" Target="../slideLayouts/slideLayout27.xml"/><Relationship Id="rId6" Type="http://schemas.openxmlformats.org/officeDocument/2006/relationships/image" Target="../media/image73.png"/><Relationship Id="rId5" Type="http://schemas.openxmlformats.org/officeDocument/2006/relationships/image" Target="../media/image69.png"/><Relationship Id="rId4" Type="http://schemas.openxmlformats.org/officeDocument/2006/relationships/image" Target="../media/image68.png"/></Relationships>
</file>

<file path=ppt/slides/_rels/slide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9.xml"/><Relationship Id="rId1" Type="http://schemas.openxmlformats.org/officeDocument/2006/relationships/slideLayout" Target="../slideLayouts/slideLayout27.xml"/></Relationships>
</file>

<file path=ppt/slides/_rels/slide2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0.xml"/><Relationship Id="rId1" Type="http://schemas.openxmlformats.org/officeDocument/2006/relationships/slideLayout" Target="../slideLayouts/slideLayout27.xml"/><Relationship Id="rId6" Type="http://schemas.openxmlformats.org/officeDocument/2006/relationships/image" Target="../media/image74.jpeg"/><Relationship Id="rId5" Type="http://schemas.openxmlformats.org/officeDocument/2006/relationships/image" Target="../media/image73.jpeg"/><Relationship Id="rId4" Type="http://schemas.openxmlformats.org/officeDocument/2006/relationships/image" Target="../media/image72.jpeg"/></Relationships>
</file>

<file path=ppt/slides/_rels/slide2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6.xml"/><Relationship Id="rId1" Type="http://schemas.openxmlformats.org/officeDocument/2006/relationships/slideLayout" Target="../slideLayouts/slideLayout27.xml"/></Relationships>
</file>

<file path=ppt/slides/_rels/slide27.xml.rels><?xml version="1.0" encoding="UTF-8" standalone="yes"?>
<Relationships xmlns="http://schemas.openxmlformats.org/package/2006/relationships"><Relationship Id="rId3" Type="http://schemas.openxmlformats.org/officeDocument/2006/relationships/image" Target="../media/image75.png"/><Relationship Id="rId7" Type="http://schemas.openxmlformats.org/officeDocument/2006/relationships/image" Target="../media/image81.png"/><Relationship Id="rId2" Type="http://schemas.openxmlformats.org/officeDocument/2006/relationships/notesSlide" Target="../notesSlides/notesSlide27.xml"/><Relationship Id="rId1" Type="http://schemas.openxmlformats.org/officeDocument/2006/relationships/slideLayout" Target="../slideLayouts/slideLayout2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2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28.xml"/><Relationship Id="rId1" Type="http://schemas.openxmlformats.org/officeDocument/2006/relationships/slideLayout" Target="../slideLayouts/slideLayout27.xml"/><Relationship Id="rId5" Type="http://schemas.openxmlformats.org/officeDocument/2006/relationships/image" Target="../media/image84.jpeg"/><Relationship Id="rId4" Type="http://schemas.openxmlformats.org/officeDocument/2006/relationships/image" Target="../media/image83.png"/></Relationships>
</file>

<file path=ppt/slides/_rels/slide2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27.xml"/><Relationship Id="rId4" Type="http://schemas.openxmlformats.org/officeDocument/2006/relationships/image" Target="../media/image89.png"/></Relationships>
</file>

<file path=ppt/slides/_rels/slide3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0.xml"/><Relationship Id="rId1" Type="http://schemas.openxmlformats.org/officeDocument/2006/relationships/slideLayout" Target="../slideLayouts/slideLayout27.xml"/></Relationships>
</file>

<file path=ppt/slides/_rels/slide3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31.xml"/><Relationship Id="rId1" Type="http://schemas.openxmlformats.org/officeDocument/2006/relationships/slideLayout" Target="../slideLayouts/slideLayout27.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8.png"/></Relationships>
</file>

<file path=ppt/slides/_rels/slide32.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2.png"/><Relationship Id="rId18" Type="http://schemas.openxmlformats.org/officeDocument/2006/relationships/image" Target="../media/image107.png"/><Relationship Id="rId3" Type="http://schemas.openxmlformats.org/officeDocument/2006/relationships/image" Target="../media/image92.png"/><Relationship Id="rId7" Type="http://schemas.openxmlformats.org/officeDocument/2006/relationships/image" Target="../media/image96.png"/><Relationship Id="rId12" Type="http://schemas.openxmlformats.org/officeDocument/2006/relationships/image" Target="../media/image101.png"/><Relationship Id="rId17" Type="http://schemas.openxmlformats.org/officeDocument/2006/relationships/image" Target="../media/image106.png"/><Relationship Id="rId2" Type="http://schemas.openxmlformats.org/officeDocument/2006/relationships/notesSlide" Target="../notesSlides/notesSlide32.xml"/><Relationship Id="rId16" Type="http://schemas.openxmlformats.org/officeDocument/2006/relationships/image" Target="../media/image105.png"/><Relationship Id="rId1" Type="http://schemas.openxmlformats.org/officeDocument/2006/relationships/slideLayout" Target="../slideLayouts/slideLayout27.xml"/><Relationship Id="rId6" Type="http://schemas.openxmlformats.org/officeDocument/2006/relationships/image" Target="../media/image95.png"/><Relationship Id="rId11" Type="http://schemas.openxmlformats.org/officeDocument/2006/relationships/image" Target="../media/image100.png"/><Relationship Id="rId5" Type="http://schemas.openxmlformats.org/officeDocument/2006/relationships/image" Target="../media/image94.png"/><Relationship Id="rId15" Type="http://schemas.openxmlformats.org/officeDocument/2006/relationships/image" Target="../media/image104.png"/><Relationship Id="rId10" Type="http://schemas.openxmlformats.org/officeDocument/2006/relationships/image" Target="../media/image99.png"/><Relationship Id="rId4" Type="http://schemas.openxmlformats.org/officeDocument/2006/relationships/image" Target="../media/image93.png"/><Relationship Id="rId9" Type="http://schemas.openxmlformats.org/officeDocument/2006/relationships/image" Target="../media/image98.png"/><Relationship Id="rId14" Type="http://schemas.openxmlformats.org/officeDocument/2006/relationships/image" Target="../media/image103.png"/></Relationships>
</file>

<file path=ppt/slides/_rels/slide3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33.xml"/><Relationship Id="rId1" Type="http://schemas.openxmlformats.org/officeDocument/2006/relationships/slideLayout" Target="../slideLayouts/slideLayout27.xml"/><Relationship Id="rId5" Type="http://schemas.openxmlformats.org/officeDocument/2006/relationships/image" Target="../media/image110.png"/><Relationship Id="rId4" Type="http://schemas.openxmlformats.org/officeDocument/2006/relationships/image" Target="../media/image109.png"/></Relationships>
</file>

<file path=ppt/slides/_rels/slide34.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120.png"/><Relationship Id="rId18" Type="http://schemas.openxmlformats.org/officeDocument/2006/relationships/image" Target="../media/image125.png"/><Relationship Id="rId26" Type="http://schemas.openxmlformats.org/officeDocument/2006/relationships/image" Target="../media/image133.png"/><Relationship Id="rId3" Type="http://schemas.openxmlformats.org/officeDocument/2006/relationships/image" Target="../media/image111.png"/><Relationship Id="rId21" Type="http://schemas.openxmlformats.org/officeDocument/2006/relationships/image" Target="../media/image128.png"/><Relationship Id="rId7" Type="http://schemas.openxmlformats.org/officeDocument/2006/relationships/image" Target="../media/image114.png"/><Relationship Id="rId12" Type="http://schemas.openxmlformats.org/officeDocument/2006/relationships/image" Target="../media/image119.png"/><Relationship Id="rId17" Type="http://schemas.openxmlformats.org/officeDocument/2006/relationships/image" Target="../media/image124.png"/><Relationship Id="rId25" Type="http://schemas.openxmlformats.org/officeDocument/2006/relationships/image" Target="../media/image132.png"/><Relationship Id="rId2" Type="http://schemas.openxmlformats.org/officeDocument/2006/relationships/notesSlide" Target="../notesSlides/notesSlide34.xml"/><Relationship Id="rId16" Type="http://schemas.openxmlformats.org/officeDocument/2006/relationships/image" Target="../media/image123.png"/><Relationship Id="rId20" Type="http://schemas.openxmlformats.org/officeDocument/2006/relationships/image" Target="../media/image127.png"/><Relationship Id="rId29" Type="http://schemas.openxmlformats.org/officeDocument/2006/relationships/image" Target="../media/image136.png"/><Relationship Id="rId1" Type="http://schemas.openxmlformats.org/officeDocument/2006/relationships/slideLayout" Target="../slideLayouts/slideLayout27.xml"/><Relationship Id="rId6" Type="http://schemas.openxmlformats.org/officeDocument/2006/relationships/image" Target="../media/image113.png"/><Relationship Id="rId11" Type="http://schemas.openxmlformats.org/officeDocument/2006/relationships/image" Target="../media/image118.png"/><Relationship Id="rId24" Type="http://schemas.openxmlformats.org/officeDocument/2006/relationships/image" Target="../media/image131.png"/><Relationship Id="rId5" Type="http://schemas.openxmlformats.org/officeDocument/2006/relationships/image" Target="../media/image112.png"/><Relationship Id="rId15" Type="http://schemas.openxmlformats.org/officeDocument/2006/relationships/image" Target="../media/image122.png"/><Relationship Id="rId23" Type="http://schemas.openxmlformats.org/officeDocument/2006/relationships/image" Target="../media/image130.png"/><Relationship Id="rId28" Type="http://schemas.openxmlformats.org/officeDocument/2006/relationships/image" Target="../media/image135.png"/><Relationship Id="rId10" Type="http://schemas.openxmlformats.org/officeDocument/2006/relationships/image" Target="../media/image117.png"/><Relationship Id="rId19" Type="http://schemas.openxmlformats.org/officeDocument/2006/relationships/image" Target="../media/image126.png"/><Relationship Id="rId4" Type="http://schemas.openxmlformats.org/officeDocument/2006/relationships/image" Target="../media/image93.png"/><Relationship Id="rId9" Type="http://schemas.openxmlformats.org/officeDocument/2006/relationships/image" Target="../media/image116.png"/><Relationship Id="rId14" Type="http://schemas.openxmlformats.org/officeDocument/2006/relationships/image" Target="../media/image121.png"/><Relationship Id="rId22" Type="http://schemas.openxmlformats.org/officeDocument/2006/relationships/image" Target="../media/image129.png"/><Relationship Id="rId27" Type="http://schemas.openxmlformats.org/officeDocument/2006/relationships/image" Target="../media/image134.png"/></Relationships>
</file>

<file path=ppt/slides/_rels/slide35.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35.xml"/><Relationship Id="rId1" Type="http://schemas.openxmlformats.org/officeDocument/2006/relationships/slideLayout" Target="../slideLayouts/slideLayout27.xml"/></Relationships>
</file>

<file path=ppt/slides/_rels/slide36.xml.rels><?xml version="1.0" encoding="UTF-8" standalone="yes"?>
<Relationships xmlns="http://schemas.openxmlformats.org/package/2006/relationships"><Relationship Id="rId8" Type="http://schemas.openxmlformats.org/officeDocument/2006/relationships/image" Target="../media/image143.png"/><Relationship Id="rId3" Type="http://schemas.openxmlformats.org/officeDocument/2006/relationships/image" Target="../media/image138.png"/><Relationship Id="rId7" Type="http://schemas.openxmlformats.org/officeDocument/2006/relationships/image" Target="../media/image142.png"/><Relationship Id="rId2" Type="http://schemas.openxmlformats.org/officeDocument/2006/relationships/notesSlide" Target="../notesSlides/notesSlide36.xml"/><Relationship Id="rId1" Type="http://schemas.openxmlformats.org/officeDocument/2006/relationships/slideLayout" Target="../slideLayouts/slideLayout27.xml"/><Relationship Id="rId6" Type="http://schemas.openxmlformats.org/officeDocument/2006/relationships/image" Target="../media/image141.png"/><Relationship Id="rId11" Type="http://schemas.openxmlformats.org/officeDocument/2006/relationships/image" Target="../media/image146.png"/><Relationship Id="rId5" Type="http://schemas.openxmlformats.org/officeDocument/2006/relationships/image" Target="../media/image140.png"/><Relationship Id="rId10" Type="http://schemas.openxmlformats.org/officeDocument/2006/relationships/image" Target="../media/image145.png"/><Relationship Id="rId4" Type="http://schemas.openxmlformats.org/officeDocument/2006/relationships/image" Target="../media/image139.png"/><Relationship Id="rId9" Type="http://schemas.openxmlformats.org/officeDocument/2006/relationships/image" Target="../media/image144.png"/></Relationships>
</file>

<file path=ppt/slides/_rels/slide37.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7.xml"/><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3" Type="http://schemas.openxmlformats.org/officeDocument/2006/relationships/image" Target="../media/image148.png"/><Relationship Id="rId7" Type="http://schemas.openxmlformats.org/officeDocument/2006/relationships/image" Target="../media/image152.png"/><Relationship Id="rId2" Type="http://schemas.openxmlformats.org/officeDocument/2006/relationships/notesSlide" Target="../notesSlides/notesSlide38.xml"/><Relationship Id="rId1" Type="http://schemas.openxmlformats.org/officeDocument/2006/relationships/slideLayout" Target="../slideLayouts/slideLayout27.xml"/><Relationship Id="rId6" Type="http://schemas.openxmlformats.org/officeDocument/2006/relationships/image" Target="../media/image151.png"/><Relationship Id="rId5" Type="http://schemas.openxmlformats.org/officeDocument/2006/relationships/image" Target="../media/image150.png"/><Relationship Id="rId4" Type="http://schemas.openxmlformats.org/officeDocument/2006/relationships/image" Target="../media/image149.png"/></Relationships>
</file>

<file path=ppt/slides/_rels/slide3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9.xml"/><Relationship Id="rId1" Type="http://schemas.openxmlformats.org/officeDocument/2006/relationships/slideLayout" Target="../slideLayouts/slideLayout2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17"/>
          <p:cNvSpPr txBox="1">
            <a:spLocks noGrp="1"/>
          </p:cNvSpPr>
          <p:nvPr>
            <p:ph type="ctrTitle"/>
          </p:nvPr>
        </p:nvSpPr>
        <p:spPr>
          <a:xfrm>
            <a:off x="408724" y="2964875"/>
            <a:ext cx="11021275" cy="922200"/>
          </a:xfrm>
          <a:prstGeom prst="rect">
            <a:avLst/>
          </a:prstGeom>
        </p:spPr>
        <p:txBody>
          <a:bodyPr spcFirstLastPara="1" wrap="square" lIns="91425" tIns="45700" rIns="91425" bIns="45700" anchor="b" anchorCtr="0">
            <a:noAutofit/>
          </a:bodyPr>
          <a:lstStyle/>
          <a:p>
            <a:pPr marL="0" lvl="0" indent="0" rtl="0">
              <a:spcBef>
                <a:spcPts val="0"/>
              </a:spcBef>
              <a:spcAft>
                <a:spcPts val="0"/>
              </a:spcAft>
              <a:buClr>
                <a:schemeClr val="lt1"/>
              </a:buClr>
              <a:buSzPts val="2800"/>
              <a:buFont typeface="Roboto Slab"/>
              <a:buNone/>
            </a:pPr>
            <a:endParaRPr sz="3200" b="1" dirty="0">
              <a:solidFill>
                <a:schemeClr val="dk1"/>
              </a:solidFill>
              <a:latin typeface="Arial"/>
              <a:ea typeface="Arial"/>
              <a:cs typeface="Arial"/>
              <a:sym typeface="Arial"/>
            </a:endParaRPr>
          </a:p>
          <a:p>
            <a:pPr marL="0" lvl="0" indent="0" rtl="0">
              <a:spcBef>
                <a:spcPts val="0"/>
              </a:spcBef>
              <a:spcAft>
                <a:spcPts val="0"/>
              </a:spcAft>
              <a:buClr>
                <a:schemeClr val="lt1"/>
              </a:buClr>
              <a:buSzPts val="2800"/>
              <a:buFont typeface="Roboto Slab"/>
              <a:buNone/>
            </a:pPr>
            <a:r>
              <a:rPr lang="es-ES" b="1" dirty="0"/>
              <a:t>Matemáticas Discretas I</a:t>
            </a:r>
            <a:endParaRPr sz="3200" b="1" dirty="0"/>
          </a:p>
        </p:txBody>
      </p:sp>
      <p:sp>
        <p:nvSpPr>
          <p:cNvPr id="140" name="Google Shape;140;p17"/>
          <p:cNvSpPr txBox="1">
            <a:spLocks noGrp="1"/>
          </p:cNvSpPr>
          <p:nvPr>
            <p:ph type="subTitle" idx="1"/>
          </p:nvPr>
        </p:nvSpPr>
        <p:spPr>
          <a:xfrm>
            <a:off x="1524000" y="3602038"/>
            <a:ext cx="9144000" cy="2404624"/>
          </a:xfrm>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s-ES" sz="3600" b="1" dirty="0"/>
              <a:t>Clase 15 – Relaciones </a:t>
            </a:r>
          </a:p>
          <a:p>
            <a:pPr marL="0" lvl="0" indent="0" algn="ctr" rtl="0">
              <a:spcBef>
                <a:spcPts val="1000"/>
              </a:spcBef>
              <a:spcAft>
                <a:spcPts val="0"/>
              </a:spcAft>
              <a:buNone/>
            </a:pPr>
            <a:r>
              <a:rPr lang="es-CO" sz="2800" dirty="0"/>
              <a:t>Universidad de Antioquia</a:t>
            </a:r>
          </a:p>
          <a:p>
            <a:r>
              <a:rPr lang="es-CO" sz="2800" dirty="0"/>
              <a:t>Facultad de Ingeniería</a:t>
            </a:r>
          </a:p>
          <a:p>
            <a:r>
              <a:rPr lang="es-CO" sz="2800" dirty="0"/>
              <a:t>Ingeniería de Sistemas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95605" y="169005"/>
            <a:ext cx="8304000" cy="949500"/>
          </a:xfrm>
        </p:spPr>
        <p:txBody>
          <a:bodyPr/>
          <a:lstStyle/>
          <a:p>
            <a:r>
              <a:rPr lang="es-CO" dirty="0">
                <a:solidFill>
                  <a:schemeClr val="tx1"/>
                </a:solidFill>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295605" y="1119790"/>
            <a:ext cx="10546281" cy="51768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Las relaciones estructuran nuestro mundo.</a:t>
            </a:r>
          </a:p>
        </p:txBody>
      </p:sp>
      <p:pic>
        <p:nvPicPr>
          <p:cNvPr id="1034" name="Picture 10" descr="The Simpsons Family Tree : r/TheSimpsons">
            <a:extLst>
              <a:ext uri="{FF2B5EF4-FFF2-40B4-BE49-F238E27FC236}">
                <a16:creationId xmlns:a16="http://schemas.microsoft.com/office/drawing/2014/main" id="{DAAE07AC-EE90-4AC0-B91F-D0D847B14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4661" y="1913256"/>
            <a:ext cx="5152720" cy="4637446"/>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n 7">
            <a:extLst>
              <a:ext uri="{FF2B5EF4-FFF2-40B4-BE49-F238E27FC236}">
                <a16:creationId xmlns:a16="http://schemas.microsoft.com/office/drawing/2014/main" id="{DA0BAD1B-7BBE-4D21-A083-6DA8C8AF28EF}"/>
              </a:ext>
            </a:extLst>
          </p:cNvPr>
          <p:cNvPicPr>
            <a:picLocks noChangeAspect="1"/>
          </p:cNvPicPr>
          <p:nvPr/>
        </p:nvPicPr>
        <p:blipFill>
          <a:blip r:embed="rId4"/>
          <a:stretch>
            <a:fillRect/>
          </a:stretch>
        </p:blipFill>
        <p:spPr>
          <a:xfrm>
            <a:off x="8368205" y="3800744"/>
            <a:ext cx="3174000" cy="2506451"/>
          </a:xfrm>
          <a:prstGeom prst="rect">
            <a:avLst/>
          </a:prstGeom>
        </p:spPr>
      </p:pic>
      <p:pic>
        <p:nvPicPr>
          <p:cNvPr id="2064" name="Picture 16" descr="Krusty Burger Restaurant | Universal Studios Florida™">
            <a:extLst>
              <a:ext uri="{FF2B5EF4-FFF2-40B4-BE49-F238E27FC236}">
                <a16:creationId xmlns:a16="http://schemas.microsoft.com/office/drawing/2014/main" id="{DF120A49-D6CF-4412-A24B-04F64FB297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1568" y="1881133"/>
            <a:ext cx="1400637" cy="1400637"/>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Lard Lad | Simpsons Wiki | Fandom">
            <a:extLst>
              <a:ext uri="{FF2B5EF4-FFF2-40B4-BE49-F238E27FC236}">
                <a16:creationId xmlns:a16="http://schemas.microsoft.com/office/drawing/2014/main" id="{09D7BE90-99F7-41F9-878C-22965940730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33210" y="3916370"/>
            <a:ext cx="1050361" cy="2143594"/>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When Lisa becomes a vegetarian : r/TheSimpsons">
            <a:extLst>
              <a:ext uri="{FF2B5EF4-FFF2-40B4-BE49-F238E27FC236}">
                <a16:creationId xmlns:a16="http://schemas.microsoft.com/office/drawing/2014/main" id="{38DC8935-2083-4F0D-B35E-D5864F91E9E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58391" y="1747536"/>
            <a:ext cx="2309291" cy="1809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1411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500351" y="221617"/>
            <a:ext cx="8304000" cy="949500"/>
          </a:xfrm>
        </p:spPr>
        <p:txBody>
          <a:bodyPr/>
          <a:lstStyle/>
          <a:p>
            <a:r>
              <a:rPr lang="es-CO" dirty="0">
                <a:solidFill>
                  <a:schemeClr val="tx1"/>
                </a:solidFill>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500351" y="1022691"/>
            <a:ext cx="7754103"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Las relaciones estructuran nuestro mundo.</a:t>
            </a:r>
          </a:p>
        </p:txBody>
      </p:sp>
      <p:pic>
        <p:nvPicPr>
          <p:cNvPr id="4" name="Imagen 3">
            <a:extLst>
              <a:ext uri="{FF2B5EF4-FFF2-40B4-BE49-F238E27FC236}">
                <a16:creationId xmlns:a16="http://schemas.microsoft.com/office/drawing/2014/main" id="{C8445FDA-6BBD-4675-A65E-AD71DD613109}"/>
              </a:ext>
            </a:extLst>
          </p:cNvPr>
          <p:cNvPicPr>
            <a:picLocks noChangeAspect="1"/>
          </p:cNvPicPr>
          <p:nvPr/>
        </p:nvPicPr>
        <p:blipFill>
          <a:blip r:embed="rId3"/>
          <a:stretch>
            <a:fillRect/>
          </a:stretch>
        </p:blipFill>
        <p:spPr>
          <a:xfrm>
            <a:off x="6096000" y="3232442"/>
            <a:ext cx="3014949" cy="2234765"/>
          </a:xfrm>
          <a:prstGeom prst="rect">
            <a:avLst/>
          </a:prstGeom>
        </p:spPr>
      </p:pic>
      <p:pic>
        <p:nvPicPr>
          <p:cNvPr id="6" name="Imagen 5">
            <a:extLst>
              <a:ext uri="{FF2B5EF4-FFF2-40B4-BE49-F238E27FC236}">
                <a16:creationId xmlns:a16="http://schemas.microsoft.com/office/drawing/2014/main" id="{06FEEC7F-1D12-4949-BE15-F31354B39D70}"/>
              </a:ext>
            </a:extLst>
          </p:cNvPr>
          <p:cNvPicPr>
            <a:picLocks noChangeAspect="1"/>
          </p:cNvPicPr>
          <p:nvPr/>
        </p:nvPicPr>
        <p:blipFill>
          <a:blip r:embed="rId4"/>
          <a:stretch>
            <a:fillRect/>
          </a:stretch>
        </p:blipFill>
        <p:spPr>
          <a:xfrm>
            <a:off x="9157730" y="1776802"/>
            <a:ext cx="2831794" cy="4792267"/>
          </a:xfrm>
          <a:prstGeom prst="rect">
            <a:avLst/>
          </a:prstGeom>
        </p:spPr>
      </p:pic>
      <p:pic>
        <p:nvPicPr>
          <p:cNvPr id="12" name="Imagen 11">
            <a:extLst>
              <a:ext uri="{FF2B5EF4-FFF2-40B4-BE49-F238E27FC236}">
                <a16:creationId xmlns:a16="http://schemas.microsoft.com/office/drawing/2014/main" id="{B6ABCF71-D7F5-446C-8161-DB7B1D89E273}"/>
              </a:ext>
            </a:extLst>
          </p:cNvPr>
          <p:cNvPicPr>
            <a:picLocks noChangeAspect="1"/>
          </p:cNvPicPr>
          <p:nvPr/>
        </p:nvPicPr>
        <p:blipFill>
          <a:blip r:embed="rId5"/>
          <a:stretch>
            <a:fillRect/>
          </a:stretch>
        </p:blipFill>
        <p:spPr>
          <a:xfrm>
            <a:off x="1858780" y="1776802"/>
            <a:ext cx="3764613" cy="2459782"/>
          </a:xfrm>
          <a:prstGeom prst="rect">
            <a:avLst/>
          </a:prstGeom>
        </p:spPr>
      </p:pic>
      <p:sp>
        <p:nvSpPr>
          <p:cNvPr id="21" name="CuadroTexto 20">
            <a:extLst>
              <a:ext uri="{FF2B5EF4-FFF2-40B4-BE49-F238E27FC236}">
                <a16:creationId xmlns:a16="http://schemas.microsoft.com/office/drawing/2014/main" id="{64BDA67E-6502-40BD-A79D-E78072264E52}"/>
              </a:ext>
            </a:extLst>
          </p:cNvPr>
          <p:cNvSpPr txBox="1"/>
          <p:nvPr/>
        </p:nvSpPr>
        <p:spPr>
          <a:xfrm>
            <a:off x="916648" y="6508557"/>
            <a:ext cx="4445245" cy="276999"/>
          </a:xfrm>
          <a:prstGeom prst="rect">
            <a:avLst/>
          </a:prstGeom>
          <a:noFill/>
        </p:spPr>
        <p:txBody>
          <a:bodyPr wrap="square">
            <a:spAutoFit/>
          </a:bodyPr>
          <a:lstStyle/>
          <a:p>
            <a:r>
              <a:rPr lang="es-CO" sz="1200" dirty="0">
                <a:latin typeface="Roboto" panose="02000000000000000000" pitchFamily="2" charset="0"/>
                <a:ea typeface="Roboto" panose="02000000000000000000" pitchFamily="2" charset="0"/>
                <a:hlinkClick r:id="rId6"/>
              </a:rPr>
              <a:t>https://www.explainxkcd.com/</a:t>
            </a:r>
            <a:r>
              <a:rPr lang="es-CO" sz="1200" dirty="0">
                <a:latin typeface="Roboto" panose="02000000000000000000" pitchFamily="2" charset="0"/>
                <a:ea typeface="Roboto" panose="02000000000000000000" pitchFamily="2" charset="0"/>
              </a:rPr>
              <a:t> </a:t>
            </a:r>
          </a:p>
        </p:txBody>
      </p:sp>
      <p:pic>
        <p:nvPicPr>
          <p:cNvPr id="22" name="Picture 14" descr="What's the complexity class of the best linear programming cutting-plane techniques? I couldn't find it anywhere. Man, the Garfield guy doesn't have these problems...">
            <a:extLst>
              <a:ext uri="{FF2B5EF4-FFF2-40B4-BE49-F238E27FC236}">
                <a16:creationId xmlns:a16="http://schemas.microsoft.com/office/drawing/2014/main" id="{39948798-9DE6-4896-A969-DCC8055EE51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16648" y="4349825"/>
            <a:ext cx="4916609" cy="21740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27501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p:txBody>
          <a:bodyPr/>
          <a:lstStyle/>
          <a:p>
            <a:r>
              <a:rPr lang="es-CO" dirty="0">
                <a:solidFill>
                  <a:schemeClr val="tx1"/>
                </a:solidFill>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577272" y="993085"/>
            <a:ext cx="9274649" cy="64515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¿Como puedo representar las relaciones?</a:t>
            </a:r>
          </a:p>
        </p:txBody>
      </p:sp>
      <p:pic>
        <p:nvPicPr>
          <p:cNvPr id="8" name="Imagen 7">
            <a:extLst>
              <a:ext uri="{FF2B5EF4-FFF2-40B4-BE49-F238E27FC236}">
                <a16:creationId xmlns:a16="http://schemas.microsoft.com/office/drawing/2014/main" id="{06C7EF0D-AB2A-4F89-AB44-B7F2172CCE01}"/>
              </a:ext>
            </a:extLst>
          </p:cNvPr>
          <p:cNvPicPr>
            <a:picLocks noChangeAspect="1"/>
          </p:cNvPicPr>
          <p:nvPr/>
        </p:nvPicPr>
        <p:blipFill>
          <a:blip r:embed="rId3"/>
          <a:stretch>
            <a:fillRect/>
          </a:stretch>
        </p:blipFill>
        <p:spPr>
          <a:xfrm>
            <a:off x="1056025" y="2052537"/>
            <a:ext cx="2611337" cy="4419186"/>
          </a:xfrm>
          <a:prstGeom prst="rect">
            <a:avLst/>
          </a:prstGeom>
        </p:spPr>
      </p:pic>
      <p:grpSp>
        <p:nvGrpSpPr>
          <p:cNvPr id="16" name="Grupo 15">
            <a:extLst>
              <a:ext uri="{FF2B5EF4-FFF2-40B4-BE49-F238E27FC236}">
                <a16:creationId xmlns:a16="http://schemas.microsoft.com/office/drawing/2014/main" id="{07BF43F1-90B4-4DEE-8DAE-53C625E01C73}"/>
              </a:ext>
            </a:extLst>
          </p:cNvPr>
          <p:cNvGrpSpPr/>
          <p:nvPr/>
        </p:nvGrpSpPr>
        <p:grpSpPr>
          <a:xfrm>
            <a:off x="8360505" y="1957313"/>
            <a:ext cx="3652440" cy="4415585"/>
            <a:chOff x="8360505" y="1957313"/>
            <a:chExt cx="3652440" cy="4415585"/>
          </a:xfrm>
        </p:grpSpPr>
        <p:pic>
          <p:nvPicPr>
            <p:cNvPr id="6" name="Imagen 5">
              <a:extLst>
                <a:ext uri="{FF2B5EF4-FFF2-40B4-BE49-F238E27FC236}">
                  <a16:creationId xmlns:a16="http://schemas.microsoft.com/office/drawing/2014/main" id="{F59C7D7E-36B1-4263-A13D-64363745DA65}"/>
                </a:ext>
              </a:extLst>
            </p:cNvPr>
            <p:cNvPicPr>
              <a:picLocks noChangeAspect="1"/>
            </p:cNvPicPr>
            <p:nvPr/>
          </p:nvPicPr>
          <p:blipFill>
            <a:blip r:embed="rId4"/>
            <a:stretch>
              <a:fillRect/>
            </a:stretch>
          </p:blipFill>
          <p:spPr>
            <a:xfrm>
              <a:off x="8360505" y="2167786"/>
              <a:ext cx="3257631" cy="4205112"/>
            </a:xfrm>
            <a:prstGeom prst="rect">
              <a:avLst/>
            </a:prstGeom>
          </p:spPr>
        </p:pic>
        <p:pic>
          <p:nvPicPr>
            <p:cNvPr id="13" name="Picture 12" descr="Math flat icons. Vector colorful ...">
              <a:extLst>
                <a:ext uri="{FF2B5EF4-FFF2-40B4-BE49-F238E27FC236}">
                  <a16:creationId xmlns:a16="http://schemas.microsoft.com/office/drawing/2014/main" id="{A26656B1-4B2E-4537-9265-5A97B9A6B94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06538" y="1957313"/>
              <a:ext cx="606407" cy="60640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upo 6">
            <a:extLst>
              <a:ext uri="{FF2B5EF4-FFF2-40B4-BE49-F238E27FC236}">
                <a16:creationId xmlns:a16="http://schemas.microsoft.com/office/drawing/2014/main" id="{2FDE253F-33B9-4912-8522-DD7C80FCF126}"/>
              </a:ext>
            </a:extLst>
          </p:cNvPr>
          <p:cNvGrpSpPr/>
          <p:nvPr/>
        </p:nvGrpSpPr>
        <p:grpSpPr>
          <a:xfrm>
            <a:off x="4154165" y="2563720"/>
            <a:ext cx="4114734" cy="3070894"/>
            <a:chOff x="4083081" y="1864582"/>
            <a:chExt cx="4114734" cy="3070894"/>
          </a:xfrm>
        </p:grpSpPr>
        <p:sp>
          <p:nvSpPr>
            <p:cNvPr id="2" name="CuadroTexto 1">
              <a:extLst>
                <a:ext uri="{FF2B5EF4-FFF2-40B4-BE49-F238E27FC236}">
                  <a16:creationId xmlns:a16="http://schemas.microsoft.com/office/drawing/2014/main" id="{57FC675F-F26A-43AE-A918-6EF3F788A5AD}"/>
                </a:ext>
              </a:extLst>
            </p:cNvPr>
            <p:cNvSpPr txBox="1"/>
            <p:nvPr/>
          </p:nvSpPr>
          <p:spPr>
            <a:xfrm>
              <a:off x="4083081" y="2134709"/>
              <a:ext cx="3861706" cy="2800767"/>
            </a:xfrm>
            <a:prstGeom prst="rect">
              <a:avLst/>
            </a:prstGeom>
            <a:noFill/>
            <a:ln>
              <a:solidFill>
                <a:schemeClr val="tx1"/>
              </a:solidFill>
            </a:ln>
          </p:spPr>
          <p:txBody>
            <a:bodyPr wrap="square" rtlCol="0">
              <a:spAutoFit/>
            </a:bodyPr>
            <a:lstStyle/>
            <a:p>
              <a:r>
                <a:rPr lang="es-CO" sz="1600" dirty="0">
                  <a:latin typeface="Consolas" panose="020B0609020204030204" pitchFamily="49" charset="0"/>
                </a:rPr>
                <a:t>registro_materias = {</a:t>
              </a:r>
            </a:p>
            <a:p>
              <a:r>
                <a:rPr lang="es-CO" sz="1600" dirty="0">
                  <a:latin typeface="Consolas" panose="020B0609020204030204" pitchFamily="49" charset="0"/>
                </a:rPr>
                <a:t>     ("Ana", "Calculo"),</a:t>
              </a:r>
            </a:p>
            <a:p>
              <a:r>
                <a:rPr lang="es-CO" sz="1600" dirty="0">
                  <a:latin typeface="Consolas" panose="020B0609020204030204" pitchFamily="49" charset="0"/>
                </a:rPr>
                <a:t>     ("Ana", "Logica"),</a:t>
              </a:r>
            </a:p>
            <a:p>
              <a:r>
                <a:rPr lang="es-CO" sz="1600" dirty="0">
                  <a:latin typeface="Consolas" panose="020B0609020204030204" pitchFamily="49" charset="0"/>
                </a:rPr>
                <a:t>     ("Juan", "Logica"),</a:t>
              </a:r>
            </a:p>
            <a:p>
              <a:r>
                <a:rPr lang="es-CO" sz="1600" dirty="0">
                  <a:latin typeface="Consolas" panose="020B0609020204030204" pitchFamily="49" charset="0"/>
                </a:rPr>
                <a:t>     ("Juan", "Programacion"),</a:t>
              </a:r>
            </a:p>
            <a:p>
              <a:r>
                <a:rPr lang="es-CO" sz="1600" dirty="0">
                  <a:latin typeface="Consolas" panose="020B0609020204030204" pitchFamily="49" charset="0"/>
                </a:rPr>
                <a:t>     ("Carla", "Calculo"),</a:t>
              </a:r>
            </a:p>
            <a:p>
              <a:r>
                <a:rPr lang="es-CO" sz="1600" dirty="0">
                  <a:latin typeface="Consolas" panose="020B0609020204030204" pitchFamily="49" charset="0"/>
                </a:rPr>
                <a:t>     ("Carla", "Programación"),</a:t>
              </a:r>
            </a:p>
            <a:p>
              <a:r>
                <a:rPr lang="es-CO" sz="1600" dirty="0">
                  <a:latin typeface="Consolas" panose="020B0609020204030204" pitchFamily="49" charset="0"/>
                </a:rPr>
                <a:t>     ("Pedro", "Algebra"),</a:t>
              </a:r>
            </a:p>
            <a:p>
              <a:r>
                <a:rPr lang="es-CO" sz="1600" dirty="0">
                  <a:latin typeface="Consolas" panose="020B0609020204030204" pitchFamily="49" charset="0"/>
                </a:rPr>
                <a:t>     ("Sofia", "Logica"),</a:t>
              </a:r>
            </a:p>
            <a:p>
              <a:r>
                <a:rPr lang="es-CO" sz="1600" dirty="0">
                  <a:latin typeface="Consolas" panose="020B0609020204030204" pitchFamily="49" charset="0"/>
                </a:rPr>
                <a:t>     ("Sofia", "Algebra")</a:t>
              </a:r>
            </a:p>
            <a:p>
              <a:r>
                <a:rPr lang="es-CO" sz="1600" dirty="0">
                  <a:latin typeface="Consolas" panose="020B0609020204030204" pitchFamily="49" charset="0"/>
                </a:rPr>
                <a:t>   }</a:t>
              </a:r>
            </a:p>
          </p:txBody>
        </p:sp>
        <p:pic>
          <p:nvPicPr>
            <p:cNvPr id="15" name="Picture 10">
              <a:extLst>
                <a:ext uri="{FF2B5EF4-FFF2-40B4-BE49-F238E27FC236}">
                  <a16:creationId xmlns:a16="http://schemas.microsoft.com/office/drawing/2014/main" id="{227BD87F-794F-4462-A69C-060ECED2797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91759" y="1864582"/>
              <a:ext cx="506056" cy="50266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946479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595529" y="271195"/>
            <a:ext cx="8304000" cy="949500"/>
          </a:xfrm>
        </p:spPr>
        <p:txBody>
          <a:bodyPr/>
          <a:lstStyle/>
          <a:p>
            <a:r>
              <a:rPr lang="es-CO" dirty="0">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495951" y="1036780"/>
            <a:ext cx="10546281"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¿Como puedo representar las relaciones?</a:t>
            </a:r>
          </a:p>
        </p:txBody>
      </p:sp>
      <p:pic>
        <p:nvPicPr>
          <p:cNvPr id="12" name="Imagen 11">
            <a:extLst>
              <a:ext uri="{FF2B5EF4-FFF2-40B4-BE49-F238E27FC236}">
                <a16:creationId xmlns:a16="http://schemas.microsoft.com/office/drawing/2014/main" id="{C31D6CF1-11DC-4AA1-81EC-D3A4FA230F7C}"/>
              </a:ext>
            </a:extLst>
          </p:cNvPr>
          <p:cNvPicPr>
            <a:picLocks noChangeAspect="1"/>
          </p:cNvPicPr>
          <p:nvPr/>
        </p:nvPicPr>
        <p:blipFill>
          <a:blip r:embed="rId3"/>
          <a:stretch>
            <a:fillRect/>
          </a:stretch>
        </p:blipFill>
        <p:spPr>
          <a:xfrm>
            <a:off x="1161536" y="1949974"/>
            <a:ext cx="3906597" cy="2895679"/>
          </a:xfrm>
          <a:prstGeom prst="rect">
            <a:avLst/>
          </a:prstGeom>
        </p:spPr>
      </p:pic>
      <p:grpSp>
        <p:nvGrpSpPr>
          <p:cNvPr id="39" name="Grupo 38">
            <a:extLst>
              <a:ext uri="{FF2B5EF4-FFF2-40B4-BE49-F238E27FC236}">
                <a16:creationId xmlns:a16="http://schemas.microsoft.com/office/drawing/2014/main" id="{FF8D3947-70C5-432D-98CD-980C4BFF8572}"/>
              </a:ext>
            </a:extLst>
          </p:cNvPr>
          <p:cNvGrpSpPr/>
          <p:nvPr/>
        </p:nvGrpSpPr>
        <p:grpSpPr>
          <a:xfrm>
            <a:off x="4247141" y="5222208"/>
            <a:ext cx="4151837" cy="1272925"/>
            <a:chOff x="4321591" y="5475305"/>
            <a:chExt cx="4151837" cy="1272925"/>
          </a:xfrm>
        </p:grpSpPr>
        <p:sp>
          <p:nvSpPr>
            <p:cNvPr id="13" name="CuadroTexto 12">
              <a:extLst>
                <a:ext uri="{FF2B5EF4-FFF2-40B4-BE49-F238E27FC236}">
                  <a16:creationId xmlns:a16="http://schemas.microsoft.com/office/drawing/2014/main" id="{0C964664-07D6-4EF8-A220-BA7D40F97EF5}"/>
                </a:ext>
              </a:extLst>
            </p:cNvPr>
            <p:cNvSpPr txBox="1"/>
            <p:nvPr/>
          </p:nvSpPr>
          <p:spPr>
            <a:xfrm>
              <a:off x="4321591" y="5671012"/>
              <a:ext cx="3906597" cy="1077218"/>
            </a:xfrm>
            <a:prstGeom prst="rect">
              <a:avLst/>
            </a:prstGeom>
            <a:noFill/>
            <a:ln>
              <a:solidFill>
                <a:schemeClr val="tx1"/>
              </a:solidFill>
            </a:ln>
          </p:spPr>
          <p:txBody>
            <a:bodyPr wrap="square" rtlCol="0">
              <a:spAutoFit/>
            </a:bodyPr>
            <a:lstStyle/>
            <a:p>
              <a:r>
                <a:rPr lang="es-CO" sz="1600" dirty="0">
                  <a:latin typeface="Consolas" panose="020B0609020204030204" pitchFamily="49" charset="0"/>
                </a:rPr>
                <a:t>familiaGemelos = { </a:t>
              </a:r>
            </a:p>
            <a:p>
              <a:r>
                <a:rPr lang="es-CO" sz="1600" dirty="0">
                  <a:latin typeface="Consolas" panose="020B0609020204030204" pitchFamily="49" charset="0"/>
                </a:rPr>
                <a:t>     "hermano": ["Zan", “Jaina"], </a:t>
              </a:r>
            </a:p>
            <a:p>
              <a:r>
                <a:rPr lang="es-CO" sz="1600" dirty="0">
                  <a:latin typeface="Consolas" panose="020B0609020204030204" pitchFamily="49" charset="0"/>
                </a:rPr>
                <a:t>     "mascota": [“Gleek"] </a:t>
              </a:r>
            </a:p>
            <a:p>
              <a:r>
                <a:rPr lang="es-CO" sz="1600" dirty="0">
                  <a:latin typeface="Consolas" panose="020B0609020204030204" pitchFamily="49" charset="0"/>
                </a:rPr>
                <a:t>   }</a:t>
              </a:r>
            </a:p>
          </p:txBody>
        </p:sp>
        <p:pic>
          <p:nvPicPr>
            <p:cNvPr id="3082" name="Picture 10">
              <a:extLst>
                <a:ext uri="{FF2B5EF4-FFF2-40B4-BE49-F238E27FC236}">
                  <a16:creationId xmlns:a16="http://schemas.microsoft.com/office/drawing/2014/main" id="{C893BBB0-968D-4074-8F11-E640F9869B6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8514" y="5475305"/>
              <a:ext cx="444914" cy="44192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8" name="Grupo 37">
            <a:extLst>
              <a:ext uri="{FF2B5EF4-FFF2-40B4-BE49-F238E27FC236}">
                <a16:creationId xmlns:a16="http://schemas.microsoft.com/office/drawing/2014/main" id="{D397AB36-1398-440E-A3A6-39C8A2FF8F06}"/>
              </a:ext>
            </a:extLst>
          </p:cNvPr>
          <p:cNvGrpSpPr/>
          <p:nvPr/>
        </p:nvGrpSpPr>
        <p:grpSpPr>
          <a:xfrm>
            <a:off x="811720" y="5205820"/>
            <a:ext cx="3275363" cy="1272925"/>
            <a:chOff x="916650" y="5475305"/>
            <a:chExt cx="3275363" cy="1272925"/>
          </a:xfrm>
        </p:grpSpPr>
        <p:sp>
          <p:nvSpPr>
            <p:cNvPr id="40" name="CuadroTexto 39">
              <a:extLst>
                <a:ext uri="{FF2B5EF4-FFF2-40B4-BE49-F238E27FC236}">
                  <a16:creationId xmlns:a16="http://schemas.microsoft.com/office/drawing/2014/main" id="{4216BD7E-0770-4254-96B6-BA20D57A51E2}"/>
                </a:ext>
              </a:extLst>
            </p:cNvPr>
            <p:cNvSpPr txBox="1"/>
            <p:nvPr/>
          </p:nvSpPr>
          <p:spPr>
            <a:xfrm>
              <a:off x="916650" y="5671012"/>
              <a:ext cx="3075689" cy="1077218"/>
            </a:xfrm>
            <a:prstGeom prst="rect">
              <a:avLst/>
            </a:prstGeom>
            <a:noFill/>
            <a:ln>
              <a:solidFill>
                <a:schemeClr val="tx1"/>
              </a:solidFill>
            </a:ln>
          </p:spPr>
          <p:txBody>
            <a:bodyPr wrap="square">
              <a:spAutoFit/>
            </a:bodyPr>
            <a:lstStyle/>
            <a:p>
              <a:r>
                <a:rPr lang="es-CO" sz="1600" dirty="0">
                  <a:latin typeface="Consolas" panose="020B0609020204030204" pitchFamily="49" charset="0"/>
                </a:rPr>
                <a:t>gemelo("Zan","Jaina").</a:t>
              </a:r>
            </a:p>
            <a:p>
              <a:r>
                <a:rPr lang="es-CO" sz="1600" dirty="0">
                  <a:latin typeface="Consolas" panose="020B0609020204030204" pitchFamily="49" charset="0"/>
                </a:rPr>
                <a:t>gemelo("Jaina","Zan").</a:t>
              </a:r>
            </a:p>
            <a:p>
              <a:r>
                <a:rPr lang="es-CO" sz="1600" dirty="0">
                  <a:latin typeface="Consolas" panose="020B0609020204030204" pitchFamily="49" charset="0"/>
                </a:rPr>
                <a:t>mascota("Gleek","Zan").</a:t>
              </a:r>
            </a:p>
            <a:p>
              <a:r>
                <a:rPr lang="es-CO" sz="1600" dirty="0">
                  <a:latin typeface="Consolas" panose="020B0609020204030204" pitchFamily="49" charset="0"/>
                </a:rPr>
                <a:t>mascota("Gleek","Jaina").</a:t>
              </a:r>
              <a:endParaRPr lang="es-CO" dirty="0">
                <a:latin typeface="Consolas" panose="020B0609020204030204" pitchFamily="49" charset="0"/>
              </a:endParaRPr>
            </a:p>
          </p:txBody>
        </p:sp>
        <p:pic>
          <p:nvPicPr>
            <p:cNvPr id="3080" name="Picture 8" descr="Prolog / official or unofficial logo · Issue #67 · exercism ...">
              <a:extLst>
                <a:ext uri="{FF2B5EF4-FFF2-40B4-BE49-F238E27FC236}">
                  <a16:creationId xmlns:a16="http://schemas.microsoft.com/office/drawing/2014/main" id="{D5BB79F5-DC54-403B-B2CA-E2F16EEA759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92665" y="5475305"/>
              <a:ext cx="399348" cy="39141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 name="Grupo 40">
            <a:extLst>
              <a:ext uri="{FF2B5EF4-FFF2-40B4-BE49-F238E27FC236}">
                <a16:creationId xmlns:a16="http://schemas.microsoft.com/office/drawing/2014/main" id="{4408192A-7FA9-465C-87B7-B5100D173540}"/>
              </a:ext>
            </a:extLst>
          </p:cNvPr>
          <p:cNvGrpSpPr/>
          <p:nvPr/>
        </p:nvGrpSpPr>
        <p:grpSpPr>
          <a:xfrm>
            <a:off x="8529057" y="5210747"/>
            <a:ext cx="3577345" cy="1507503"/>
            <a:chOff x="8574027" y="5240727"/>
            <a:chExt cx="3577345" cy="1507503"/>
          </a:xfrm>
        </p:grpSpPr>
        <p:sp>
          <p:nvSpPr>
            <p:cNvPr id="2" name="CuadroTexto 1">
              <a:extLst>
                <a:ext uri="{FF2B5EF4-FFF2-40B4-BE49-F238E27FC236}">
                  <a16:creationId xmlns:a16="http://schemas.microsoft.com/office/drawing/2014/main" id="{57FC675F-F26A-43AE-A918-6EF3F788A5AD}"/>
                </a:ext>
              </a:extLst>
            </p:cNvPr>
            <p:cNvSpPr txBox="1"/>
            <p:nvPr/>
          </p:nvSpPr>
          <p:spPr>
            <a:xfrm>
              <a:off x="8574027" y="5424791"/>
              <a:ext cx="3344691" cy="1323439"/>
            </a:xfrm>
            <a:prstGeom prst="rect">
              <a:avLst/>
            </a:prstGeom>
            <a:solidFill>
              <a:schemeClr val="bg1"/>
            </a:solidFill>
            <a:ln>
              <a:solidFill>
                <a:schemeClr val="tx1"/>
              </a:solidFill>
            </a:ln>
          </p:spPr>
          <p:txBody>
            <a:bodyPr wrap="square" rtlCol="0">
              <a:spAutoFit/>
            </a:bodyPr>
            <a:lstStyle/>
            <a:p>
              <a:r>
                <a:rPr lang="es-CO" sz="1600" dirty="0">
                  <a:latin typeface="Consolas" panose="020B0609020204030204" pitchFamily="49" charset="0"/>
                </a:rPr>
                <a:t>familiaGemelos = {</a:t>
              </a:r>
            </a:p>
            <a:p>
              <a:r>
                <a:rPr lang="es-CO" sz="1600" dirty="0">
                  <a:latin typeface="Consolas" panose="020B0609020204030204" pitchFamily="49" charset="0"/>
                </a:rPr>
                <a:t>     ("Zan", "hermano"),</a:t>
              </a:r>
            </a:p>
            <a:p>
              <a:r>
                <a:rPr lang="es-CO" sz="1600" dirty="0">
                  <a:latin typeface="Consolas" panose="020B0609020204030204" pitchFamily="49" charset="0"/>
                </a:rPr>
                <a:t>     ("Jaina", "hermano"),</a:t>
              </a:r>
            </a:p>
            <a:p>
              <a:r>
                <a:rPr lang="es-CO" sz="1600" dirty="0">
                  <a:latin typeface="Consolas" panose="020B0609020204030204" pitchFamily="49" charset="0"/>
                </a:rPr>
                <a:t>     ("Gleek", "mascota"),</a:t>
              </a:r>
            </a:p>
            <a:p>
              <a:r>
                <a:rPr lang="es-CO" sz="1600" dirty="0">
                  <a:latin typeface="Consolas" panose="020B0609020204030204" pitchFamily="49" charset="0"/>
                </a:rPr>
                <a:t>   }</a:t>
              </a:r>
            </a:p>
          </p:txBody>
        </p:sp>
        <p:pic>
          <p:nvPicPr>
            <p:cNvPr id="43" name="Picture 10">
              <a:extLst>
                <a:ext uri="{FF2B5EF4-FFF2-40B4-BE49-F238E27FC236}">
                  <a16:creationId xmlns:a16="http://schemas.microsoft.com/office/drawing/2014/main" id="{E250703B-0009-4A5E-BC9D-6986BB1F3C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655602" y="5240727"/>
              <a:ext cx="495770" cy="49244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 name="Grupo 41">
            <a:extLst>
              <a:ext uri="{FF2B5EF4-FFF2-40B4-BE49-F238E27FC236}">
                <a16:creationId xmlns:a16="http://schemas.microsoft.com/office/drawing/2014/main" id="{2F9C8A40-DB42-4312-BE6B-52B69D1724FA}"/>
              </a:ext>
            </a:extLst>
          </p:cNvPr>
          <p:cNvGrpSpPr/>
          <p:nvPr/>
        </p:nvGrpSpPr>
        <p:grpSpPr>
          <a:xfrm>
            <a:off x="8899529" y="1634870"/>
            <a:ext cx="2958987" cy="3088845"/>
            <a:chOff x="8899530" y="1630064"/>
            <a:chExt cx="2958987" cy="3088845"/>
          </a:xfrm>
        </p:grpSpPr>
        <p:grpSp>
          <p:nvGrpSpPr>
            <p:cNvPr id="35" name="Grupo 34">
              <a:extLst>
                <a:ext uri="{FF2B5EF4-FFF2-40B4-BE49-F238E27FC236}">
                  <a16:creationId xmlns:a16="http://schemas.microsoft.com/office/drawing/2014/main" id="{6F10F4C4-CF6D-4EB1-A651-8004A797B015}"/>
                </a:ext>
              </a:extLst>
            </p:cNvPr>
            <p:cNvGrpSpPr/>
            <p:nvPr/>
          </p:nvGrpSpPr>
          <p:grpSpPr>
            <a:xfrm>
              <a:off x="8899530" y="1957940"/>
              <a:ext cx="2693683" cy="2760969"/>
              <a:chOff x="8004748" y="1044380"/>
              <a:chExt cx="3763620" cy="3782454"/>
            </a:xfrm>
          </p:grpSpPr>
          <p:grpSp>
            <p:nvGrpSpPr>
              <p:cNvPr id="22" name="Grupo 21">
                <a:extLst>
                  <a:ext uri="{FF2B5EF4-FFF2-40B4-BE49-F238E27FC236}">
                    <a16:creationId xmlns:a16="http://schemas.microsoft.com/office/drawing/2014/main" id="{A2E28188-E282-42A2-A11A-3C9099A40D64}"/>
                  </a:ext>
                </a:extLst>
              </p:cNvPr>
              <p:cNvGrpSpPr/>
              <p:nvPr/>
            </p:nvGrpSpPr>
            <p:grpSpPr>
              <a:xfrm>
                <a:off x="8004748" y="1044380"/>
                <a:ext cx="1588957" cy="3782454"/>
                <a:chOff x="8004748" y="1119330"/>
                <a:chExt cx="1588957" cy="3782454"/>
              </a:xfrm>
            </p:grpSpPr>
            <p:pic>
              <p:nvPicPr>
                <p:cNvPr id="15" name="Imagen 14">
                  <a:extLst>
                    <a:ext uri="{FF2B5EF4-FFF2-40B4-BE49-F238E27FC236}">
                      <a16:creationId xmlns:a16="http://schemas.microsoft.com/office/drawing/2014/main" id="{4F3A7590-9947-435D-B17F-8751811A5E15}"/>
                    </a:ext>
                  </a:extLst>
                </p:cNvPr>
                <p:cNvPicPr>
                  <a:picLocks noChangeAspect="1"/>
                </p:cNvPicPr>
                <p:nvPr/>
              </p:nvPicPr>
              <p:blipFill>
                <a:blip r:embed="rId6"/>
                <a:stretch>
                  <a:fillRect/>
                </a:stretch>
              </p:blipFill>
              <p:spPr>
                <a:xfrm>
                  <a:off x="8379524" y="1452091"/>
                  <a:ext cx="786733" cy="950017"/>
                </a:xfrm>
                <a:prstGeom prst="rect">
                  <a:avLst/>
                </a:prstGeom>
              </p:spPr>
            </p:pic>
            <p:pic>
              <p:nvPicPr>
                <p:cNvPr id="17" name="Imagen 16">
                  <a:extLst>
                    <a:ext uri="{FF2B5EF4-FFF2-40B4-BE49-F238E27FC236}">
                      <a16:creationId xmlns:a16="http://schemas.microsoft.com/office/drawing/2014/main" id="{05501DEC-57E4-4CF2-8068-60BEBF180469}"/>
                    </a:ext>
                  </a:extLst>
                </p:cNvPr>
                <p:cNvPicPr>
                  <a:picLocks noChangeAspect="1"/>
                </p:cNvPicPr>
                <p:nvPr/>
              </p:nvPicPr>
              <p:blipFill>
                <a:blip r:embed="rId7"/>
                <a:stretch>
                  <a:fillRect/>
                </a:stretch>
              </p:blipFill>
              <p:spPr>
                <a:xfrm>
                  <a:off x="8372102" y="2642260"/>
                  <a:ext cx="794155" cy="942595"/>
                </a:xfrm>
                <a:prstGeom prst="rect">
                  <a:avLst/>
                </a:prstGeom>
              </p:spPr>
            </p:pic>
            <p:pic>
              <p:nvPicPr>
                <p:cNvPr id="19" name="Imagen 18">
                  <a:extLst>
                    <a:ext uri="{FF2B5EF4-FFF2-40B4-BE49-F238E27FC236}">
                      <a16:creationId xmlns:a16="http://schemas.microsoft.com/office/drawing/2014/main" id="{DBF90817-0FB5-4539-AB53-BF77E22FB0D9}"/>
                    </a:ext>
                  </a:extLst>
                </p:cNvPr>
                <p:cNvPicPr>
                  <a:picLocks noChangeAspect="1"/>
                </p:cNvPicPr>
                <p:nvPr/>
              </p:nvPicPr>
              <p:blipFill>
                <a:blip r:embed="rId8"/>
                <a:stretch>
                  <a:fillRect/>
                </a:stretch>
              </p:blipFill>
              <p:spPr>
                <a:xfrm>
                  <a:off x="8474855" y="3778265"/>
                  <a:ext cx="771889" cy="950017"/>
                </a:xfrm>
                <a:prstGeom prst="rect">
                  <a:avLst/>
                </a:prstGeom>
              </p:spPr>
            </p:pic>
            <p:sp>
              <p:nvSpPr>
                <p:cNvPr id="20" name="Elipse 19">
                  <a:extLst>
                    <a:ext uri="{FF2B5EF4-FFF2-40B4-BE49-F238E27FC236}">
                      <a16:creationId xmlns:a16="http://schemas.microsoft.com/office/drawing/2014/main" id="{3B94400A-B2D7-4CFA-A827-988B9F33A4E2}"/>
                    </a:ext>
                  </a:extLst>
                </p:cNvPr>
                <p:cNvSpPr/>
                <p:nvPr/>
              </p:nvSpPr>
              <p:spPr>
                <a:xfrm>
                  <a:off x="8004748" y="1119330"/>
                  <a:ext cx="1588957" cy="378245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21" name="Grupo 20">
                <a:extLst>
                  <a:ext uri="{FF2B5EF4-FFF2-40B4-BE49-F238E27FC236}">
                    <a16:creationId xmlns:a16="http://schemas.microsoft.com/office/drawing/2014/main" id="{2B2F8FC8-D398-4C9A-B1D0-A188C34F2FBC}"/>
                  </a:ext>
                </a:extLst>
              </p:cNvPr>
              <p:cNvGrpSpPr/>
              <p:nvPr/>
            </p:nvGrpSpPr>
            <p:grpSpPr>
              <a:xfrm>
                <a:off x="10179411" y="1657960"/>
                <a:ext cx="1588957" cy="2704178"/>
                <a:chOff x="10030240" y="1702930"/>
                <a:chExt cx="1588957" cy="2704178"/>
              </a:xfrm>
            </p:grpSpPr>
            <p:pic>
              <p:nvPicPr>
                <p:cNvPr id="3074" name="Picture 2" descr="Brother - Free people icons">
                  <a:extLst>
                    <a:ext uri="{FF2B5EF4-FFF2-40B4-BE49-F238E27FC236}">
                      <a16:creationId xmlns:a16="http://schemas.microsoft.com/office/drawing/2014/main" id="{417344B7-2871-4848-941F-9666C07AA0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06348" y="2127224"/>
                  <a:ext cx="654564" cy="654564"/>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Pets - Free animals icons">
                  <a:extLst>
                    <a:ext uri="{FF2B5EF4-FFF2-40B4-BE49-F238E27FC236}">
                      <a16:creationId xmlns:a16="http://schemas.microsoft.com/office/drawing/2014/main" id="{F2C47F1D-2E30-461B-B5D5-FDBA9EBBB34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450049" y="3257573"/>
                  <a:ext cx="654564" cy="654564"/>
                </a:xfrm>
                <a:prstGeom prst="rect">
                  <a:avLst/>
                </a:prstGeom>
                <a:noFill/>
                <a:extLst>
                  <a:ext uri="{909E8E84-426E-40DD-AFC4-6F175D3DCCD1}">
                    <a14:hiddenFill xmlns:a14="http://schemas.microsoft.com/office/drawing/2010/main">
                      <a:solidFill>
                        <a:srgbClr val="FFFFFF"/>
                      </a:solidFill>
                    </a14:hiddenFill>
                  </a:ext>
                </a:extLst>
              </p:spPr>
            </p:pic>
            <p:sp>
              <p:nvSpPr>
                <p:cNvPr id="24" name="Elipse 23">
                  <a:extLst>
                    <a:ext uri="{FF2B5EF4-FFF2-40B4-BE49-F238E27FC236}">
                      <a16:creationId xmlns:a16="http://schemas.microsoft.com/office/drawing/2014/main" id="{E166400F-D407-44C9-806C-C5C2B4A41137}"/>
                    </a:ext>
                  </a:extLst>
                </p:cNvPr>
                <p:cNvSpPr/>
                <p:nvPr/>
              </p:nvSpPr>
              <p:spPr>
                <a:xfrm>
                  <a:off x="10030240" y="1702930"/>
                  <a:ext cx="1588957" cy="270417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cxnSp>
            <p:nvCxnSpPr>
              <p:cNvPr id="25" name="Conector recto de flecha 24">
                <a:extLst>
                  <a:ext uri="{FF2B5EF4-FFF2-40B4-BE49-F238E27FC236}">
                    <a16:creationId xmlns:a16="http://schemas.microsoft.com/office/drawing/2014/main" id="{011409D2-27CA-4E29-B637-C57D3B8964D8}"/>
                  </a:ext>
                </a:extLst>
              </p:cNvPr>
              <p:cNvCxnSpPr>
                <a:cxnSpLocks/>
                <a:stCxn id="15" idx="3"/>
              </p:cNvCxnSpPr>
              <p:nvPr/>
            </p:nvCxnSpPr>
            <p:spPr>
              <a:xfrm>
                <a:off x="9166257" y="1852150"/>
                <a:ext cx="1328742" cy="52503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3F0E9056-1E51-42C1-A223-F6A4FA8A60AC}"/>
                  </a:ext>
                </a:extLst>
              </p:cNvPr>
              <p:cNvCxnSpPr>
                <a:cxnSpLocks/>
                <a:stCxn id="17" idx="3"/>
              </p:cNvCxnSpPr>
              <p:nvPr/>
            </p:nvCxnSpPr>
            <p:spPr>
              <a:xfrm flipV="1">
                <a:off x="9166257" y="2616020"/>
                <a:ext cx="1328742" cy="4225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ector recto de flecha 33">
                <a:extLst>
                  <a:ext uri="{FF2B5EF4-FFF2-40B4-BE49-F238E27FC236}">
                    <a16:creationId xmlns:a16="http://schemas.microsoft.com/office/drawing/2014/main" id="{04D68481-D2E0-4E4D-AEB8-99A067EBCC83}"/>
                  </a:ext>
                </a:extLst>
              </p:cNvPr>
              <p:cNvCxnSpPr>
                <a:cxnSpLocks/>
              </p:cNvCxnSpPr>
              <p:nvPr/>
            </p:nvCxnSpPr>
            <p:spPr>
              <a:xfrm flipV="1">
                <a:off x="9263921" y="3612630"/>
                <a:ext cx="1274164" cy="404734"/>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pic>
          <p:nvPicPr>
            <p:cNvPr id="3084" name="Picture 12" descr="Math flat icons. Vector colorful ...">
              <a:extLst>
                <a:ext uri="{FF2B5EF4-FFF2-40B4-BE49-F238E27FC236}">
                  <a16:creationId xmlns:a16="http://schemas.microsoft.com/office/drawing/2014/main" id="{9C1432CA-BE73-42AE-B73B-651054D6F25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1252110" y="1630064"/>
              <a:ext cx="606407" cy="60640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4" name="Grupo 43">
            <a:extLst>
              <a:ext uri="{FF2B5EF4-FFF2-40B4-BE49-F238E27FC236}">
                <a16:creationId xmlns:a16="http://schemas.microsoft.com/office/drawing/2014/main" id="{F2CE0774-767B-495D-8E7E-56D325F85DE0}"/>
              </a:ext>
            </a:extLst>
          </p:cNvPr>
          <p:cNvGrpSpPr/>
          <p:nvPr/>
        </p:nvGrpSpPr>
        <p:grpSpPr>
          <a:xfrm>
            <a:off x="5769092" y="1589052"/>
            <a:ext cx="2586903" cy="3339435"/>
            <a:chOff x="5752951" y="1588432"/>
            <a:chExt cx="2586903" cy="3339435"/>
          </a:xfrm>
        </p:grpSpPr>
        <p:pic>
          <p:nvPicPr>
            <p:cNvPr id="5" name="Imagen 4">
              <a:extLst>
                <a:ext uri="{FF2B5EF4-FFF2-40B4-BE49-F238E27FC236}">
                  <a16:creationId xmlns:a16="http://schemas.microsoft.com/office/drawing/2014/main" id="{FB018566-9222-40B1-872A-A15EEA268C6B}"/>
                </a:ext>
              </a:extLst>
            </p:cNvPr>
            <p:cNvPicPr>
              <a:picLocks noChangeAspect="1"/>
            </p:cNvPicPr>
            <p:nvPr/>
          </p:nvPicPr>
          <p:blipFill>
            <a:blip r:embed="rId12"/>
            <a:stretch>
              <a:fillRect/>
            </a:stretch>
          </p:blipFill>
          <p:spPr>
            <a:xfrm>
              <a:off x="5752951" y="2096712"/>
              <a:ext cx="2145879" cy="2831155"/>
            </a:xfrm>
            <a:prstGeom prst="rect">
              <a:avLst/>
            </a:prstGeom>
          </p:spPr>
        </p:pic>
        <p:pic>
          <p:nvPicPr>
            <p:cNvPr id="45" name="Picture 12" descr="Math flat icons. Vector colorful ...">
              <a:extLst>
                <a:ext uri="{FF2B5EF4-FFF2-40B4-BE49-F238E27FC236}">
                  <a16:creationId xmlns:a16="http://schemas.microsoft.com/office/drawing/2014/main" id="{E65D9992-E209-40B9-83FC-1BDC10FF5F35}"/>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733447" y="1588432"/>
              <a:ext cx="606407" cy="60640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732342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348814" y="221366"/>
            <a:ext cx="8304000" cy="949500"/>
          </a:xfrm>
        </p:spPr>
        <p:txBody>
          <a:bodyPr/>
          <a:lstStyle/>
          <a:p>
            <a:r>
              <a:rPr lang="es-CO" dirty="0">
                <a:solidFill>
                  <a:schemeClr val="tx1"/>
                </a:solidFill>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213070" y="1020037"/>
            <a:ext cx="10546281"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Problema típico: ¿Como puedo representar las relaciones?</a:t>
            </a:r>
          </a:p>
        </p:txBody>
      </p:sp>
      <p:sp>
        <p:nvSpPr>
          <p:cNvPr id="24" name="CuadroTexto 23">
            <a:extLst>
              <a:ext uri="{FF2B5EF4-FFF2-40B4-BE49-F238E27FC236}">
                <a16:creationId xmlns:a16="http://schemas.microsoft.com/office/drawing/2014/main" id="{7E3A5105-E8F1-4FE8-9AEB-E482004450EA}"/>
              </a:ext>
            </a:extLst>
          </p:cNvPr>
          <p:cNvSpPr txBox="1"/>
          <p:nvPr/>
        </p:nvSpPr>
        <p:spPr>
          <a:xfrm>
            <a:off x="457200" y="1727946"/>
            <a:ext cx="11414403" cy="1015663"/>
          </a:xfrm>
          <a:prstGeom prst="rect">
            <a:avLst/>
          </a:prstGeom>
          <a:noFill/>
        </p:spPr>
        <p:txBody>
          <a:bodyPr wrap="square">
            <a:spAutoFit/>
          </a:bodyPr>
          <a:lstStyle/>
          <a:p>
            <a:r>
              <a:rPr lang="es-CO" sz="2000" b="1" dirty="0">
                <a:ea typeface="Roboto" panose="02000000000000000000" pitchFamily="2" charset="0"/>
              </a:rPr>
              <a:t>Ejemplo tomado de </a:t>
            </a:r>
            <a:r>
              <a:rPr lang="es-CO" sz="2000" b="1" i="0" dirty="0">
                <a:solidFill>
                  <a:srgbClr val="333333"/>
                </a:solidFill>
                <a:effectLst/>
                <a:ea typeface="Roboto" panose="02000000000000000000" pitchFamily="2" charset="0"/>
              </a:rPr>
              <a:t>Grokking Algorithms</a:t>
            </a:r>
            <a:r>
              <a:rPr lang="es-CO" sz="2000" b="1" dirty="0">
                <a:ea typeface="Roboto" panose="02000000000000000000" pitchFamily="2" charset="0"/>
              </a:rPr>
              <a:t> </a:t>
            </a:r>
            <a:r>
              <a:rPr lang="es-CO" sz="2000" dirty="0">
                <a:ea typeface="Roboto" panose="02000000000000000000" pitchFamily="2" charset="0"/>
              </a:rPr>
              <a:t>(</a:t>
            </a:r>
            <a:r>
              <a:rPr lang="es-CO" sz="2000" dirty="0">
                <a:ea typeface="Roboto" panose="02000000000000000000" pitchFamily="2" charset="0"/>
                <a:hlinkClick r:id="rId3"/>
              </a:rPr>
              <a:t>link</a:t>
            </a:r>
            <a:r>
              <a:rPr lang="es-CO" sz="2000" dirty="0">
                <a:ea typeface="Roboto" panose="02000000000000000000" pitchFamily="2" charset="0"/>
              </a:rPr>
              <a:t>): Imagine que está en San Francisco y quieres ir de </a:t>
            </a:r>
            <a:r>
              <a:rPr lang="es-CO" sz="2000" b="1" dirty="0">
                <a:ea typeface="Roboto" panose="02000000000000000000" pitchFamily="2" charset="0"/>
              </a:rPr>
              <a:t>Twin Peaks</a:t>
            </a:r>
            <a:r>
              <a:rPr lang="es-CO" sz="2000" dirty="0">
                <a:ea typeface="Roboto" panose="02000000000000000000" pitchFamily="2" charset="0"/>
              </a:rPr>
              <a:t> al puente </a:t>
            </a:r>
            <a:r>
              <a:rPr lang="es-CO" sz="2000" b="1" dirty="0">
                <a:ea typeface="Roboto" panose="02000000000000000000" pitchFamily="2" charset="0"/>
              </a:rPr>
              <a:t>Golden Gate</a:t>
            </a:r>
            <a:r>
              <a:rPr lang="es-CO" sz="2000" dirty="0">
                <a:ea typeface="Roboto" panose="02000000000000000000" pitchFamily="2" charset="0"/>
              </a:rPr>
              <a:t>. ¿Si Quiere llegar en autobús, con el mínimo número de transbordos cuales son las opciones?</a:t>
            </a:r>
          </a:p>
        </p:txBody>
      </p:sp>
      <p:grpSp>
        <p:nvGrpSpPr>
          <p:cNvPr id="44" name="Grupo 43">
            <a:extLst>
              <a:ext uri="{FF2B5EF4-FFF2-40B4-BE49-F238E27FC236}">
                <a16:creationId xmlns:a16="http://schemas.microsoft.com/office/drawing/2014/main" id="{A499015E-06D7-4E72-9A4E-213D62506477}"/>
              </a:ext>
            </a:extLst>
          </p:cNvPr>
          <p:cNvGrpSpPr/>
          <p:nvPr/>
        </p:nvGrpSpPr>
        <p:grpSpPr>
          <a:xfrm>
            <a:off x="1075611" y="3262553"/>
            <a:ext cx="5820501" cy="2333340"/>
            <a:chOff x="933895" y="2913223"/>
            <a:chExt cx="5820501" cy="2333340"/>
          </a:xfrm>
        </p:grpSpPr>
        <p:grpSp>
          <p:nvGrpSpPr>
            <p:cNvPr id="42" name="Grupo 41">
              <a:extLst>
                <a:ext uri="{FF2B5EF4-FFF2-40B4-BE49-F238E27FC236}">
                  <a16:creationId xmlns:a16="http://schemas.microsoft.com/office/drawing/2014/main" id="{43E8BC57-26C9-466A-A4C8-3EB6369C23B3}"/>
                </a:ext>
              </a:extLst>
            </p:cNvPr>
            <p:cNvGrpSpPr/>
            <p:nvPr/>
          </p:nvGrpSpPr>
          <p:grpSpPr>
            <a:xfrm>
              <a:off x="933895" y="3362162"/>
              <a:ext cx="2017404" cy="1884401"/>
              <a:chOff x="933895" y="3362162"/>
              <a:chExt cx="2017404" cy="1884401"/>
            </a:xfrm>
          </p:grpSpPr>
          <p:pic>
            <p:nvPicPr>
              <p:cNvPr id="5124" name="Picture 4">
                <a:extLst>
                  <a:ext uri="{FF2B5EF4-FFF2-40B4-BE49-F238E27FC236}">
                    <a16:creationId xmlns:a16="http://schemas.microsoft.com/office/drawing/2014/main" id="{445757EB-853B-4C79-AFF0-0D46DDE055B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5603" y="3772291"/>
                <a:ext cx="1965696" cy="1474272"/>
              </a:xfrm>
              <a:prstGeom prst="rect">
                <a:avLst/>
              </a:prstGeom>
              <a:noFill/>
              <a:extLst>
                <a:ext uri="{909E8E84-426E-40DD-AFC4-6F175D3DCCD1}">
                  <a14:hiddenFill xmlns:a14="http://schemas.microsoft.com/office/drawing/2010/main">
                    <a:solidFill>
                      <a:srgbClr val="FFFFFF"/>
                    </a:solidFill>
                  </a14:hiddenFill>
                </a:ext>
              </a:extLst>
            </p:spPr>
          </p:pic>
          <p:sp>
            <p:nvSpPr>
              <p:cNvPr id="36" name="CuadroTexto 35">
                <a:extLst>
                  <a:ext uri="{FF2B5EF4-FFF2-40B4-BE49-F238E27FC236}">
                    <a16:creationId xmlns:a16="http://schemas.microsoft.com/office/drawing/2014/main" id="{BB3D0977-2AC5-4C75-BE43-36E8D8402D1A}"/>
                  </a:ext>
                </a:extLst>
              </p:cNvPr>
              <p:cNvSpPr txBox="1"/>
              <p:nvPr/>
            </p:nvSpPr>
            <p:spPr>
              <a:xfrm>
                <a:off x="933895" y="3362162"/>
                <a:ext cx="1969567" cy="338554"/>
              </a:xfrm>
              <a:prstGeom prst="rect">
                <a:avLst/>
              </a:prstGeom>
              <a:noFill/>
            </p:spPr>
            <p:txBody>
              <a:bodyPr wrap="square">
                <a:spAutoFit/>
              </a:bodyPr>
              <a:lstStyle/>
              <a:p>
                <a:pPr algn="ctr"/>
                <a:r>
                  <a:rPr lang="es-CO" sz="1600" b="1" dirty="0">
                    <a:latin typeface="Roboto" panose="02000000000000000000" pitchFamily="2" charset="0"/>
                    <a:ea typeface="Roboto" panose="02000000000000000000" pitchFamily="2" charset="0"/>
                  </a:rPr>
                  <a:t>Origen</a:t>
                </a:r>
                <a:r>
                  <a:rPr lang="es-CO" sz="1600" dirty="0">
                    <a:latin typeface="Roboto" panose="02000000000000000000" pitchFamily="2" charset="0"/>
                    <a:ea typeface="Roboto" panose="02000000000000000000" pitchFamily="2" charset="0"/>
                  </a:rPr>
                  <a:t>: Twin Peaks</a:t>
                </a:r>
                <a:endParaRPr lang="es-CO" sz="1600" dirty="0"/>
              </a:p>
            </p:txBody>
          </p:sp>
        </p:grpSp>
        <p:grpSp>
          <p:nvGrpSpPr>
            <p:cNvPr id="41" name="Grupo 40">
              <a:extLst>
                <a:ext uri="{FF2B5EF4-FFF2-40B4-BE49-F238E27FC236}">
                  <a16:creationId xmlns:a16="http://schemas.microsoft.com/office/drawing/2014/main" id="{707A03DB-0399-429B-81CA-96255596F3E5}"/>
                </a:ext>
              </a:extLst>
            </p:cNvPr>
            <p:cNvGrpSpPr/>
            <p:nvPr/>
          </p:nvGrpSpPr>
          <p:grpSpPr>
            <a:xfrm>
              <a:off x="4545353" y="3362162"/>
              <a:ext cx="2209043" cy="1882824"/>
              <a:chOff x="4545353" y="3362162"/>
              <a:chExt cx="2209043" cy="1882824"/>
            </a:xfrm>
          </p:grpSpPr>
          <p:pic>
            <p:nvPicPr>
              <p:cNvPr id="5122" name="Picture 2">
                <a:extLst>
                  <a:ext uri="{FF2B5EF4-FFF2-40B4-BE49-F238E27FC236}">
                    <a16:creationId xmlns:a16="http://schemas.microsoft.com/office/drawing/2014/main" id="{F742A58C-02E1-4473-8796-23C2849242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45353" y="3772291"/>
                <a:ext cx="2209042" cy="1472695"/>
              </a:xfrm>
              <a:prstGeom prst="rect">
                <a:avLst/>
              </a:prstGeom>
              <a:noFill/>
              <a:extLst>
                <a:ext uri="{909E8E84-426E-40DD-AFC4-6F175D3DCCD1}">
                  <a14:hiddenFill xmlns:a14="http://schemas.microsoft.com/office/drawing/2010/main">
                    <a:solidFill>
                      <a:srgbClr val="FFFFFF"/>
                    </a:solidFill>
                  </a14:hiddenFill>
                </a:ext>
              </a:extLst>
            </p:spPr>
          </p:pic>
          <p:sp>
            <p:nvSpPr>
              <p:cNvPr id="37" name="CuadroTexto 36">
                <a:extLst>
                  <a:ext uri="{FF2B5EF4-FFF2-40B4-BE49-F238E27FC236}">
                    <a16:creationId xmlns:a16="http://schemas.microsoft.com/office/drawing/2014/main" id="{2690388C-CD89-4EEB-909E-9C8F7ECCD422}"/>
                  </a:ext>
                </a:extLst>
              </p:cNvPr>
              <p:cNvSpPr txBox="1"/>
              <p:nvPr/>
            </p:nvSpPr>
            <p:spPr>
              <a:xfrm>
                <a:off x="4545354" y="3362162"/>
                <a:ext cx="2209042" cy="338554"/>
              </a:xfrm>
              <a:prstGeom prst="rect">
                <a:avLst/>
              </a:prstGeom>
              <a:noFill/>
            </p:spPr>
            <p:txBody>
              <a:bodyPr wrap="square">
                <a:spAutoFit/>
              </a:bodyPr>
              <a:lstStyle/>
              <a:p>
                <a:pPr algn="ctr"/>
                <a:r>
                  <a:rPr lang="es-CO" sz="1600" b="1" dirty="0">
                    <a:latin typeface="Roboto" panose="02000000000000000000" pitchFamily="2" charset="0"/>
                    <a:ea typeface="Roboto" panose="02000000000000000000" pitchFamily="2" charset="0"/>
                  </a:rPr>
                  <a:t>Destino</a:t>
                </a:r>
                <a:r>
                  <a:rPr lang="es-CO" sz="1600" dirty="0">
                    <a:latin typeface="Roboto" panose="02000000000000000000" pitchFamily="2" charset="0"/>
                    <a:ea typeface="Roboto" panose="02000000000000000000" pitchFamily="2" charset="0"/>
                  </a:rPr>
                  <a:t>: Golden Gate </a:t>
                </a:r>
                <a:endParaRPr lang="es-CO" sz="1600" dirty="0"/>
              </a:p>
            </p:txBody>
          </p:sp>
        </p:grpSp>
        <p:pic>
          <p:nvPicPr>
            <p:cNvPr id="5126" name="Picture 6" descr="Recap of &quot;The Simpsons&quot; Season 9 Episode 14 | Recap Guide">
              <a:extLst>
                <a:ext uri="{FF2B5EF4-FFF2-40B4-BE49-F238E27FC236}">
                  <a16:creationId xmlns:a16="http://schemas.microsoft.com/office/drawing/2014/main" id="{913C3DF6-2477-43A9-A3A3-51CCF2AC686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5898" y="2913223"/>
              <a:ext cx="830189" cy="562582"/>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Conector recto de flecha 34">
              <a:extLst>
                <a:ext uri="{FF2B5EF4-FFF2-40B4-BE49-F238E27FC236}">
                  <a16:creationId xmlns:a16="http://schemas.microsoft.com/office/drawing/2014/main" id="{FC4D96F3-A781-46DA-8F4B-FE7FFA20F1A5}"/>
                </a:ext>
              </a:extLst>
            </p:cNvPr>
            <p:cNvCxnSpPr>
              <a:cxnSpLocks/>
              <a:stCxn id="36" idx="3"/>
              <a:endCxn id="37" idx="1"/>
            </p:cNvCxnSpPr>
            <p:nvPr/>
          </p:nvCxnSpPr>
          <p:spPr>
            <a:xfrm>
              <a:off x="2903462" y="3531439"/>
              <a:ext cx="164189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9" name="Grupo 38">
            <a:extLst>
              <a:ext uri="{FF2B5EF4-FFF2-40B4-BE49-F238E27FC236}">
                <a16:creationId xmlns:a16="http://schemas.microsoft.com/office/drawing/2014/main" id="{AF359BCE-8279-4422-8EAB-0187E8EDD5F0}"/>
              </a:ext>
            </a:extLst>
          </p:cNvPr>
          <p:cNvGrpSpPr/>
          <p:nvPr/>
        </p:nvGrpSpPr>
        <p:grpSpPr>
          <a:xfrm>
            <a:off x="7457908" y="2496644"/>
            <a:ext cx="1965696" cy="4049674"/>
            <a:chOff x="7497678" y="2609452"/>
            <a:chExt cx="1965696" cy="4049674"/>
          </a:xfrm>
        </p:grpSpPr>
        <p:pic>
          <p:nvPicPr>
            <p:cNvPr id="30" name="Imagen 29">
              <a:extLst>
                <a:ext uri="{FF2B5EF4-FFF2-40B4-BE49-F238E27FC236}">
                  <a16:creationId xmlns:a16="http://schemas.microsoft.com/office/drawing/2014/main" id="{A57904D4-CF4F-4746-81E9-CA021C2440C7}"/>
                </a:ext>
              </a:extLst>
            </p:cNvPr>
            <p:cNvPicPr>
              <a:picLocks noChangeAspect="1"/>
            </p:cNvPicPr>
            <p:nvPr/>
          </p:nvPicPr>
          <p:blipFill>
            <a:blip r:embed="rId7"/>
            <a:stretch>
              <a:fillRect/>
            </a:stretch>
          </p:blipFill>
          <p:spPr>
            <a:xfrm>
              <a:off x="7497678" y="3405561"/>
              <a:ext cx="1965696" cy="3253565"/>
            </a:xfrm>
            <a:prstGeom prst="rect">
              <a:avLst/>
            </a:prstGeom>
          </p:spPr>
        </p:pic>
        <p:pic>
          <p:nvPicPr>
            <p:cNvPr id="5128" name="Picture 8">
              <a:extLst>
                <a:ext uri="{FF2B5EF4-FFF2-40B4-BE49-F238E27FC236}">
                  <a16:creationId xmlns:a16="http://schemas.microsoft.com/office/drawing/2014/main" id="{734573A3-AB1D-4269-AB54-DFA451E218E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68467" y="2609452"/>
              <a:ext cx="424117" cy="61009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0" name="Grupo 39">
            <a:extLst>
              <a:ext uri="{FF2B5EF4-FFF2-40B4-BE49-F238E27FC236}">
                <a16:creationId xmlns:a16="http://schemas.microsoft.com/office/drawing/2014/main" id="{ECFC43F4-C3D4-44AE-9BD6-B960A2EC03AA}"/>
              </a:ext>
            </a:extLst>
          </p:cNvPr>
          <p:cNvGrpSpPr/>
          <p:nvPr/>
        </p:nvGrpSpPr>
        <p:grpSpPr>
          <a:xfrm>
            <a:off x="9944318" y="2558943"/>
            <a:ext cx="1965696" cy="3985285"/>
            <a:chOff x="9974465" y="2663473"/>
            <a:chExt cx="1965696" cy="3985285"/>
          </a:xfrm>
        </p:grpSpPr>
        <p:pic>
          <p:nvPicPr>
            <p:cNvPr id="32" name="Imagen 31">
              <a:extLst>
                <a:ext uri="{FF2B5EF4-FFF2-40B4-BE49-F238E27FC236}">
                  <a16:creationId xmlns:a16="http://schemas.microsoft.com/office/drawing/2014/main" id="{359886DB-E20A-4600-B514-8213B9578695}"/>
                </a:ext>
              </a:extLst>
            </p:cNvPr>
            <p:cNvPicPr>
              <a:picLocks noChangeAspect="1"/>
            </p:cNvPicPr>
            <p:nvPr/>
          </p:nvPicPr>
          <p:blipFill>
            <a:blip r:embed="rId9"/>
            <a:stretch>
              <a:fillRect/>
            </a:stretch>
          </p:blipFill>
          <p:spPr>
            <a:xfrm>
              <a:off x="9974465" y="3409156"/>
              <a:ext cx="1965696" cy="3239602"/>
            </a:xfrm>
            <a:prstGeom prst="rect">
              <a:avLst/>
            </a:prstGeom>
          </p:spPr>
        </p:pic>
        <p:pic>
          <p:nvPicPr>
            <p:cNvPr id="43" name="Picture 8">
              <a:extLst>
                <a:ext uri="{FF2B5EF4-FFF2-40B4-BE49-F238E27FC236}">
                  <a16:creationId xmlns:a16="http://schemas.microsoft.com/office/drawing/2014/main" id="{4B0612F1-3CA4-448A-8507-C9AE36C7331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745254" y="2663473"/>
              <a:ext cx="424117" cy="61009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45321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713385" y="193211"/>
            <a:ext cx="8304000" cy="949500"/>
          </a:xfrm>
        </p:spPr>
        <p:txBody>
          <a:bodyPr/>
          <a:lstStyle/>
          <a:p>
            <a:r>
              <a:rPr lang="es-CO" dirty="0">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585513" y="866071"/>
            <a:ext cx="10546281"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Problema típico: ¿Como puedo representar las relaciones?</a:t>
            </a:r>
          </a:p>
        </p:txBody>
      </p:sp>
      <p:sp>
        <p:nvSpPr>
          <p:cNvPr id="12" name="CuadroTexto 11">
            <a:extLst>
              <a:ext uri="{FF2B5EF4-FFF2-40B4-BE49-F238E27FC236}">
                <a16:creationId xmlns:a16="http://schemas.microsoft.com/office/drawing/2014/main" id="{2C9CD52E-3D84-4C0E-A7F7-D22BC3D60F72}"/>
              </a:ext>
            </a:extLst>
          </p:cNvPr>
          <p:cNvSpPr txBox="1"/>
          <p:nvPr/>
        </p:nvSpPr>
        <p:spPr>
          <a:xfrm>
            <a:off x="713385" y="1456856"/>
            <a:ext cx="10900855" cy="1015663"/>
          </a:xfrm>
          <a:prstGeom prst="rect">
            <a:avLst/>
          </a:prstGeom>
          <a:noFill/>
        </p:spPr>
        <p:txBody>
          <a:bodyPr wrap="square">
            <a:spAutoFit/>
          </a:bodyPr>
          <a:lstStyle/>
          <a:p>
            <a:r>
              <a:rPr lang="es-CO" sz="2000" dirty="0">
                <a:ea typeface="Roboto" panose="02000000000000000000" pitchFamily="2" charset="0"/>
              </a:rPr>
              <a:t>Ejemplo</a:t>
            </a:r>
            <a:r>
              <a:rPr lang="es-CO" sz="2000" b="1" dirty="0">
                <a:ea typeface="Roboto" panose="02000000000000000000" pitchFamily="2" charset="0"/>
              </a:rPr>
              <a:t> tomado de </a:t>
            </a:r>
            <a:r>
              <a:rPr lang="es-CO" sz="2000" b="1" i="0" dirty="0">
                <a:solidFill>
                  <a:srgbClr val="333333"/>
                </a:solidFill>
                <a:effectLst/>
                <a:ea typeface="Roboto" panose="02000000000000000000" pitchFamily="2" charset="0"/>
              </a:rPr>
              <a:t>Grokking Algorithms</a:t>
            </a:r>
            <a:r>
              <a:rPr lang="es-CO" sz="2000" b="1" dirty="0">
                <a:ea typeface="Roboto" panose="02000000000000000000" pitchFamily="2" charset="0"/>
              </a:rPr>
              <a:t> (</a:t>
            </a:r>
            <a:r>
              <a:rPr lang="es-CO" sz="2000" b="1" dirty="0">
                <a:ea typeface="Roboto" panose="02000000000000000000" pitchFamily="2" charset="0"/>
                <a:hlinkClick r:id="rId3"/>
              </a:rPr>
              <a:t>link</a:t>
            </a:r>
            <a:r>
              <a:rPr lang="es-CO" sz="2000" b="1" dirty="0">
                <a:ea typeface="Roboto" panose="02000000000000000000" pitchFamily="2" charset="0"/>
              </a:rPr>
              <a:t>)</a:t>
            </a:r>
            <a:r>
              <a:rPr lang="es-CO" sz="2000" dirty="0">
                <a:ea typeface="Roboto" panose="02000000000000000000" pitchFamily="2" charset="0"/>
              </a:rPr>
              <a:t>: Imagine que está en San Francisco y quieres ir de </a:t>
            </a:r>
            <a:r>
              <a:rPr lang="es-CO" sz="2000" b="1" dirty="0">
                <a:ea typeface="Roboto" panose="02000000000000000000" pitchFamily="2" charset="0"/>
              </a:rPr>
              <a:t>Twin Peaks</a:t>
            </a:r>
            <a:r>
              <a:rPr lang="es-CO" sz="2000" dirty="0">
                <a:ea typeface="Roboto" panose="02000000000000000000" pitchFamily="2" charset="0"/>
              </a:rPr>
              <a:t> al puente </a:t>
            </a:r>
            <a:r>
              <a:rPr lang="es-CO" sz="2000" b="1" dirty="0">
                <a:ea typeface="Roboto" panose="02000000000000000000" pitchFamily="2" charset="0"/>
              </a:rPr>
              <a:t>Golden Gate</a:t>
            </a:r>
            <a:r>
              <a:rPr lang="es-CO" sz="2000" dirty="0">
                <a:ea typeface="Roboto" panose="02000000000000000000" pitchFamily="2" charset="0"/>
              </a:rPr>
              <a:t>. ¿Si Quiere llegar en autobús, con el mínimo número de transbordos cuales son las opciones?</a:t>
            </a:r>
          </a:p>
        </p:txBody>
      </p:sp>
      <p:pic>
        <p:nvPicPr>
          <p:cNvPr id="6146" name="Picture 2">
            <a:extLst>
              <a:ext uri="{FF2B5EF4-FFF2-40B4-BE49-F238E27FC236}">
                <a16:creationId xmlns:a16="http://schemas.microsoft.com/office/drawing/2014/main" id="{05A52B5C-B00F-4C70-A04D-75E950F1D7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0056" y="2612779"/>
            <a:ext cx="1905329" cy="2472612"/>
          </a:xfrm>
          <a:prstGeom prst="rect">
            <a:avLst/>
          </a:prstGeom>
          <a:noFill/>
          <a:extLst>
            <a:ext uri="{909E8E84-426E-40DD-AFC4-6F175D3DCCD1}">
              <a14:hiddenFill xmlns:a14="http://schemas.microsoft.com/office/drawing/2010/main">
                <a:solidFill>
                  <a:srgbClr val="FFFFFF"/>
                </a:solidFill>
              </a14:hiddenFill>
            </a:ext>
          </a:extLst>
        </p:spPr>
      </p:pic>
      <p:pic>
        <p:nvPicPr>
          <p:cNvPr id="6152" name="Picture 8">
            <a:extLst>
              <a:ext uri="{FF2B5EF4-FFF2-40B4-BE49-F238E27FC236}">
                <a16:creationId xmlns:a16="http://schemas.microsoft.com/office/drawing/2014/main" id="{4BA81F08-061F-461F-A5BB-9A74B60700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07875" y="5417151"/>
            <a:ext cx="2165290" cy="887553"/>
          </a:xfrm>
          <a:prstGeom prst="rect">
            <a:avLst/>
          </a:prstGeom>
          <a:noFill/>
          <a:extLst>
            <a:ext uri="{909E8E84-426E-40DD-AFC4-6F175D3DCCD1}">
              <a14:hiddenFill xmlns:a14="http://schemas.microsoft.com/office/drawing/2010/main">
                <a:solidFill>
                  <a:srgbClr val="FFFFFF"/>
                </a:solidFill>
              </a14:hiddenFill>
            </a:ext>
          </a:extLst>
        </p:spPr>
      </p:pic>
      <p:pic>
        <p:nvPicPr>
          <p:cNvPr id="6154" name="Picture 10">
            <a:extLst>
              <a:ext uri="{FF2B5EF4-FFF2-40B4-BE49-F238E27FC236}">
                <a16:creationId xmlns:a16="http://schemas.microsoft.com/office/drawing/2014/main" id="{95643909-AFC1-4F17-81CE-230652235B0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12312" y="5381906"/>
            <a:ext cx="2764498" cy="958042"/>
          </a:xfrm>
          <a:prstGeom prst="rect">
            <a:avLst/>
          </a:prstGeom>
          <a:noFill/>
          <a:extLst>
            <a:ext uri="{909E8E84-426E-40DD-AFC4-6F175D3DCCD1}">
              <a14:hiddenFill xmlns:a14="http://schemas.microsoft.com/office/drawing/2010/main">
                <a:solidFill>
                  <a:srgbClr val="FFFFFF"/>
                </a:solidFill>
              </a14:hiddenFill>
            </a:ext>
          </a:extLst>
        </p:spPr>
      </p:pic>
      <p:pic>
        <p:nvPicPr>
          <p:cNvPr id="6156" name="Picture 12">
            <a:extLst>
              <a:ext uri="{FF2B5EF4-FFF2-40B4-BE49-F238E27FC236}">
                <a16:creationId xmlns:a16="http://schemas.microsoft.com/office/drawing/2014/main" id="{87E44BEC-1A11-49ED-AF39-961C925EAD3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15957" y="5389551"/>
            <a:ext cx="2413162" cy="969103"/>
          </a:xfrm>
          <a:prstGeom prst="rect">
            <a:avLst/>
          </a:prstGeom>
          <a:noFill/>
          <a:extLst>
            <a:ext uri="{909E8E84-426E-40DD-AFC4-6F175D3DCCD1}">
              <a14:hiddenFill xmlns:a14="http://schemas.microsoft.com/office/drawing/2010/main">
                <a:solidFill>
                  <a:srgbClr val="FFFFFF"/>
                </a:solidFill>
              </a14:hiddenFill>
            </a:ext>
          </a:extLst>
        </p:spPr>
      </p:pic>
      <p:pic>
        <p:nvPicPr>
          <p:cNvPr id="6158" name="Picture 14">
            <a:extLst>
              <a:ext uri="{FF2B5EF4-FFF2-40B4-BE49-F238E27FC236}">
                <a16:creationId xmlns:a16="http://schemas.microsoft.com/office/drawing/2014/main" id="{20D175E5-0BAD-4429-9FCF-E23E968361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468266" y="5381906"/>
            <a:ext cx="2136652" cy="773905"/>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upo 1">
            <a:extLst>
              <a:ext uri="{FF2B5EF4-FFF2-40B4-BE49-F238E27FC236}">
                <a16:creationId xmlns:a16="http://schemas.microsoft.com/office/drawing/2014/main" id="{B3993ECE-46D0-4137-B219-534A001EB31A}"/>
              </a:ext>
            </a:extLst>
          </p:cNvPr>
          <p:cNvGrpSpPr/>
          <p:nvPr/>
        </p:nvGrpSpPr>
        <p:grpSpPr>
          <a:xfrm>
            <a:off x="5524377" y="2514494"/>
            <a:ext cx="5791745" cy="2586893"/>
            <a:chOff x="4440367" y="2411682"/>
            <a:chExt cx="5791745" cy="2586893"/>
          </a:xfrm>
        </p:grpSpPr>
        <p:pic>
          <p:nvPicPr>
            <p:cNvPr id="6150" name="Picture 6">
              <a:extLst>
                <a:ext uri="{FF2B5EF4-FFF2-40B4-BE49-F238E27FC236}">
                  <a16:creationId xmlns:a16="http://schemas.microsoft.com/office/drawing/2014/main" id="{4572F0BA-F38C-4E30-BAFF-02F96FD62C5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0367" y="2820046"/>
              <a:ext cx="5488542" cy="217852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2" descr="Math flat icons. Vector colorful ...">
              <a:extLst>
                <a:ext uri="{FF2B5EF4-FFF2-40B4-BE49-F238E27FC236}">
                  <a16:creationId xmlns:a16="http://schemas.microsoft.com/office/drawing/2014/main" id="{5E8E373E-C855-4315-87B2-437330E835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625705" y="2411682"/>
              <a:ext cx="606407" cy="606407"/>
            </a:xfrm>
            <a:prstGeom prst="rect">
              <a:avLst/>
            </a:prstGeom>
            <a:noFill/>
            <a:extLst>
              <a:ext uri="{909E8E84-426E-40DD-AFC4-6F175D3DCCD1}">
                <a14:hiddenFill xmlns:a14="http://schemas.microsoft.com/office/drawing/2010/main">
                  <a:solidFill>
                    <a:srgbClr val="FFFFFF"/>
                  </a:solidFill>
                </a14:hiddenFill>
              </a:ext>
            </a:extLst>
          </p:spPr>
        </p:pic>
      </p:grpSp>
      <p:pic>
        <p:nvPicPr>
          <p:cNvPr id="6160" name="Picture 16" descr="Otto Mann | Simpsons Wiki | Fandom">
            <a:extLst>
              <a:ext uri="{FF2B5EF4-FFF2-40B4-BE49-F238E27FC236}">
                <a16:creationId xmlns:a16="http://schemas.microsoft.com/office/drawing/2014/main" id="{9C8FE770-EB5A-4115-87F1-93E0BC303AB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246266" y="2877496"/>
            <a:ext cx="1401262" cy="20746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7804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614855" y="96038"/>
            <a:ext cx="8605795" cy="949500"/>
          </a:xfrm>
        </p:spPr>
        <p:txBody>
          <a:bodyPr/>
          <a:lstStyle/>
          <a:p>
            <a:r>
              <a:rPr lang="es-CO" dirty="0">
                <a:solidFill>
                  <a:schemeClr val="tx1"/>
                </a:solidFill>
                <a:latin typeface="+mj-lt"/>
              </a:rPr>
              <a:t>Introducción</a:t>
            </a:r>
          </a:p>
        </p:txBody>
      </p:sp>
      <p:sp>
        <p:nvSpPr>
          <p:cNvPr id="11" name="Google Shape;310;p34">
            <a:extLst>
              <a:ext uri="{FF2B5EF4-FFF2-40B4-BE49-F238E27FC236}">
                <a16:creationId xmlns:a16="http://schemas.microsoft.com/office/drawing/2014/main" id="{33B0782A-130C-4CEB-96DD-AF7689A521DE}"/>
              </a:ext>
            </a:extLst>
          </p:cNvPr>
          <p:cNvSpPr txBox="1">
            <a:spLocks/>
          </p:cNvSpPr>
          <p:nvPr/>
        </p:nvSpPr>
        <p:spPr>
          <a:xfrm>
            <a:off x="421487" y="1599944"/>
            <a:ext cx="6024095"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latin typeface="+mn-lt"/>
                <a:ea typeface="Roboto" panose="02000000000000000000" pitchFamily="2" charset="0"/>
              </a:rPr>
              <a:t>Redes sociales</a:t>
            </a:r>
            <a:r>
              <a:rPr lang="es-MX" sz="2000" dirty="0">
                <a:latin typeface="+mn-lt"/>
                <a:ea typeface="Roboto" panose="02000000000000000000" pitchFamily="2" charset="0"/>
              </a:rPr>
              <a:t> (Ver </a:t>
            </a:r>
            <a:r>
              <a:rPr lang="es-CO" sz="2000" i="0" dirty="0">
                <a:solidFill>
                  <a:srgbClr val="333333"/>
                </a:solidFill>
                <a:effectLst/>
                <a:latin typeface="+mn-lt"/>
                <a:ea typeface="Roboto" panose="02000000000000000000" pitchFamily="2" charset="0"/>
              </a:rPr>
              <a:t>Grokking Algorithms</a:t>
            </a:r>
            <a:r>
              <a:rPr lang="es-CO" sz="2000" dirty="0">
                <a:latin typeface="+mn-lt"/>
                <a:ea typeface="Roboto" panose="02000000000000000000" pitchFamily="2" charset="0"/>
              </a:rPr>
              <a:t> (</a:t>
            </a:r>
            <a:r>
              <a:rPr lang="es-CO" sz="2000" dirty="0">
                <a:latin typeface="+mn-lt"/>
                <a:ea typeface="Roboto" panose="02000000000000000000" pitchFamily="2" charset="0"/>
                <a:hlinkClick r:id="rId3"/>
              </a:rPr>
              <a:t>link</a:t>
            </a:r>
            <a:r>
              <a:rPr lang="es-CO" sz="2000" dirty="0">
                <a:latin typeface="+mn-lt"/>
                <a:ea typeface="Roboto" panose="02000000000000000000" pitchFamily="2" charset="0"/>
              </a:rPr>
              <a:t>))</a:t>
            </a:r>
            <a:endParaRPr lang="es-MX" sz="2000" dirty="0">
              <a:latin typeface="+mn-lt"/>
              <a:ea typeface="Roboto" panose="02000000000000000000" pitchFamily="2" charset="0"/>
            </a:endParaRPr>
          </a:p>
        </p:txBody>
      </p:sp>
      <p:sp>
        <p:nvSpPr>
          <p:cNvPr id="9" name="Google Shape;310;p34">
            <a:extLst>
              <a:ext uri="{FF2B5EF4-FFF2-40B4-BE49-F238E27FC236}">
                <a16:creationId xmlns:a16="http://schemas.microsoft.com/office/drawing/2014/main" id="{A60A92E9-3EF5-4B66-92B1-3233A52F4C2B}"/>
              </a:ext>
            </a:extLst>
          </p:cNvPr>
          <p:cNvSpPr txBox="1">
            <a:spLocks/>
          </p:cNvSpPr>
          <p:nvPr/>
        </p:nvSpPr>
        <p:spPr>
          <a:xfrm>
            <a:off x="421487" y="1009531"/>
            <a:ext cx="10546281" cy="49244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800" b="1" dirty="0">
                <a:solidFill>
                  <a:schemeClr val="tx1"/>
                </a:solidFill>
                <a:latin typeface="+mn-lt"/>
                <a:ea typeface="Roboto" panose="02000000000000000000" pitchFamily="2" charset="0"/>
              </a:rPr>
              <a:t>Problema típico: ¿Como puedo representar las relaciones?</a:t>
            </a:r>
          </a:p>
        </p:txBody>
      </p:sp>
      <p:sp>
        <p:nvSpPr>
          <p:cNvPr id="12" name="CuadroTexto 11">
            <a:extLst>
              <a:ext uri="{FF2B5EF4-FFF2-40B4-BE49-F238E27FC236}">
                <a16:creationId xmlns:a16="http://schemas.microsoft.com/office/drawing/2014/main" id="{140CA7D2-7672-4259-BFE1-3A4C18058F91}"/>
              </a:ext>
            </a:extLst>
          </p:cNvPr>
          <p:cNvSpPr txBox="1"/>
          <p:nvPr/>
        </p:nvSpPr>
        <p:spPr>
          <a:xfrm>
            <a:off x="822858" y="6543728"/>
            <a:ext cx="9743541" cy="276999"/>
          </a:xfrm>
          <a:prstGeom prst="rect">
            <a:avLst/>
          </a:prstGeom>
          <a:noFill/>
        </p:spPr>
        <p:txBody>
          <a:bodyPr wrap="square">
            <a:spAutoFit/>
          </a:bodyPr>
          <a:lstStyle/>
          <a:p>
            <a:r>
              <a:rPr lang="es-CO" sz="1200" dirty="0">
                <a:latin typeface="Roboto" panose="02000000000000000000" pitchFamily="2" charset="0"/>
                <a:ea typeface="Roboto" panose="02000000000000000000" pitchFamily="2" charset="0"/>
                <a:hlinkClick r:id="rId4"/>
              </a:rPr>
              <a:t>https://github.com/egonSchiele/grokking_algorithms/blob/master/06_breadth-first_search/python/01_breadth-first_search.py</a:t>
            </a:r>
            <a:r>
              <a:rPr lang="es-CO" sz="1200" dirty="0">
                <a:latin typeface="Roboto" panose="02000000000000000000" pitchFamily="2" charset="0"/>
                <a:ea typeface="Roboto" panose="02000000000000000000" pitchFamily="2" charset="0"/>
              </a:rPr>
              <a:t> </a:t>
            </a:r>
          </a:p>
        </p:txBody>
      </p:sp>
      <p:grpSp>
        <p:nvGrpSpPr>
          <p:cNvPr id="7" name="Grupo 6">
            <a:extLst>
              <a:ext uri="{FF2B5EF4-FFF2-40B4-BE49-F238E27FC236}">
                <a16:creationId xmlns:a16="http://schemas.microsoft.com/office/drawing/2014/main" id="{71F8642B-BC32-446F-9DF9-E293924478CB}"/>
              </a:ext>
            </a:extLst>
          </p:cNvPr>
          <p:cNvGrpSpPr/>
          <p:nvPr/>
        </p:nvGrpSpPr>
        <p:grpSpPr>
          <a:xfrm>
            <a:off x="1090120" y="2362275"/>
            <a:ext cx="4746170" cy="3852467"/>
            <a:chOff x="1090120" y="2228586"/>
            <a:chExt cx="4746170" cy="3852467"/>
          </a:xfrm>
        </p:grpSpPr>
        <p:pic>
          <p:nvPicPr>
            <p:cNvPr id="7172" name="Picture 4">
              <a:extLst>
                <a:ext uri="{FF2B5EF4-FFF2-40B4-BE49-F238E27FC236}">
                  <a16:creationId xmlns:a16="http://schemas.microsoft.com/office/drawing/2014/main" id="{DF2F96EE-D525-434E-A035-F605B49F454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90120" y="2575917"/>
              <a:ext cx="4746170" cy="350513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2" descr="Math flat icons. Vector colorful ...">
              <a:extLst>
                <a:ext uri="{FF2B5EF4-FFF2-40B4-BE49-F238E27FC236}">
                  <a16:creationId xmlns:a16="http://schemas.microsoft.com/office/drawing/2014/main" id="{FBF881A9-E20A-46CC-B304-818586E697E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65446" y="2228586"/>
              <a:ext cx="606407" cy="58717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 name="Grupo 4">
            <a:extLst>
              <a:ext uri="{FF2B5EF4-FFF2-40B4-BE49-F238E27FC236}">
                <a16:creationId xmlns:a16="http://schemas.microsoft.com/office/drawing/2014/main" id="{8B3F690D-3C8F-4286-ADD3-B3105C719522}"/>
              </a:ext>
            </a:extLst>
          </p:cNvPr>
          <p:cNvGrpSpPr/>
          <p:nvPr/>
        </p:nvGrpSpPr>
        <p:grpSpPr>
          <a:xfrm>
            <a:off x="6225782" y="2719546"/>
            <a:ext cx="5642793" cy="2833541"/>
            <a:chOff x="6438793" y="2544273"/>
            <a:chExt cx="5642793" cy="2833541"/>
          </a:xfrm>
        </p:grpSpPr>
        <p:sp>
          <p:nvSpPr>
            <p:cNvPr id="2" name="CuadroTexto 1">
              <a:extLst>
                <a:ext uri="{FF2B5EF4-FFF2-40B4-BE49-F238E27FC236}">
                  <a16:creationId xmlns:a16="http://schemas.microsoft.com/office/drawing/2014/main" id="{57FC675F-F26A-43AE-A918-6EF3F788A5AD}"/>
                </a:ext>
              </a:extLst>
            </p:cNvPr>
            <p:cNvSpPr txBox="1"/>
            <p:nvPr/>
          </p:nvSpPr>
          <p:spPr>
            <a:xfrm>
              <a:off x="6438793" y="2792491"/>
              <a:ext cx="5376793" cy="2585323"/>
            </a:xfrm>
            <a:prstGeom prst="rect">
              <a:avLst/>
            </a:prstGeom>
            <a:noFill/>
            <a:ln>
              <a:solidFill>
                <a:schemeClr val="tx1"/>
              </a:solidFill>
            </a:ln>
          </p:spPr>
          <p:txBody>
            <a:bodyPr wrap="none" rtlCol="0">
              <a:spAutoFit/>
            </a:bodyPr>
            <a:lstStyle/>
            <a:p>
              <a:r>
                <a:rPr lang="es-CO" sz="1800" dirty="0" err="1">
                  <a:latin typeface="Consolas" panose="020B0609020204030204" pitchFamily="49" charset="0"/>
                </a:rPr>
                <a:t>graph</a:t>
              </a:r>
              <a:r>
                <a:rPr lang="es-CO" sz="1800" dirty="0">
                  <a:latin typeface="Consolas" panose="020B0609020204030204" pitchFamily="49" charset="0"/>
                </a:rPr>
                <a:t> = {}</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you</a:t>
              </a:r>
              <a:r>
                <a:rPr lang="es-CO" sz="1800" dirty="0">
                  <a:latin typeface="Consolas" panose="020B0609020204030204" pitchFamily="49" charset="0"/>
                </a:rPr>
                <a:t>"] = ["</a:t>
              </a:r>
              <a:r>
                <a:rPr lang="es-CO" sz="1800" dirty="0" err="1">
                  <a:latin typeface="Consolas" panose="020B0609020204030204" pitchFamily="49" charset="0"/>
                </a:rPr>
                <a:t>alice</a:t>
              </a:r>
              <a:r>
                <a:rPr lang="es-CO" sz="1800" dirty="0">
                  <a:latin typeface="Consolas" panose="020B0609020204030204" pitchFamily="49" charset="0"/>
                </a:rPr>
                <a:t>", "</a:t>
              </a:r>
              <a:r>
                <a:rPr lang="es-CO" sz="1800" dirty="0" err="1">
                  <a:latin typeface="Consolas" panose="020B0609020204030204" pitchFamily="49" charset="0"/>
                </a:rPr>
                <a:t>bob</a:t>
              </a:r>
              <a:r>
                <a:rPr lang="es-CO" sz="1800" dirty="0">
                  <a:latin typeface="Consolas" panose="020B0609020204030204" pitchFamily="49" charset="0"/>
                </a:rPr>
                <a:t>", "</a:t>
              </a:r>
              <a:r>
                <a:rPr lang="es-CO" sz="1800" dirty="0" err="1">
                  <a:latin typeface="Consolas" panose="020B0609020204030204" pitchFamily="49" charset="0"/>
                </a:rPr>
                <a:t>claire</a:t>
              </a:r>
              <a:r>
                <a:rPr lang="es-CO" sz="1800" dirty="0">
                  <a:latin typeface="Consolas" panose="020B0609020204030204" pitchFamily="49" charset="0"/>
                </a:rPr>
                <a:t>"]</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bob</a:t>
              </a:r>
              <a:r>
                <a:rPr lang="es-CO" sz="1800" dirty="0">
                  <a:latin typeface="Consolas" panose="020B0609020204030204" pitchFamily="49" charset="0"/>
                </a:rPr>
                <a:t>"] = ["</a:t>
              </a:r>
              <a:r>
                <a:rPr lang="es-CO" sz="1800" dirty="0" err="1">
                  <a:latin typeface="Consolas" panose="020B0609020204030204" pitchFamily="49" charset="0"/>
                </a:rPr>
                <a:t>anuj</a:t>
              </a:r>
              <a:r>
                <a:rPr lang="es-CO" sz="1800" dirty="0">
                  <a:latin typeface="Consolas" panose="020B0609020204030204" pitchFamily="49" charset="0"/>
                </a:rPr>
                <a:t>", "</a:t>
              </a:r>
              <a:r>
                <a:rPr lang="es-CO" sz="1800" dirty="0" err="1">
                  <a:latin typeface="Consolas" panose="020B0609020204030204" pitchFamily="49" charset="0"/>
                </a:rPr>
                <a:t>peggy</a:t>
              </a:r>
              <a:r>
                <a:rPr lang="es-CO" sz="1800" dirty="0">
                  <a:latin typeface="Consolas" panose="020B0609020204030204" pitchFamily="49" charset="0"/>
                </a:rPr>
                <a:t>"]</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alice</a:t>
              </a:r>
              <a:r>
                <a:rPr lang="es-CO" sz="1800" dirty="0">
                  <a:latin typeface="Consolas" panose="020B0609020204030204" pitchFamily="49" charset="0"/>
                </a:rPr>
                <a:t>"] = ["</a:t>
              </a:r>
              <a:r>
                <a:rPr lang="es-CO" sz="1800" dirty="0" err="1">
                  <a:latin typeface="Consolas" panose="020B0609020204030204" pitchFamily="49" charset="0"/>
                </a:rPr>
                <a:t>peggy</a:t>
              </a:r>
              <a:r>
                <a:rPr lang="es-CO" sz="1800" dirty="0">
                  <a:latin typeface="Consolas" panose="020B0609020204030204" pitchFamily="49" charset="0"/>
                </a:rPr>
                <a:t>"]</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claire</a:t>
              </a:r>
              <a:r>
                <a:rPr lang="es-CO" sz="1800" dirty="0">
                  <a:latin typeface="Consolas" panose="020B0609020204030204" pitchFamily="49" charset="0"/>
                </a:rPr>
                <a:t>"] = ["</a:t>
              </a:r>
              <a:r>
                <a:rPr lang="es-CO" sz="1800" dirty="0" err="1">
                  <a:latin typeface="Consolas" panose="020B0609020204030204" pitchFamily="49" charset="0"/>
                </a:rPr>
                <a:t>thom</a:t>
              </a:r>
              <a:r>
                <a:rPr lang="es-CO" sz="1800" dirty="0">
                  <a:latin typeface="Consolas" panose="020B0609020204030204" pitchFamily="49" charset="0"/>
                </a:rPr>
                <a:t>", "</a:t>
              </a:r>
              <a:r>
                <a:rPr lang="es-CO" sz="1800" dirty="0" err="1">
                  <a:latin typeface="Consolas" panose="020B0609020204030204" pitchFamily="49" charset="0"/>
                </a:rPr>
                <a:t>jonny</a:t>
              </a:r>
              <a:r>
                <a:rPr lang="es-CO" sz="1800" dirty="0">
                  <a:latin typeface="Consolas" panose="020B0609020204030204" pitchFamily="49" charset="0"/>
                </a:rPr>
                <a:t>"]</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anuj</a:t>
              </a:r>
              <a:r>
                <a:rPr lang="es-CO" sz="1800" dirty="0">
                  <a:latin typeface="Consolas" panose="020B0609020204030204" pitchFamily="49" charset="0"/>
                </a:rPr>
                <a:t>"] = []</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peggy</a:t>
              </a:r>
              <a:r>
                <a:rPr lang="es-CO" sz="1800" dirty="0">
                  <a:latin typeface="Consolas" panose="020B0609020204030204" pitchFamily="49" charset="0"/>
                </a:rPr>
                <a:t>"] = []</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thom</a:t>
              </a:r>
              <a:r>
                <a:rPr lang="es-CO" sz="1800" dirty="0">
                  <a:latin typeface="Consolas" panose="020B0609020204030204" pitchFamily="49" charset="0"/>
                </a:rPr>
                <a:t>"] = []</a:t>
              </a:r>
            </a:p>
            <a:p>
              <a:r>
                <a:rPr lang="es-CO" sz="1800" dirty="0" err="1">
                  <a:latin typeface="Consolas" panose="020B0609020204030204" pitchFamily="49" charset="0"/>
                </a:rPr>
                <a:t>graph</a:t>
              </a:r>
              <a:r>
                <a:rPr lang="es-CO" sz="1800" dirty="0">
                  <a:latin typeface="Consolas" panose="020B0609020204030204" pitchFamily="49" charset="0"/>
                </a:rPr>
                <a:t>["</a:t>
              </a:r>
              <a:r>
                <a:rPr lang="es-CO" sz="1800" dirty="0" err="1">
                  <a:latin typeface="Consolas" panose="020B0609020204030204" pitchFamily="49" charset="0"/>
                </a:rPr>
                <a:t>jonny</a:t>
              </a:r>
              <a:r>
                <a:rPr lang="es-CO" sz="1800" dirty="0">
                  <a:latin typeface="Consolas" panose="020B0609020204030204" pitchFamily="49" charset="0"/>
                </a:rPr>
                <a:t>"] = []</a:t>
              </a:r>
            </a:p>
          </p:txBody>
        </p:sp>
        <p:pic>
          <p:nvPicPr>
            <p:cNvPr id="15" name="Picture 10">
              <a:extLst>
                <a:ext uri="{FF2B5EF4-FFF2-40B4-BE49-F238E27FC236}">
                  <a16:creationId xmlns:a16="http://schemas.microsoft.com/office/drawing/2014/main" id="{8CE8B888-80FD-4D9F-AED1-2A582470FE3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24343" y="2544273"/>
              <a:ext cx="557243" cy="55350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8514317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567559" y="96038"/>
            <a:ext cx="8653091"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454501" y="967373"/>
            <a:ext cx="10587093" cy="523220"/>
          </a:xfrm>
          <a:prstGeom prst="rect">
            <a:avLst/>
          </a:prstGeom>
          <a:noFill/>
        </p:spPr>
        <p:txBody>
          <a:bodyPr wrap="square" rtlCol="0">
            <a:spAutoFit/>
          </a:bodyPr>
          <a:lstStyle/>
          <a:p>
            <a:r>
              <a:rPr lang="es-MX" sz="2800" b="1" dirty="0">
                <a:solidFill>
                  <a:schemeClr val="accent2"/>
                </a:solidFill>
                <a:ea typeface="Roboto" panose="02000000000000000000" pitchFamily="2" charset="0"/>
              </a:rPr>
              <a:t>N-tupla ordenada</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309716" y="1400284"/>
                <a:ext cx="11417453" cy="253135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Una n-tupla, </a:t>
                </a:r>
                <a14:m>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1</m:t>
                            </m:r>
                          </m:sub>
                        </m:sSub>
                        <m:r>
                          <a:rPr lang="es-MX" sz="2000" b="0" i="1" smtClean="0">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2</m:t>
                            </m:r>
                          </m:sub>
                        </m:sSub>
                        <m:r>
                          <a:rPr lang="es-MX" sz="2000" b="0" i="1" smtClean="0">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𝑛</m:t>
                            </m:r>
                          </m:sub>
                        </m:sSub>
                      </m:e>
                    </m:d>
                  </m:oMath>
                </a14:m>
                <a:r>
                  <a:rPr lang="es-MX" sz="2000" dirty="0">
                    <a:latin typeface="+mn-lt"/>
                    <a:ea typeface="Roboto" panose="02000000000000000000" pitchFamily="2" charset="0"/>
                  </a:rPr>
                  <a:t>, es una secuencia ordenada y finita de </a:t>
                </a:r>
                <a14:m>
                  <m:oMath xmlns:m="http://schemas.openxmlformats.org/officeDocument/2006/math">
                    <m:r>
                      <a:rPr lang="es-MX" sz="2000" i="1">
                        <a:latin typeface="Cambria Math" panose="02040503050406030204" pitchFamily="18" charset="0"/>
                        <a:ea typeface="Roboto" panose="02000000000000000000" pitchFamily="2" charset="0"/>
                      </a:rPr>
                      <m:t>𝑛</m:t>
                    </m:r>
                  </m:oMath>
                </a14:m>
                <a:r>
                  <a:rPr lang="es-MX" sz="2000" dirty="0">
                    <a:latin typeface="+mn-lt"/>
                    <a:ea typeface="Roboto" panose="02000000000000000000" pitchFamily="2" charset="0"/>
                  </a:rPr>
                  <a:t> elementos donde:</a:t>
                </a:r>
              </a:p>
              <a:p>
                <a:r>
                  <a:rPr lang="es-MX" sz="2000" dirty="0">
                    <a:latin typeface="+mn-lt"/>
                    <a:ea typeface="Roboto" panose="02000000000000000000" pitchFamily="2" charset="0"/>
                  </a:rPr>
                  <a:t>El orden importa</a:t>
                </a:r>
              </a:p>
              <a:p>
                <a:r>
                  <a:rPr lang="es-MX" sz="2000" dirty="0">
                    <a:latin typeface="+mn-lt"/>
                    <a:ea typeface="Roboto" panose="02000000000000000000" pitchFamily="2" charset="0"/>
                  </a:rPr>
                  <a:t>Se permiten repeticiones</a:t>
                </a:r>
              </a:p>
              <a:p>
                <a:r>
                  <a:rPr lang="es-MX" sz="2000" dirty="0">
                    <a:latin typeface="+mn-lt"/>
                    <a:ea typeface="Roboto" panose="02000000000000000000" pitchFamily="2" charset="0"/>
                  </a:rPr>
                  <a:t>Igualdad</a:t>
                </a:r>
              </a:p>
              <a:p>
                <a:endParaRPr lang="es-MX" sz="2000" b="0" i="1"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1</m:t>
                              </m:r>
                            </m:sub>
                          </m:sSub>
                          <m:r>
                            <a:rPr lang="es-MX" sz="2000" b="0" i="1" smtClean="0">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2</m:t>
                              </m:r>
                            </m:sub>
                          </m:sSub>
                          <m:r>
                            <a:rPr lang="es-MX" sz="2000" b="0" i="1" smtClean="0">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𝑛</m:t>
                              </m:r>
                            </m:sub>
                          </m:sSub>
                        </m:e>
                      </m:d>
                      <m:r>
                        <a:rPr lang="es-MX" sz="2000" b="0" i="1" smtClean="0">
                          <a:latin typeface="Cambria Math" panose="02040503050406030204" pitchFamily="18" charset="0"/>
                          <a:ea typeface="Roboto" panose="02000000000000000000" pitchFamily="2" charset="0"/>
                        </a:rPr>
                        <m:t>=</m:t>
                      </m:r>
                      <m:d>
                        <m:dPr>
                          <m:ctrlPr>
                            <a:rPr lang="es-MX" sz="2000" i="1">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𝑏</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𝑏</m:t>
                              </m:r>
                            </m:e>
                            <m:sub>
                              <m:r>
                                <a:rPr lang="es-MX" sz="2000" i="1">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𝑏</m:t>
                              </m:r>
                            </m:e>
                            <m:sub>
                              <m:r>
                                <a:rPr lang="es-MX" sz="2000" i="1">
                                  <a:latin typeface="Cambria Math" panose="02040503050406030204" pitchFamily="18" charset="0"/>
                                  <a:ea typeface="Roboto" panose="02000000000000000000" pitchFamily="2" charset="0"/>
                                </a:rPr>
                                <m:t>𝑛</m:t>
                              </m:r>
                            </m:sub>
                          </m:sSub>
                        </m:e>
                      </m:d>
                      <m:r>
                        <a:rPr lang="es-MX" sz="2000" i="1" smtClean="0">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1</m:t>
                          </m:r>
                        </m:sub>
                      </m:sSub>
                      <m:r>
                        <a:rPr lang="es-MX" sz="2000" b="0" i="1" smtClean="0">
                          <a:latin typeface="Cambria Math" panose="02040503050406030204" pitchFamily="18" charset="0"/>
                          <a:ea typeface="Roboto" panose="02000000000000000000" pitchFamily="2" charset="0"/>
                        </a:rPr>
                        <m:t>=</m:t>
                      </m:r>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𝑏</m:t>
                          </m:r>
                        </m:e>
                        <m:sub>
                          <m:r>
                            <a:rPr lang="es-MX" sz="2000" b="0" i="1" smtClean="0">
                              <a:latin typeface="Cambria Math" panose="02040503050406030204" pitchFamily="18" charset="0"/>
                              <a:ea typeface="Roboto" panose="02000000000000000000" pitchFamily="2" charset="0"/>
                            </a:rPr>
                            <m:t>1</m:t>
                          </m:r>
                        </m:sub>
                      </m:sSub>
                      <m:r>
                        <a:rPr lang="es-MX" sz="2000" b="0" i="1" smtClean="0">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𝑏</m:t>
                          </m:r>
                        </m:e>
                        <m:sub>
                          <m:r>
                            <a:rPr lang="es-MX" sz="2000" b="0" i="1" smtClean="0">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b="0" i="1" smtClean="0">
                              <a:latin typeface="Cambria Math" panose="02040503050406030204" pitchFamily="18" charset="0"/>
                              <a:ea typeface="Roboto" panose="02000000000000000000" pitchFamily="2" charset="0"/>
                            </a:rPr>
                            <m:t>𝑛</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𝑏</m:t>
                          </m:r>
                        </m:e>
                        <m:sub>
                          <m:r>
                            <a:rPr lang="es-MX" sz="2000" b="0" i="1" smtClean="0">
                              <a:latin typeface="Cambria Math" panose="02040503050406030204" pitchFamily="18" charset="0"/>
                              <a:ea typeface="Roboto" panose="02000000000000000000" pitchFamily="2" charset="0"/>
                            </a:rPr>
                            <m:t>𝑛</m:t>
                          </m:r>
                        </m:sub>
                      </m:sSub>
                    </m:oMath>
                  </m:oMathPara>
                </a14:m>
                <a:endParaRPr lang="es-MX" sz="2000" b="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lvl="1"/>
                <a:endParaRPr lang="es-MX" sz="1600" dirty="0">
                  <a:latin typeface="+mn-lt"/>
                  <a:ea typeface="Roboto" panose="02000000000000000000" pitchFamily="2" charset="0"/>
                </a:endParaRPr>
              </a:p>
              <a:p>
                <a:pPr lvl="1"/>
                <a:endParaRPr lang="es-MX" sz="16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309716" y="1400284"/>
                <a:ext cx="11417453" cy="2531350"/>
              </a:xfrm>
              <a:prstGeom prst="rect">
                <a:avLst/>
              </a:prstGeom>
              <a:blipFill>
                <a:blip r:embed="rId3"/>
                <a:stretch>
                  <a:fillRect/>
                </a:stretch>
              </a:blipFill>
              <a:ln>
                <a:noFill/>
              </a:ln>
            </p:spPr>
            <p:txBody>
              <a:bodyPr/>
              <a:lstStyle/>
              <a:p>
                <a:r>
                  <a:rPr lang="es-CO">
                    <a:noFill/>
                  </a:rPr>
                  <a:t> </a:t>
                </a:r>
              </a:p>
            </p:txBody>
          </p:sp>
        </mc:Fallback>
      </mc:AlternateContent>
      <p:grpSp>
        <p:nvGrpSpPr>
          <p:cNvPr id="4" name="Grupo 3">
            <a:extLst>
              <a:ext uri="{FF2B5EF4-FFF2-40B4-BE49-F238E27FC236}">
                <a16:creationId xmlns:a16="http://schemas.microsoft.com/office/drawing/2014/main" id="{EE0F5BAA-E863-404D-BE5D-8E13BCE3EBCA}"/>
              </a:ext>
            </a:extLst>
          </p:cNvPr>
          <p:cNvGrpSpPr/>
          <p:nvPr/>
        </p:nvGrpSpPr>
        <p:grpSpPr>
          <a:xfrm>
            <a:off x="841982" y="4180423"/>
            <a:ext cx="3044356" cy="2194394"/>
            <a:chOff x="841982" y="4180423"/>
            <a:chExt cx="3044356" cy="2194394"/>
          </a:xfrm>
        </p:grpSpPr>
        <p:pic>
          <p:nvPicPr>
            <p:cNvPr id="5" name="Picture 2" descr="Tutorial 1: Image Filtering">
              <a:extLst>
                <a:ext uri="{FF2B5EF4-FFF2-40B4-BE49-F238E27FC236}">
                  <a16:creationId xmlns:a16="http://schemas.microsoft.com/office/drawing/2014/main" id="{3AFC7D32-2F63-4C4F-ADCD-B82809D810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1982" y="4180423"/>
              <a:ext cx="3044356" cy="17329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6" name="CuadroTexto 5">
                  <a:extLst>
                    <a:ext uri="{FF2B5EF4-FFF2-40B4-BE49-F238E27FC236}">
                      <a16:creationId xmlns:a16="http://schemas.microsoft.com/office/drawing/2014/main" id="{CCF561B5-C140-4E95-ABC0-B15ECC3AD0BE}"/>
                    </a:ext>
                  </a:extLst>
                </p:cNvPr>
                <p:cNvSpPr txBox="1"/>
                <p:nvPr/>
              </p:nvSpPr>
              <p:spPr>
                <a:xfrm>
                  <a:off x="1811930" y="5974707"/>
                  <a:ext cx="127256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rPr>
                            </m:ctrlPr>
                          </m:dPr>
                          <m:e>
                            <m:r>
                              <a:rPr lang="es-MX" sz="2000" b="0" i="1" smtClean="0">
                                <a:solidFill>
                                  <a:srgbClr val="FF0000"/>
                                </a:solidFill>
                                <a:latin typeface="Cambria Math" panose="02040503050406030204" pitchFamily="18" charset="0"/>
                              </a:rPr>
                              <m:t>𝑅</m:t>
                            </m:r>
                            <m:r>
                              <a:rPr lang="es-MX" sz="2000" b="0" i="1" smtClean="0">
                                <a:latin typeface="Cambria Math" panose="02040503050406030204" pitchFamily="18" charset="0"/>
                              </a:rPr>
                              <m:t>,</m:t>
                            </m:r>
                            <m:r>
                              <a:rPr lang="es-MX" sz="2000" b="0" i="1" smtClean="0">
                                <a:solidFill>
                                  <a:srgbClr val="00B050"/>
                                </a:solidFill>
                                <a:latin typeface="Cambria Math" panose="02040503050406030204" pitchFamily="18" charset="0"/>
                              </a:rPr>
                              <m:t>𝐺</m:t>
                            </m:r>
                            <m:r>
                              <a:rPr lang="es-MX" sz="2000" b="0" i="1" smtClean="0">
                                <a:latin typeface="Cambria Math" panose="02040503050406030204" pitchFamily="18" charset="0"/>
                              </a:rPr>
                              <m:t>,</m:t>
                            </m:r>
                            <m:r>
                              <a:rPr lang="es-MX" sz="2000" b="0" i="1" smtClean="0">
                                <a:solidFill>
                                  <a:srgbClr val="002060"/>
                                </a:solidFill>
                                <a:latin typeface="Cambria Math" panose="02040503050406030204" pitchFamily="18" charset="0"/>
                              </a:rPr>
                              <m:t>𝐵</m:t>
                            </m:r>
                          </m:e>
                        </m:d>
                      </m:oMath>
                    </m:oMathPara>
                  </a14:m>
                  <a:endParaRPr lang="es-CO" sz="2000" b="1" dirty="0"/>
                </a:p>
              </p:txBody>
            </p:sp>
          </mc:Choice>
          <mc:Fallback>
            <p:sp>
              <p:nvSpPr>
                <p:cNvPr id="6" name="CuadroTexto 5">
                  <a:extLst>
                    <a:ext uri="{FF2B5EF4-FFF2-40B4-BE49-F238E27FC236}">
                      <a16:creationId xmlns:a16="http://schemas.microsoft.com/office/drawing/2014/main" id="{CCF561B5-C140-4E95-ABC0-B15ECC3AD0BE}"/>
                    </a:ext>
                  </a:extLst>
                </p:cNvPr>
                <p:cNvSpPr txBox="1">
                  <a:spLocks noRot="1" noChangeAspect="1" noMove="1" noResize="1" noEditPoints="1" noAdjustHandles="1" noChangeArrowheads="1" noChangeShapeType="1" noTextEdit="1"/>
                </p:cNvSpPr>
                <p:nvPr/>
              </p:nvSpPr>
              <p:spPr>
                <a:xfrm>
                  <a:off x="1811930" y="5974707"/>
                  <a:ext cx="1272567" cy="400110"/>
                </a:xfrm>
                <a:prstGeom prst="rect">
                  <a:avLst/>
                </a:prstGeom>
                <a:blipFill>
                  <a:blip r:embed="rId5"/>
                  <a:stretch>
                    <a:fillRect/>
                  </a:stretch>
                </a:blipFill>
              </p:spPr>
              <p:txBody>
                <a:bodyPr/>
                <a:lstStyle/>
                <a:p>
                  <a:r>
                    <a:rPr lang="es-CO">
                      <a:noFill/>
                    </a:rPr>
                    <a:t> </a:t>
                  </a:r>
                </a:p>
              </p:txBody>
            </p:sp>
          </mc:Fallback>
        </mc:AlternateContent>
      </p:grpSp>
      <p:grpSp>
        <p:nvGrpSpPr>
          <p:cNvPr id="11" name="Grupo 10">
            <a:extLst>
              <a:ext uri="{FF2B5EF4-FFF2-40B4-BE49-F238E27FC236}">
                <a16:creationId xmlns:a16="http://schemas.microsoft.com/office/drawing/2014/main" id="{F1ED71E1-EC3A-403A-B130-248EC5113057}"/>
              </a:ext>
            </a:extLst>
          </p:cNvPr>
          <p:cNvGrpSpPr/>
          <p:nvPr/>
        </p:nvGrpSpPr>
        <p:grpSpPr>
          <a:xfrm>
            <a:off x="4203419" y="4230918"/>
            <a:ext cx="2669540" cy="2082599"/>
            <a:chOff x="4203419" y="4230918"/>
            <a:chExt cx="2669540" cy="2082599"/>
          </a:xfrm>
        </p:grpSpPr>
        <p:pic>
          <p:nvPicPr>
            <p:cNvPr id="9" name="Picture 2" descr="Coordinate System and Units | Adafruit GFX Graphics Library | Adafruit  Learning System">
              <a:extLst>
                <a:ext uri="{FF2B5EF4-FFF2-40B4-BE49-F238E27FC236}">
                  <a16:creationId xmlns:a16="http://schemas.microsoft.com/office/drawing/2014/main" id="{7C76340F-BA70-4006-B42E-ACD27F956A2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03419" y="4230918"/>
              <a:ext cx="2669540" cy="177969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B860FFF1-9189-4998-A219-268A9096F752}"/>
                    </a:ext>
                  </a:extLst>
                </p:cNvPr>
                <p:cNvSpPr txBox="1"/>
                <p:nvPr/>
              </p:nvSpPr>
              <p:spPr>
                <a:xfrm>
                  <a:off x="5168696" y="5913407"/>
                  <a:ext cx="75197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rPr>
                            </m:ctrlPr>
                          </m:dPr>
                          <m:e>
                            <m:r>
                              <a:rPr lang="es-MX" sz="2000" b="0" i="1" smtClean="0">
                                <a:latin typeface="Cambria Math" panose="02040503050406030204" pitchFamily="18" charset="0"/>
                              </a:rPr>
                              <m:t>𝑖</m:t>
                            </m:r>
                            <m:r>
                              <a:rPr lang="es-MX" sz="2000" b="0" i="1" smtClean="0">
                                <a:latin typeface="Cambria Math" panose="02040503050406030204" pitchFamily="18" charset="0"/>
                              </a:rPr>
                              <m:t>,</m:t>
                            </m:r>
                            <m:r>
                              <a:rPr lang="es-MX" sz="2000" b="0" i="1" smtClean="0">
                                <a:latin typeface="Cambria Math" panose="02040503050406030204" pitchFamily="18" charset="0"/>
                              </a:rPr>
                              <m:t>𝑗</m:t>
                            </m:r>
                          </m:e>
                        </m:d>
                      </m:oMath>
                    </m:oMathPara>
                  </a14:m>
                  <a:endParaRPr lang="es-CO" sz="2000" b="1" dirty="0"/>
                </a:p>
              </p:txBody>
            </p:sp>
          </mc:Choice>
          <mc:Fallback>
            <p:sp>
              <p:nvSpPr>
                <p:cNvPr id="10" name="CuadroTexto 9">
                  <a:extLst>
                    <a:ext uri="{FF2B5EF4-FFF2-40B4-BE49-F238E27FC236}">
                      <a16:creationId xmlns:a16="http://schemas.microsoft.com/office/drawing/2014/main" id="{B860FFF1-9189-4998-A219-268A9096F752}"/>
                    </a:ext>
                  </a:extLst>
                </p:cNvPr>
                <p:cNvSpPr txBox="1">
                  <a:spLocks noRot="1" noChangeAspect="1" noMove="1" noResize="1" noEditPoints="1" noAdjustHandles="1" noChangeArrowheads="1" noChangeShapeType="1" noTextEdit="1"/>
                </p:cNvSpPr>
                <p:nvPr/>
              </p:nvSpPr>
              <p:spPr>
                <a:xfrm>
                  <a:off x="5168696" y="5913407"/>
                  <a:ext cx="751977" cy="400110"/>
                </a:xfrm>
                <a:prstGeom prst="rect">
                  <a:avLst/>
                </a:prstGeom>
                <a:blipFill>
                  <a:blip r:embed="rId7"/>
                  <a:stretch>
                    <a:fillRect b="-13636"/>
                  </a:stretch>
                </a:blipFill>
              </p:spPr>
              <p:txBody>
                <a:bodyPr/>
                <a:lstStyle/>
                <a:p>
                  <a:r>
                    <a:rPr lang="es-CO">
                      <a:noFill/>
                    </a:rPr>
                    <a:t> </a:t>
                  </a:r>
                </a:p>
              </p:txBody>
            </p:sp>
          </mc:Fallback>
        </mc:AlternateContent>
      </p:grpSp>
      <p:grpSp>
        <p:nvGrpSpPr>
          <p:cNvPr id="15" name="Grupo 14">
            <a:extLst>
              <a:ext uri="{FF2B5EF4-FFF2-40B4-BE49-F238E27FC236}">
                <a16:creationId xmlns:a16="http://schemas.microsoft.com/office/drawing/2014/main" id="{D434A953-EDD8-4DC5-AE11-45BEAAA1E3B8}"/>
              </a:ext>
            </a:extLst>
          </p:cNvPr>
          <p:cNvGrpSpPr/>
          <p:nvPr/>
        </p:nvGrpSpPr>
        <p:grpSpPr>
          <a:xfrm>
            <a:off x="7317530" y="4040777"/>
            <a:ext cx="1812282" cy="2679606"/>
            <a:chOff x="7249356" y="4063745"/>
            <a:chExt cx="1812282" cy="2679606"/>
          </a:xfrm>
        </p:grpSpPr>
        <p:pic>
          <p:nvPicPr>
            <p:cNvPr id="3" name="Imagen 2">
              <a:extLst>
                <a:ext uri="{FF2B5EF4-FFF2-40B4-BE49-F238E27FC236}">
                  <a16:creationId xmlns:a16="http://schemas.microsoft.com/office/drawing/2014/main" id="{1AD08A83-3DC6-47C0-BFCF-2EE8B5307E0A}"/>
                </a:ext>
              </a:extLst>
            </p:cNvPr>
            <p:cNvPicPr>
              <a:picLocks noChangeAspect="1"/>
            </p:cNvPicPr>
            <p:nvPr/>
          </p:nvPicPr>
          <p:blipFill>
            <a:blip r:embed="rId8"/>
            <a:stretch>
              <a:fillRect/>
            </a:stretch>
          </p:blipFill>
          <p:spPr>
            <a:xfrm>
              <a:off x="7309316" y="4063745"/>
              <a:ext cx="1749623" cy="2249516"/>
            </a:xfrm>
            <a:prstGeom prst="rect">
              <a:avLst/>
            </a:prstGeom>
          </p:spPr>
        </p:pic>
        <mc:AlternateContent xmlns:mc="http://schemas.openxmlformats.org/markup-compatibility/2006">
          <mc:Choice xmlns:a14="http://schemas.microsoft.com/office/drawing/2010/main" Requires="a14">
            <p:sp>
              <p:nvSpPr>
                <p:cNvPr id="12" name="CuadroTexto 11">
                  <a:extLst>
                    <a:ext uri="{FF2B5EF4-FFF2-40B4-BE49-F238E27FC236}">
                      <a16:creationId xmlns:a16="http://schemas.microsoft.com/office/drawing/2014/main" id="{F693020D-F3CF-4801-A7B3-CE57E6EF65AD}"/>
                    </a:ext>
                  </a:extLst>
                </p:cNvPr>
                <p:cNvSpPr txBox="1"/>
                <p:nvPr/>
              </p:nvSpPr>
              <p:spPr>
                <a:xfrm>
                  <a:off x="7249356" y="6343241"/>
                  <a:ext cx="1812282"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rPr>
                            </m:ctrlPr>
                          </m:dPr>
                          <m:e>
                            <m:r>
                              <a:rPr lang="es-MX" sz="2000" b="0" i="1" smtClean="0">
                                <a:latin typeface="Cambria Math" panose="02040503050406030204" pitchFamily="18" charset="0"/>
                              </a:rPr>
                              <m:t>𝐷𝐷</m:t>
                            </m:r>
                            <m:r>
                              <a:rPr lang="es-MX" sz="2000" b="0" i="1" smtClean="0">
                                <a:latin typeface="Cambria Math" panose="02040503050406030204" pitchFamily="18" charset="0"/>
                              </a:rPr>
                              <m:t>,</m:t>
                            </m:r>
                            <m:r>
                              <a:rPr lang="es-MX" sz="2000" b="0" i="1" smtClean="0">
                                <a:latin typeface="Cambria Math" panose="02040503050406030204" pitchFamily="18" charset="0"/>
                              </a:rPr>
                              <m:t>𝑀𝑀</m:t>
                            </m:r>
                            <m:r>
                              <a:rPr lang="es-MX" sz="2000" b="0" i="1" smtClean="0">
                                <a:latin typeface="Cambria Math" panose="02040503050406030204" pitchFamily="18" charset="0"/>
                              </a:rPr>
                              <m:t>,</m:t>
                            </m:r>
                            <m:r>
                              <a:rPr lang="es-MX" sz="2000" b="0" i="1" smtClean="0">
                                <a:latin typeface="Cambria Math" panose="02040503050406030204" pitchFamily="18" charset="0"/>
                              </a:rPr>
                              <m:t>𝑌𝑌𝑌𝑌</m:t>
                            </m:r>
                          </m:e>
                        </m:d>
                      </m:oMath>
                    </m:oMathPara>
                  </a14:m>
                  <a:endParaRPr lang="es-CO" sz="2000" b="1" dirty="0"/>
                </a:p>
              </p:txBody>
            </p:sp>
          </mc:Choice>
          <mc:Fallback>
            <p:sp>
              <p:nvSpPr>
                <p:cNvPr id="12" name="CuadroTexto 11">
                  <a:extLst>
                    <a:ext uri="{FF2B5EF4-FFF2-40B4-BE49-F238E27FC236}">
                      <a16:creationId xmlns:a16="http://schemas.microsoft.com/office/drawing/2014/main" id="{F693020D-F3CF-4801-A7B3-CE57E6EF65AD}"/>
                    </a:ext>
                  </a:extLst>
                </p:cNvPr>
                <p:cNvSpPr txBox="1">
                  <a:spLocks noRot="1" noChangeAspect="1" noMove="1" noResize="1" noEditPoints="1" noAdjustHandles="1" noChangeArrowheads="1" noChangeShapeType="1" noTextEdit="1"/>
                </p:cNvSpPr>
                <p:nvPr/>
              </p:nvSpPr>
              <p:spPr>
                <a:xfrm>
                  <a:off x="7249356" y="6343241"/>
                  <a:ext cx="1812282" cy="400110"/>
                </a:xfrm>
                <a:prstGeom prst="rect">
                  <a:avLst/>
                </a:prstGeom>
                <a:blipFill>
                  <a:blip r:embed="rId9"/>
                  <a:stretch>
                    <a:fillRect r="-4027"/>
                  </a:stretch>
                </a:blipFill>
              </p:spPr>
              <p:txBody>
                <a:bodyPr/>
                <a:lstStyle/>
                <a:p>
                  <a:r>
                    <a:rPr lang="es-CO">
                      <a:noFill/>
                    </a:rPr>
                    <a:t> </a:t>
                  </a:r>
                </a:p>
              </p:txBody>
            </p:sp>
          </mc:Fallback>
        </mc:AlternateContent>
      </p:grpSp>
      <p:grpSp>
        <p:nvGrpSpPr>
          <p:cNvPr id="16" name="Grupo 15">
            <a:extLst>
              <a:ext uri="{FF2B5EF4-FFF2-40B4-BE49-F238E27FC236}">
                <a16:creationId xmlns:a16="http://schemas.microsoft.com/office/drawing/2014/main" id="{ED6C1A4C-F93E-48F5-8CD0-0F7F55BF56C3}"/>
              </a:ext>
            </a:extLst>
          </p:cNvPr>
          <p:cNvGrpSpPr/>
          <p:nvPr/>
        </p:nvGrpSpPr>
        <p:grpSpPr>
          <a:xfrm>
            <a:off x="9871693" y="4040777"/>
            <a:ext cx="1812282" cy="2611294"/>
            <a:chOff x="9871693" y="4040777"/>
            <a:chExt cx="1812282" cy="2611294"/>
          </a:xfrm>
        </p:grpSpPr>
        <p:pic>
          <p:nvPicPr>
            <p:cNvPr id="13" name="Picture 7">
              <a:extLst>
                <a:ext uri="{FF2B5EF4-FFF2-40B4-BE49-F238E27FC236}">
                  <a16:creationId xmlns:a16="http://schemas.microsoft.com/office/drawing/2014/main" id="{34861A34-EB79-438A-A30D-8314B7C7F53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46643" y="4040777"/>
              <a:ext cx="1619983" cy="215997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F79FF141-80D8-497F-891E-210289A6DCA7}"/>
                    </a:ext>
                  </a:extLst>
                </p:cNvPr>
                <p:cNvSpPr txBox="1"/>
                <p:nvPr/>
              </p:nvSpPr>
              <p:spPr>
                <a:xfrm>
                  <a:off x="9871693" y="6251961"/>
                  <a:ext cx="1812282" cy="400110"/>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d>
                          <m:dPr>
                            <m:ctrlPr>
                              <a:rPr lang="es-MX" sz="2000" b="0" i="1" smtClean="0">
                                <a:solidFill>
                                  <a:schemeClr val="tx2">
                                    <a:lumMod val="50000"/>
                                  </a:schemeClr>
                                </a:solidFill>
                                <a:latin typeface="Cambria Math" panose="02040503050406030204" pitchFamily="18" charset="0"/>
                              </a:rPr>
                            </m:ctrlPr>
                          </m:dPr>
                          <m:e>
                            <m:r>
                              <a:rPr lang="es-MX" sz="2000" b="0" i="1" smtClean="0">
                                <a:solidFill>
                                  <a:schemeClr val="tx2">
                                    <a:lumMod val="50000"/>
                                  </a:schemeClr>
                                </a:solidFill>
                                <a:latin typeface="Cambria Math" panose="02040503050406030204" pitchFamily="18" charset="0"/>
                              </a:rPr>
                              <m:t>𝐺</m:t>
                            </m:r>
                          </m:e>
                        </m:d>
                      </m:oMath>
                    </m:oMathPara>
                  </a14:m>
                  <a:endParaRPr lang="es-CO" sz="2000" b="1" dirty="0">
                    <a:solidFill>
                      <a:schemeClr val="tx2">
                        <a:lumMod val="50000"/>
                      </a:schemeClr>
                    </a:solidFill>
                  </a:endParaRPr>
                </a:p>
              </p:txBody>
            </p:sp>
          </mc:Choice>
          <mc:Fallback>
            <p:sp>
              <p:nvSpPr>
                <p:cNvPr id="14" name="CuadroTexto 13">
                  <a:extLst>
                    <a:ext uri="{FF2B5EF4-FFF2-40B4-BE49-F238E27FC236}">
                      <a16:creationId xmlns:a16="http://schemas.microsoft.com/office/drawing/2014/main" id="{F79FF141-80D8-497F-891E-210289A6DCA7}"/>
                    </a:ext>
                  </a:extLst>
                </p:cNvPr>
                <p:cNvSpPr txBox="1">
                  <a:spLocks noRot="1" noChangeAspect="1" noMove="1" noResize="1" noEditPoints="1" noAdjustHandles="1" noChangeArrowheads="1" noChangeShapeType="1" noTextEdit="1"/>
                </p:cNvSpPr>
                <p:nvPr/>
              </p:nvSpPr>
              <p:spPr>
                <a:xfrm>
                  <a:off x="9871693" y="6251961"/>
                  <a:ext cx="1812282" cy="400110"/>
                </a:xfrm>
                <a:prstGeom prst="rect">
                  <a:avLst/>
                </a:prstGeom>
                <a:blipFill>
                  <a:blip r:embed="rId11"/>
                  <a:stretch>
                    <a:fillRect/>
                  </a:stretch>
                </a:blipFill>
              </p:spPr>
              <p:txBody>
                <a:bodyPr/>
                <a:lstStyle/>
                <a:p>
                  <a:r>
                    <a:rPr lang="es-CO">
                      <a:noFill/>
                    </a:rPr>
                    <a:t> </a:t>
                  </a:r>
                </a:p>
              </p:txBody>
            </p:sp>
          </mc:Fallback>
        </mc:AlternateContent>
      </p:grpSp>
    </p:spTree>
    <p:extLst>
      <p:ext uri="{BB962C8B-B14F-4D97-AF65-F5344CB8AC3E}">
        <p14:creationId xmlns:p14="http://schemas.microsoft.com/office/powerpoint/2010/main" val="3727400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353962" y="96038"/>
            <a:ext cx="886668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353962" y="798698"/>
            <a:ext cx="11149782" cy="492443"/>
          </a:xfrm>
          <a:prstGeom prst="rect">
            <a:avLst/>
          </a:prstGeom>
          <a:noFill/>
        </p:spPr>
        <p:txBody>
          <a:bodyPr wrap="square" rtlCol="0">
            <a:spAutoFit/>
          </a:bodyPr>
          <a:lstStyle/>
          <a:p>
            <a:r>
              <a:rPr lang="es-MX" sz="2600" b="1" dirty="0">
                <a:ea typeface="Roboto" panose="02000000000000000000" pitchFamily="2" charset="0"/>
              </a:rPr>
              <a:t>Producto cartesiano: Fabrica para crear tuplas</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206478" y="1231181"/>
                <a:ext cx="11750696" cy="76262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Conjunto de todas las posibles parejas </a:t>
                </a:r>
                <a14:m>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oMath>
                </a14:m>
                <a:r>
                  <a:rPr lang="es-MX" sz="2000" dirty="0">
                    <a:latin typeface="+mn-lt"/>
                    <a:ea typeface="Roboto" panose="02000000000000000000" pitchFamily="2" charset="0"/>
                  </a:rPr>
                  <a:t> donde </a:t>
                </a:r>
                <a14:m>
                  <m:oMath xmlns:m="http://schemas.openxmlformats.org/officeDocument/2006/math">
                    <m:r>
                      <a:rPr lang="es-MX" sz="2000" i="1">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𝑏</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lo cual se denota formalmente (de diferentes maneras como) como:</a:t>
                </a: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206478" y="1231181"/>
                <a:ext cx="11750696" cy="762620"/>
              </a:xfrm>
              <a:prstGeom prst="rect">
                <a:avLst/>
              </a:prstGeom>
              <a:blipFill>
                <a:blip r:embed="rId3"/>
                <a:stretch>
                  <a:fillRect b="-15200"/>
                </a:stretch>
              </a:blipFill>
              <a:ln>
                <a:noFill/>
              </a:ln>
            </p:spPr>
            <p:txBody>
              <a:bodyPr/>
              <a:lstStyle/>
              <a:p>
                <a:r>
                  <a:rPr lang="es-CO">
                    <a:noFill/>
                  </a:rPr>
                  <a:t> </a:t>
                </a:r>
              </a:p>
            </p:txBody>
          </p:sp>
        </mc:Fallback>
      </mc:AlternateContent>
      <p:pic>
        <p:nvPicPr>
          <p:cNvPr id="5" name="Imagen 4">
            <a:extLst>
              <a:ext uri="{FF2B5EF4-FFF2-40B4-BE49-F238E27FC236}">
                <a16:creationId xmlns:a16="http://schemas.microsoft.com/office/drawing/2014/main" id="{7A2F0394-5F5A-40CF-99BA-BB87B152EBCA}"/>
              </a:ext>
            </a:extLst>
          </p:cNvPr>
          <p:cNvPicPr>
            <a:picLocks noChangeAspect="1"/>
          </p:cNvPicPr>
          <p:nvPr/>
        </p:nvPicPr>
        <p:blipFill>
          <a:blip r:embed="rId4"/>
          <a:stretch>
            <a:fillRect/>
          </a:stretch>
        </p:blipFill>
        <p:spPr>
          <a:xfrm>
            <a:off x="1725946" y="4240136"/>
            <a:ext cx="2544038" cy="2465587"/>
          </a:xfrm>
          <a:prstGeom prst="rect">
            <a:avLst/>
          </a:prstGeom>
        </p:spPr>
      </p:pic>
      <mc:AlternateContent xmlns:mc="http://schemas.openxmlformats.org/markup-compatibility/2006">
        <mc:Choice xmlns:a14="http://schemas.microsoft.com/office/drawing/2010/main" Requires="a14">
          <p:sp>
            <p:nvSpPr>
              <p:cNvPr id="12" name="CuadroTexto 11">
                <a:extLst>
                  <a:ext uri="{FF2B5EF4-FFF2-40B4-BE49-F238E27FC236}">
                    <a16:creationId xmlns:a16="http://schemas.microsoft.com/office/drawing/2014/main" id="{D2EA4E55-5117-40D1-9CC0-17D75E56571C}"/>
                  </a:ext>
                </a:extLst>
              </p:cNvPr>
              <p:cNvSpPr txBox="1"/>
              <p:nvPr/>
            </p:nvSpPr>
            <p:spPr>
              <a:xfrm>
                <a:off x="5403276" y="4419540"/>
                <a:ext cx="5927047" cy="982577"/>
              </a:xfrm>
              <a:prstGeom prst="rect">
                <a:avLst/>
              </a:prstGeom>
              <a:solidFill>
                <a:schemeClr val="bg1"/>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𝐶𝑜𝑚𝑏𝑜𝑠</m:t>
                      </m:r>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eqArr>
                            <m:eqArrPr>
                              <m:ctrlPr>
                                <a:rPr lang="es-MX" sz="2000" b="0" i="1" smtClean="0">
                                  <a:latin typeface="Cambria Math" panose="02040503050406030204" pitchFamily="18" charset="0"/>
                                </a:rPr>
                              </m:ctrlPr>
                            </m:eqArrPr>
                            <m:e>
                              <m:d>
                                <m:dPr>
                                  <m:ctrlPr>
                                    <a:rPr lang="es-MX" sz="2000" b="0" i="1" smtClean="0">
                                      <a:latin typeface="Cambria Math" panose="02040503050406030204" pitchFamily="18" charset="0"/>
                                    </a:rPr>
                                  </m:ctrlPr>
                                </m:dPr>
                                <m:e>
                                  <m:r>
                                    <a:rPr lang="es-MX" sz="2000" b="0" i="1" smtClean="0">
                                      <a:latin typeface="Cambria Math" panose="02040503050406030204" pitchFamily="18" charset="0"/>
                                    </a:rPr>
                                    <m:t>𝑟𝑜𝑠𝑞𝑢𝑖𝑙𝑙𝑎</m:t>
                                  </m:r>
                                  <m:r>
                                    <a:rPr lang="es-MX" sz="2000" b="0" i="1" smtClean="0">
                                      <a:latin typeface="Cambria Math" panose="02040503050406030204" pitchFamily="18" charset="0"/>
                                    </a:rPr>
                                    <m:t>,</m:t>
                                  </m:r>
                                  <m:r>
                                    <a:rPr lang="es-MX" sz="2000" b="0" i="1" smtClean="0">
                                      <a:latin typeface="Cambria Math" panose="02040503050406030204" pitchFamily="18" charset="0"/>
                                    </a:rPr>
                                    <m:t>𝑐𝑎𝑓𝑒</m:t>
                                  </m:r>
                                </m:e>
                              </m:d>
                              <m:r>
                                <a:rPr lang="es-MX" sz="2000" b="0" i="1" smtClean="0">
                                  <a:latin typeface="Cambria Math" panose="02040503050406030204" pitchFamily="18" charset="0"/>
                                </a:rPr>
                                <m:t>,</m:t>
                              </m:r>
                              <m:d>
                                <m:dPr>
                                  <m:ctrlPr>
                                    <a:rPr lang="es-MX" sz="2000" i="1">
                                      <a:latin typeface="Cambria Math" panose="02040503050406030204" pitchFamily="18" charset="0"/>
                                    </a:rPr>
                                  </m:ctrlPr>
                                </m:dPr>
                                <m:e>
                                  <m:r>
                                    <a:rPr lang="es-MX" sz="2000" i="1">
                                      <a:latin typeface="Cambria Math" panose="02040503050406030204" pitchFamily="18" charset="0"/>
                                    </a:rPr>
                                    <m:t>𝑟𝑜𝑠𝑞𝑢𝑖𝑙𝑙𝑎</m:t>
                                  </m:r>
                                  <m:r>
                                    <a:rPr lang="es-MX" sz="2000" i="1">
                                      <a:latin typeface="Cambria Math" panose="02040503050406030204" pitchFamily="18" charset="0"/>
                                    </a:rPr>
                                    <m:t>,</m:t>
                                  </m:r>
                                  <m:r>
                                    <a:rPr lang="es-MX" sz="2000" b="0" i="1" smtClean="0">
                                      <a:latin typeface="Cambria Math" panose="02040503050406030204" pitchFamily="18" charset="0"/>
                                    </a:rPr>
                                    <m:t>𝑗𝑢𝑔𝑜</m:t>
                                  </m:r>
                                </m:e>
                              </m:d>
                              <m:r>
                                <a:rPr lang="es-MX" sz="2000" b="0" i="1" smtClean="0">
                                  <a:latin typeface="Cambria Math" panose="02040503050406030204" pitchFamily="18" charset="0"/>
                                </a:rPr>
                                <m:t>,</m:t>
                              </m:r>
                            </m:e>
                            <m:e>
                              <m:eqArr>
                                <m:eqArrPr>
                                  <m:ctrlPr>
                                    <a:rPr lang="es-MX" sz="2000" i="1">
                                      <a:latin typeface="Cambria Math" panose="02040503050406030204" pitchFamily="18" charset="0"/>
                                    </a:rPr>
                                  </m:ctrlPr>
                                </m:eqArrPr>
                                <m:e>
                                  <m:d>
                                    <m:dPr>
                                      <m:ctrlPr>
                                        <a:rPr lang="es-MX" sz="2000" i="1">
                                          <a:latin typeface="Cambria Math" panose="02040503050406030204" pitchFamily="18" charset="0"/>
                                        </a:rPr>
                                      </m:ctrlPr>
                                    </m:dPr>
                                    <m:e>
                                      <m:r>
                                        <a:rPr lang="es-MX" sz="2000" b="0" i="1" smtClean="0">
                                          <a:latin typeface="Cambria Math" panose="02040503050406030204" pitchFamily="18" charset="0"/>
                                        </a:rPr>
                                        <m:t>𝑎𝑟𝑒𝑝𝑎</m:t>
                                      </m:r>
                                      <m:r>
                                        <a:rPr lang="es-MX" sz="2000" i="1">
                                          <a:latin typeface="Cambria Math" panose="02040503050406030204" pitchFamily="18" charset="0"/>
                                        </a:rPr>
                                        <m:t>,</m:t>
                                      </m:r>
                                      <m:r>
                                        <a:rPr lang="es-MX" sz="2000" i="1">
                                          <a:latin typeface="Cambria Math" panose="02040503050406030204" pitchFamily="18" charset="0"/>
                                        </a:rPr>
                                        <m:t>𝑐𝑎𝑓𝑒</m:t>
                                      </m:r>
                                    </m:e>
                                  </m:d>
                                  <m:r>
                                    <a:rPr lang="es-MX" sz="2000" b="0" i="1" smtClean="0">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𝑎𝑟𝑒𝑝𝑎</m:t>
                                      </m:r>
                                      <m:r>
                                        <a:rPr lang="es-MX" sz="2000" i="1">
                                          <a:latin typeface="Cambria Math" panose="02040503050406030204" pitchFamily="18" charset="0"/>
                                        </a:rPr>
                                        <m:t>,</m:t>
                                      </m:r>
                                      <m:r>
                                        <a:rPr lang="es-MX" sz="2000" b="0" i="1" smtClean="0">
                                          <a:latin typeface="Cambria Math" panose="02040503050406030204" pitchFamily="18" charset="0"/>
                                        </a:rPr>
                                        <m:t>𝑗𝑢𝑔𝑜</m:t>
                                      </m:r>
                                    </m:e>
                                  </m:d>
                                  <m:r>
                                    <a:rPr lang="es-MX" sz="2000" b="0" i="1" smtClean="0">
                                      <a:latin typeface="Cambria Math" panose="02040503050406030204" pitchFamily="18" charset="0"/>
                                    </a:rPr>
                                    <m:t>,</m:t>
                                  </m:r>
                                </m:e>
                                <m:e>
                                  <m:d>
                                    <m:dPr>
                                      <m:ctrlPr>
                                        <a:rPr lang="es-MX" sz="2000" i="1">
                                          <a:latin typeface="Cambria Math" panose="02040503050406030204" pitchFamily="18" charset="0"/>
                                        </a:rPr>
                                      </m:ctrlPr>
                                    </m:dPr>
                                    <m:e>
                                      <m:r>
                                        <a:rPr lang="es-MX" sz="2000" b="0" i="1" smtClean="0">
                                          <a:latin typeface="Cambria Math" panose="02040503050406030204" pitchFamily="18" charset="0"/>
                                        </a:rPr>
                                        <m:t>𝑝𝑎𝑛</m:t>
                                      </m:r>
                                      <m:r>
                                        <a:rPr lang="es-MX" sz="2000" i="1">
                                          <a:latin typeface="Cambria Math" panose="02040503050406030204" pitchFamily="18" charset="0"/>
                                        </a:rPr>
                                        <m:t>,</m:t>
                                      </m:r>
                                      <m:r>
                                        <a:rPr lang="es-MX" sz="2000" i="1">
                                          <a:latin typeface="Cambria Math" panose="02040503050406030204" pitchFamily="18" charset="0"/>
                                        </a:rPr>
                                        <m:t>𝑐𝑎𝑓𝑒</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𝑝𝑎𝑛</m:t>
                                      </m:r>
                                      <m:r>
                                        <a:rPr lang="es-MX" sz="2000" i="1">
                                          <a:latin typeface="Cambria Math" panose="02040503050406030204" pitchFamily="18" charset="0"/>
                                        </a:rPr>
                                        <m:t>,</m:t>
                                      </m:r>
                                      <m:r>
                                        <a:rPr lang="es-MX" sz="2000" i="1">
                                          <a:latin typeface="Cambria Math" panose="02040503050406030204" pitchFamily="18" charset="0"/>
                                        </a:rPr>
                                        <m:t>𝑗𝑢𝑔𝑜</m:t>
                                      </m:r>
                                    </m:e>
                                  </m:d>
                                </m:e>
                              </m:eqArr>
                            </m:e>
                          </m:eqArr>
                        </m:e>
                      </m:d>
                    </m:oMath>
                  </m:oMathPara>
                </a14:m>
                <a:endParaRPr lang="es-CO" sz="2000" dirty="0"/>
              </a:p>
            </p:txBody>
          </p:sp>
        </mc:Choice>
        <mc:Fallback>
          <p:sp>
            <p:nvSpPr>
              <p:cNvPr id="12" name="CuadroTexto 11">
                <a:extLst>
                  <a:ext uri="{FF2B5EF4-FFF2-40B4-BE49-F238E27FC236}">
                    <a16:creationId xmlns:a16="http://schemas.microsoft.com/office/drawing/2014/main" id="{D2EA4E55-5117-40D1-9CC0-17D75E56571C}"/>
                  </a:ext>
                </a:extLst>
              </p:cNvPr>
              <p:cNvSpPr txBox="1">
                <a:spLocks noRot="1" noChangeAspect="1" noMove="1" noResize="1" noEditPoints="1" noAdjustHandles="1" noChangeArrowheads="1" noChangeShapeType="1" noTextEdit="1"/>
              </p:cNvSpPr>
              <p:nvPr/>
            </p:nvSpPr>
            <p:spPr>
              <a:xfrm>
                <a:off x="5403276" y="4419540"/>
                <a:ext cx="5927047" cy="982577"/>
              </a:xfrm>
              <a:prstGeom prst="rect">
                <a:avLst/>
              </a:prstGeom>
              <a:blipFill>
                <a:blip r:embed="rId5"/>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6312293B-CE21-4408-B2B5-1FBE4DD3F72D}"/>
                  </a:ext>
                </a:extLst>
              </p:cNvPr>
              <p:cNvSpPr txBox="1"/>
              <p:nvPr/>
            </p:nvSpPr>
            <p:spPr>
              <a:xfrm>
                <a:off x="7027581" y="6059302"/>
                <a:ext cx="3661809" cy="307777"/>
              </a:xfrm>
              <a:prstGeom prst="rect">
                <a:avLst/>
              </a:prstGeom>
              <a:solidFill>
                <a:schemeClr val="bg1"/>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rPr>
                          </m:ctrlPr>
                        </m:dPr>
                        <m:e>
                          <m:r>
                            <a:rPr lang="es-MX" sz="2000" b="0" i="1" smtClean="0">
                              <a:latin typeface="Cambria Math" panose="02040503050406030204" pitchFamily="18" charset="0"/>
                            </a:rPr>
                            <m:t>𝐶𝑜𝑚𝑏𝑜𝑠</m:t>
                          </m:r>
                        </m:e>
                      </m:d>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r>
                            <a:rPr lang="es-MX" sz="2000" b="0" i="1" smtClean="0">
                              <a:latin typeface="Cambria Math" panose="02040503050406030204" pitchFamily="18" charset="0"/>
                            </a:rPr>
                            <m:t>𝐴</m:t>
                          </m:r>
                        </m:e>
                      </m:d>
                      <m:d>
                        <m:dPr>
                          <m:begChr m:val="|"/>
                          <m:endChr m:val="|"/>
                          <m:ctrlPr>
                            <a:rPr lang="es-MX" sz="2000" b="0" i="1" smtClean="0">
                              <a:latin typeface="Cambria Math" panose="02040503050406030204" pitchFamily="18" charset="0"/>
                            </a:rPr>
                          </m:ctrlPr>
                        </m:dPr>
                        <m:e>
                          <m:r>
                            <a:rPr lang="es-MX" sz="2000" b="0" i="1" smtClean="0">
                              <a:latin typeface="Cambria Math" panose="02040503050406030204" pitchFamily="18" charset="0"/>
                            </a:rPr>
                            <m:t>𝐵</m:t>
                          </m:r>
                        </m:e>
                      </m:d>
                      <m:r>
                        <a:rPr lang="es-MX" sz="2000" b="0" i="1" smtClean="0">
                          <a:latin typeface="Cambria Math" panose="02040503050406030204" pitchFamily="18" charset="0"/>
                        </a:rPr>
                        <m:t>=</m:t>
                      </m:r>
                      <m:d>
                        <m:dPr>
                          <m:ctrlPr>
                            <a:rPr lang="es-MX" sz="2000" b="0" i="1" smtClean="0">
                              <a:latin typeface="Cambria Math" panose="02040503050406030204" pitchFamily="18" charset="0"/>
                            </a:rPr>
                          </m:ctrlPr>
                        </m:dPr>
                        <m:e>
                          <m:r>
                            <a:rPr lang="es-MX" sz="2000" b="0" i="1" smtClean="0">
                              <a:latin typeface="Cambria Math" panose="02040503050406030204" pitchFamily="18" charset="0"/>
                            </a:rPr>
                            <m:t>3</m:t>
                          </m:r>
                        </m:e>
                      </m:d>
                      <m:d>
                        <m:dPr>
                          <m:ctrlPr>
                            <a:rPr lang="es-MX" sz="2000" b="0" i="1" smtClean="0">
                              <a:latin typeface="Cambria Math" panose="02040503050406030204" pitchFamily="18" charset="0"/>
                            </a:rPr>
                          </m:ctrlPr>
                        </m:dPr>
                        <m:e>
                          <m:r>
                            <a:rPr lang="es-MX" sz="2000" b="0" i="1" smtClean="0">
                              <a:latin typeface="Cambria Math" panose="02040503050406030204" pitchFamily="18" charset="0"/>
                            </a:rPr>
                            <m:t>2</m:t>
                          </m:r>
                        </m:e>
                      </m:d>
                      <m:r>
                        <a:rPr lang="es-MX" sz="2000" b="0" i="1" smtClean="0">
                          <a:latin typeface="Cambria Math" panose="02040503050406030204" pitchFamily="18" charset="0"/>
                        </a:rPr>
                        <m:t>=6</m:t>
                      </m:r>
                    </m:oMath>
                  </m:oMathPara>
                </a14:m>
                <a:endParaRPr lang="es-CO" sz="2000" dirty="0"/>
              </a:p>
            </p:txBody>
          </p:sp>
        </mc:Choice>
        <mc:Fallback>
          <p:sp>
            <p:nvSpPr>
              <p:cNvPr id="15" name="CuadroTexto 14">
                <a:extLst>
                  <a:ext uri="{FF2B5EF4-FFF2-40B4-BE49-F238E27FC236}">
                    <a16:creationId xmlns:a16="http://schemas.microsoft.com/office/drawing/2014/main" id="{6312293B-CE21-4408-B2B5-1FBE4DD3F72D}"/>
                  </a:ext>
                </a:extLst>
              </p:cNvPr>
              <p:cNvSpPr txBox="1">
                <a:spLocks noRot="1" noChangeAspect="1" noMove="1" noResize="1" noEditPoints="1" noAdjustHandles="1" noChangeArrowheads="1" noChangeShapeType="1" noTextEdit="1"/>
              </p:cNvSpPr>
              <p:nvPr/>
            </p:nvSpPr>
            <p:spPr>
              <a:xfrm>
                <a:off x="7027581" y="6059302"/>
                <a:ext cx="3661809" cy="307777"/>
              </a:xfrm>
              <a:prstGeom prst="rect">
                <a:avLst/>
              </a:prstGeom>
              <a:blipFill>
                <a:blip r:embed="rId6"/>
                <a:stretch>
                  <a:fillRect r="-666" b="-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DC65C8AB-C513-4971-B50A-89F74D2BD14D}"/>
                  </a:ext>
                </a:extLst>
              </p:cNvPr>
              <p:cNvSpPr txBox="1"/>
              <p:nvPr/>
            </p:nvSpPr>
            <p:spPr>
              <a:xfrm>
                <a:off x="4157042" y="2112837"/>
                <a:ext cx="3411960"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𝑎</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𝑏</m:t>
                              </m:r>
                            </m:e>
                          </m:d>
                        </m:e>
                        <m:e>
                          <m:r>
                            <a:rPr lang="es-MX" sz="2000" i="1">
                              <a:latin typeface="Cambria Math" panose="02040503050406030204" pitchFamily="18" charset="0"/>
                              <a:ea typeface="Roboto" panose="02000000000000000000" pitchFamily="2" charset="0"/>
                            </a:rPr>
                            <m:t>𝑎</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𝑏</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e>
                      </m:d>
                    </m:oMath>
                  </m:oMathPara>
                </a14:m>
                <a:endParaRPr lang="es-CO" sz="2000" dirty="0"/>
              </a:p>
            </p:txBody>
          </p:sp>
        </mc:Choice>
        <mc:Fallback>
          <p:sp>
            <p:nvSpPr>
              <p:cNvPr id="17" name="CuadroTexto 16">
                <a:extLst>
                  <a:ext uri="{FF2B5EF4-FFF2-40B4-BE49-F238E27FC236}">
                    <a16:creationId xmlns:a16="http://schemas.microsoft.com/office/drawing/2014/main" id="{DC65C8AB-C513-4971-B50A-89F74D2BD14D}"/>
                  </a:ext>
                </a:extLst>
              </p:cNvPr>
              <p:cNvSpPr txBox="1">
                <a:spLocks noRot="1" noChangeAspect="1" noMove="1" noResize="1" noEditPoints="1" noAdjustHandles="1" noChangeArrowheads="1" noChangeShapeType="1" noTextEdit="1"/>
              </p:cNvSpPr>
              <p:nvPr/>
            </p:nvSpPr>
            <p:spPr>
              <a:xfrm>
                <a:off x="4157042" y="2112837"/>
                <a:ext cx="3411960" cy="307777"/>
              </a:xfrm>
              <a:prstGeom prst="rect">
                <a:avLst/>
              </a:prstGeom>
              <a:blipFill>
                <a:blip r:embed="rId7"/>
                <a:stretch>
                  <a:fillRect l="-1429" b="-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10AF50A3-8938-4447-8506-4C6694682503}"/>
                  </a:ext>
                </a:extLst>
              </p:cNvPr>
              <p:cNvSpPr txBox="1"/>
              <p:nvPr/>
            </p:nvSpPr>
            <p:spPr>
              <a:xfrm>
                <a:off x="2176183" y="3052782"/>
                <a:ext cx="6935745"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Cambria Math" panose="02040503050406030204" pitchFamily="18"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𝑛</m:t>
                          </m:r>
                        </m:sub>
                      </m:sSub>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𝑛</m:t>
                                  </m:r>
                                </m:sub>
                              </m:sSub>
                            </m:e>
                          </m:d>
                        </m:e>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𝑖</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𝑖</m:t>
                              </m:r>
                            </m:sub>
                          </m:sSub>
                          <m:r>
                            <a:rPr lang="es-MX" sz="2000" i="1">
                              <a:latin typeface="Cambria Math" panose="02040503050406030204" pitchFamily="18" charset="0"/>
                              <a:ea typeface="Roboto" panose="02000000000000000000" pitchFamily="2" charset="0"/>
                            </a:rPr>
                            <m:t> </m:t>
                          </m:r>
                          <m:r>
                            <m:rPr>
                              <m:sty m:val="p"/>
                            </m:rPr>
                            <a:rPr lang="es-MX" sz="2000">
                              <a:latin typeface="Cambria Math" panose="02040503050406030204" pitchFamily="18" charset="0"/>
                              <a:ea typeface="Roboto" panose="02000000000000000000" pitchFamily="2" charset="0"/>
                            </a:rPr>
                            <m:t>para</m:t>
                          </m:r>
                          <m:r>
                            <a:rPr lang="es-MX" sz="2000">
                              <a:latin typeface="Cambria Math" panose="02040503050406030204" pitchFamily="18" charset="0"/>
                              <a:ea typeface="Roboto" panose="02000000000000000000" pitchFamily="2" charset="0"/>
                            </a:rPr>
                            <m:t> </m:t>
                          </m:r>
                          <m:r>
                            <a:rPr lang="es-MX" sz="2000" i="1">
                              <a:latin typeface="Cambria Math" panose="02040503050406030204" pitchFamily="18" charset="0"/>
                              <a:ea typeface="Roboto" panose="02000000000000000000" pitchFamily="2" charset="0"/>
                            </a:rPr>
                            <m:t>𝑖</m:t>
                          </m:r>
                          <m:r>
                            <a:rPr lang="es-MX" sz="2000" i="1">
                              <a:latin typeface="Cambria Math" panose="02040503050406030204" pitchFamily="18" charset="0"/>
                              <a:ea typeface="Roboto" panose="02000000000000000000" pitchFamily="2" charset="0"/>
                            </a:rPr>
                            <m:t>=1,2,…,</m:t>
                          </m:r>
                          <m:r>
                            <a:rPr lang="es-MX" sz="2000" i="1">
                              <a:latin typeface="Cambria Math" panose="02040503050406030204" pitchFamily="18" charset="0"/>
                              <a:ea typeface="Roboto" panose="02000000000000000000" pitchFamily="2" charset="0"/>
                            </a:rPr>
                            <m:t>𝑛</m:t>
                          </m:r>
                          <m:r>
                            <a:rPr lang="es-MX" sz="2000">
                              <a:latin typeface="Cambria Math" panose="02040503050406030204" pitchFamily="18" charset="0"/>
                              <a:ea typeface="Roboto" panose="02000000000000000000" pitchFamily="2" charset="0"/>
                            </a:rPr>
                            <m:t> </m:t>
                          </m:r>
                        </m:e>
                      </m:d>
                    </m:oMath>
                  </m:oMathPara>
                </a14:m>
                <a:endParaRPr lang="es-CO" sz="2000" dirty="0"/>
              </a:p>
            </p:txBody>
          </p:sp>
        </mc:Choice>
        <mc:Fallback>
          <p:sp>
            <p:nvSpPr>
              <p:cNvPr id="18" name="CuadroTexto 17">
                <a:extLst>
                  <a:ext uri="{FF2B5EF4-FFF2-40B4-BE49-F238E27FC236}">
                    <a16:creationId xmlns:a16="http://schemas.microsoft.com/office/drawing/2014/main" id="{10AF50A3-8938-4447-8506-4C6694682503}"/>
                  </a:ext>
                </a:extLst>
              </p:cNvPr>
              <p:cNvSpPr txBox="1">
                <a:spLocks noRot="1" noChangeAspect="1" noMove="1" noResize="1" noEditPoints="1" noAdjustHandles="1" noChangeArrowheads="1" noChangeShapeType="1" noTextEdit="1"/>
              </p:cNvSpPr>
              <p:nvPr/>
            </p:nvSpPr>
            <p:spPr>
              <a:xfrm>
                <a:off x="2176183" y="3052782"/>
                <a:ext cx="6935745" cy="307777"/>
              </a:xfrm>
              <a:prstGeom prst="rect">
                <a:avLst/>
              </a:prstGeom>
              <a:blipFill>
                <a:blip r:embed="rId8"/>
                <a:stretch>
                  <a:fillRect l="-439" b="-26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E9C13FC9-9343-4570-B1F8-8ACA3D8B6A9E}"/>
                  </a:ext>
                </a:extLst>
              </p:cNvPr>
              <p:cNvSpPr txBox="1"/>
              <p:nvPr/>
            </p:nvSpPr>
            <p:spPr>
              <a:xfrm>
                <a:off x="4952688" y="2576065"/>
                <a:ext cx="1952329" cy="276999"/>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1800" b="0" i="1" smtClean="0">
                              <a:latin typeface="Cambria Math" panose="02040503050406030204" pitchFamily="18" charset="0"/>
                              <a:ea typeface="Roboto" panose="02000000000000000000" pitchFamily="2" charset="0"/>
                            </a:rPr>
                          </m:ctrlPr>
                        </m:dPr>
                        <m:e>
                          <m:r>
                            <a:rPr lang="es-MX" sz="1800" i="1">
                              <a:latin typeface="Cambria Math" panose="02040503050406030204" pitchFamily="18" charset="0"/>
                              <a:ea typeface="Roboto" panose="02000000000000000000" pitchFamily="2" charset="0"/>
                            </a:rPr>
                            <m:t>𝐴</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Roboto" panose="02000000000000000000" pitchFamily="2" charset="0"/>
                            </a:rPr>
                            <m:t>𝐵</m:t>
                          </m:r>
                        </m:e>
                      </m:d>
                      <m:r>
                        <a:rPr lang="es-MX" sz="1800" i="1">
                          <a:latin typeface="Cambria Math" panose="02040503050406030204" pitchFamily="18" charset="0"/>
                          <a:ea typeface="Roboto" panose="02000000000000000000" pitchFamily="2"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𝐴</m:t>
                          </m:r>
                        </m:e>
                      </m:d>
                      <m:r>
                        <a:rPr lang="es-MX" sz="1800" b="0" i="1" smtClean="0">
                          <a:latin typeface="Cambria Math" panose="02040503050406030204" pitchFamily="18" charset="0"/>
                          <a:ea typeface="Roboto" panose="02000000000000000000" pitchFamily="2"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𝐵</m:t>
                          </m:r>
                        </m:e>
                      </m:d>
                    </m:oMath>
                  </m:oMathPara>
                </a14:m>
                <a:endParaRPr lang="es-CO" sz="1800" dirty="0"/>
              </a:p>
            </p:txBody>
          </p:sp>
        </mc:Choice>
        <mc:Fallback>
          <p:sp>
            <p:nvSpPr>
              <p:cNvPr id="19" name="CuadroTexto 18">
                <a:extLst>
                  <a:ext uri="{FF2B5EF4-FFF2-40B4-BE49-F238E27FC236}">
                    <a16:creationId xmlns:a16="http://schemas.microsoft.com/office/drawing/2014/main" id="{E9C13FC9-9343-4570-B1F8-8ACA3D8B6A9E}"/>
                  </a:ext>
                </a:extLst>
              </p:cNvPr>
              <p:cNvSpPr txBox="1">
                <a:spLocks noRot="1" noChangeAspect="1" noMove="1" noResize="1" noEditPoints="1" noAdjustHandles="1" noChangeArrowheads="1" noChangeShapeType="1" noTextEdit="1"/>
              </p:cNvSpPr>
              <p:nvPr/>
            </p:nvSpPr>
            <p:spPr>
              <a:xfrm>
                <a:off x="4952688" y="2576065"/>
                <a:ext cx="1952329" cy="276999"/>
              </a:xfrm>
              <a:prstGeom prst="rect">
                <a:avLst/>
              </a:prstGeom>
              <a:blipFill>
                <a:blip r:embed="rId9"/>
                <a:stretch>
                  <a:fillRect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80548C38-86B3-4FC6-B4E1-92BAEE6A2D62}"/>
                  </a:ext>
                </a:extLst>
              </p:cNvPr>
              <p:cNvSpPr txBox="1"/>
              <p:nvPr/>
            </p:nvSpPr>
            <p:spPr>
              <a:xfrm>
                <a:off x="4269984" y="3579562"/>
                <a:ext cx="3623684"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Cambria Math" panose="02040503050406030204" pitchFamily="18"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𝑛</m:t>
                              </m:r>
                            </m:sub>
                          </m:sSub>
                        </m:e>
                      </m:d>
                      <m:r>
                        <a:rPr lang="es-MX" sz="2000" i="1">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𝐴</m:t>
                              </m:r>
                            </m:e>
                            <m:sub>
                              <m:r>
                                <a:rPr lang="es-MX" sz="2000" b="0" i="1" smtClean="0">
                                  <a:latin typeface="Cambria Math" panose="02040503050406030204" pitchFamily="18" charset="0"/>
                                  <a:ea typeface="Roboto" panose="02000000000000000000" pitchFamily="2" charset="0"/>
                                </a:rPr>
                                <m:t>1</m:t>
                              </m:r>
                            </m:sub>
                          </m:sSub>
                        </m:e>
                      </m:d>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b="0" i="1" smtClean="0">
                                  <a:latin typeface="Cambria Math" panose="02040503050406030204" pitchFamily="18" charset="0"/>
                                  <a:ea typeface="Roboto" panose="02000000000000000000" pitchFamily="2" charset="0"/>
                                </a:rPr>
                                <m:t>𝑛</m:t>
                              </m:r>
                            </m:sub>
                          </m:sSub>
                        </m:e>
                      </m:d>
                    </m:oMath>
                  </m:oMathPara>
                </a14:m>
                <a:endParaRPr lang="es-CO" sz="2000" dirty="0"/>
              </a:p>
            </p:txBody>
          </p:sp>
        </mc:Choice>
        <mc:Fallback>
          <p:sp>
            <p:nvSpPr>
              <p:cNvPr id="21" name="CuadroTexto 20">
                <a:extLst>
                  <a:ext uri="{FF2B5EF4-FFF2-40B4-BE49-F238E27FC236}">
                    <a16:creationId xmlns:a16="http://schemas.microsoft.com/office/drawing/2014/main" id="{80548C38-86B3-4FC6-B4E1-92BAEE6A2D62}"/>
                  </a:ext>
                </a:extLst>
              </p:cNvPr>
              <p:cNvSpPr txBox="1">
                <a:spLocks noRot="1" noChangeAspect="1" noMove="1" noResize="1" noEditPoints="1" noAdjustHandles="1" noChangeArrowheads="1" noChangeShapeType="1" noTextEdit="1"/>
              </p:cNvSpPr>
              <p:nvPr/>
            </p:nvSpPr>
            <p:spPr>
              <a:xfrm>
                <a:off x="4269984" y="3579562"/>
                <a:ext cx="3623684" cy="307777"/>
              </a:xfrm>
              <a:prstGeom prst="rect">
                <a:avLst/>
              </a:prstGeom>
              <a:blipFill>
                <a:blip r:embed="rId10"/>
                <a:stretch>
                  <a:fillRect b="-13725"/>
                </a:stretch>
              </a:blipFill>
            </p:spPr>
            <p:txBody>
              <a:bodyPr/>
              <a:lstStyle/>
              <a:p>
                <a:r>
                  <a:rPr lang="es-CO">
                    <a:noFill/>
                  </a:rPr>
                  <a:t> </a:t>
                </a:r>
              </a:p>
            </p:txBody>
          </p:sp>
        </mc:Fallback>
      </mc:AlternateContent>
    </p:spTree>
    <p:extLst>
      <p:ext uri="{BB962C8B-B14F-4D97-AF65-F5344CB8AC3E}">
        <p14:creationId xmlns:p14="http://schemas.microsoft.com/office/powerpoint/2010/main" val="159956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353962" y="96038"/>
            <a:ext cx="886668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353962" y="798698"/>
            <a:ext cx="11149782" cy="492443"/>
          </a:xfrm>
          <a:prstGeom prst="rect">
            <a:avLst/>
          </a:prstGeom>
          <a:noFill/>
        </p:spPr>
        <p:txBody>
          <a:bodyPr wrap="square" rtlCol="0">
            <a:spAutoFit/>
          </a:bodyPr>
          <a:lstStyle/>
          <a:p>
            <a:r>
              <a:rPr lang="es-MX" sz="2600" b="1" dirty="0">
                <a:ea typeface="Roboto" panose="02000000000000000000" pitchFamily="2" charset="0"/>
              </a:rPr>
              <a:t>Producto cartesiano: Fabrica para crear tuplas</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206478" y="1231181"/>
                <a:ext cx="11750696" cy="76262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Conjunto de todas las posibles parejas </a:t>
                </a:r>
                <a14:m>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oMath>
                </a14:m>
                <a:r>
                  <a:rPr lang="es-MX" sz="2000" dirty="0">
                    <a:latin typeface="+mn-lt"/>
                    <a:ea typeface="Roboto" panose="02000000000000000000" pitchFamily="2" charset="0"/>
                  </a:rPr>
                  <a:t> donde </a:t>
                </a:r>
                <a14:m>
                  <m:oMath xmlns:m="http://schemas.openxmlformats.org/officeDocument/2006/math">
                    <m:r>
                      <a:rPr lang="es-MX" sz="2000" i="1">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𝑏</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lo cual se denota formalmente (de diferentes maneras como) como:</a:t>
                </a: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206478" y="1231181"/>
                <a:ext cx="11750696" cy="762620"/>
              </a:xfrm>
              <a:prstGeom prst="rect">
                <a:avLst/>
              </a:prstGeom>
              <a:blipFill>
                <a:blip r:embed="rId3"/>
                <a:stretch>
                  <a:fillRect b="-15200"/>
                </a:stretch>
              </a:blipFill>
              <a:ln>
                <a:no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B8F5FCA4-1DFD-42B3-B9D8-D7BBAA8AB17A}"/>
                  </a:ext>
                </a:extLst>
              </p:cNvPr>
              <p:cNvSpPr txBox="1"/>
              <p:nvPr/>
            </p:nvSpPr>
            <p:spPr>
              <a:xfrm>
                <a:off x="4157042" y="2112837"/>
                <a:ext cx="3411960"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𝑎</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𝑏</m:t>
                              </m:r>
                            </m:e>
                          </m:d>
                        </m:e>
                        <m:e>
                          <m:r>
                            <a:rPr lang="es-MX" sz="2000" i="1">
                              <a:latin typeface="Cambria Math" panose="02040503050406030204" pitchFamily="18" charset="0"/>
                              <a:ea typeface="Roboto" panose="02000000000000000000" pitchFamily="2" charset="0"/>
                            </a:rPr>
                            <m:t>𝑎</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𝑏</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e>
                      </m:d>
                    </m:oMath>
                  </m:oMathPara>
                </a14:m>
                <a:endParaRPr lang="es-CO" sz="2000" dirty="0"/>
              </a:p>
            </p:txBody>
          </p:sp>
        </mc:Choice>
        <mc:Fallback>
          <p:sp>
            <p:nvSpPr>
              <p:cNvPr id="2" name="CuadroTexto 1">
                <a:extLst>
                  <a:ext uri="{FF2B5EF4-FFF2-40B4-BE49-F238E27FC236}">
                    <a16:creationId xmlns:a16="http://schemas.microsoft.com/office/drawing/2014/main" id="{B8F5FCA4-1DFD-42B3-B9D8-D7BBAA8AB17A}"/>
                  </a:ext>
                </a:extLst>
              </p:cNvPr>
              <p:cNvSpPr txBox="1">
                <a:spLocks noRot="1" noChangeAspect="1" noMove="1" noResize="1" noEditPoints="1" noAdjustHandles="1" noChangeArrowheads="1" noChangeShapeType="1" noTextEdit="1"/>
              </p:cNvSpPr>
              <p:nvPr/>
            </p:nvSpPr>
            <p:spPr>
              <a:xfrm>
                <a:off x="4157042" y="2112837"/>
                <a:ext cx="3411960" cy="307777"/>
              </a:xfrm>
              <a:prstGeom prst="rect">
                <a:avLst/>
              </a:prstGeom>
              <a:blipFill>
                <a:blip r:embed="rId4"/>
                <a:stretch>
                  <a:fillRect l="-1429" b="-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 name="CuadroTexto 5">
                <a:extLst>
                  <a:ext uri="{FF2B5EF4-FFF2-40B4-BE49-F238E27FC236}">
                    <a16:creationId xmlns:a16="http://schemas.microsoft.com/office/drawing/2014/main" id="{4AFE49C3-3B00-49EA-8025-C63CC301D83B}"/>
                  </a:ext>
                </a:extLst>
              </p:cNvPr>
              <p:cNvSpPr txBox="1"/>
              <p:nvPr/>
            </p:nvSpPr>
            <p:spPr>
              <a:xfrm>
                <a:off x="2176183" y="3052782"/>
                <a:ext cx="6935745"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Cambria Math" panose="02040503050406030204" pitchFamily="18"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𝑛</m:t>
                          </m:r>
                        </m:sub>
                      </m:sSub>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2</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𝑛</m:t>
                                  </m:r>
                                </m:sub>
                              </m:sSub>
                            </m:e>
                          </m:d>
                        </m:e>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𝑎</m:t>
                              </m:r>
                            </m:e>
                            <m:sub>
                              <m:r>
                                <a:rPr lang="es-MX" sz="2000" i="1">
                                  <a:latin typeface="Cambria Math" panose="02040503050406030204" pitchFamily="18" charset="0"/>
                                  <a:ea typeface="Roboto" panose="02000000000000000000" pitchFamily="2" charset="0"/>
                                </a:rPr>
                                <m:t>𝑖</m:t>
                              </m:r>
                            </m:sub>
                          </m:sSub>
                          <m:r>
                            <a:rPr lang="es-MX" sz="2000" i="1">
                              <a:latin typeface="Cambria Math" panose="02040503050406030204" pitchFamily="18" charset="0"/>
                              <a:ea typeface="Roboto" panose="02000000000000000000" pitchFamily="2" charset="0"/>
                            </a:rPr>
                            <m:t>∈</m:t>
                          </m:r>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𝑖</m:t>
                              </m:r>
                            </m:sub>
                          </m:sSub>
                          <m:r>
                            <a:rPr lang="es-MX" sz="2000" i="1">
                              <a:latin typeface="Cambria Math" panose="02040503050406030204" pitchFamily="18" charset="0"/>
                              <a:ea typeface="Roboto" panose="02000000000000000000" pitchFamily="2" charset="0"/>
                            </a:rPr>
                            <m:t> </m:t>
                          </m:r>
                          <m:r>
                            <m:rPr>
                              <m:sty m:val="p"/>
                            </m:rPr>
                            <a:rPr lang="es-MX" sz="2000">
                              <a:latin typeface="Cambria Math" panose="02040503050406030204" pitchFamily="18" charset="0"/>
                              <a:ea typeface="Roboto" panose="02000000000000000000" pitchFamily="2" charset="0"/>
                            </a:rPr>
                            <m:t>para</m:t>
                          </m:r>
                          <m:r>
                            <a:rPr lang="es-MX" sz="2000">
                              <a:latin typeface="Cambria Math" panose="02040503050406030204" pitchFamily="18" charset="0"/>
                              <a:ea typeface="Roboto" panose="02000000000000000000" pitchFamily="2" charset="0"/>
                            </a:rPr>
                            <m:t> </m:t>
                          </m:r>
                          <m:r>
                            <a:rPr lang="es-MX" sz="2000" i="1">
                              <a:latin typeface="Cambria Math" panose="02040503050406030204" pitchFamily="18" charset="0"/>
                              <a:ea typeface="Roboto" panose="02000000000000000000" pitchFamily="2" charset="0"/>
                            </a:rPr>
                            <m:t>𝑖</m:t>
                          </m:r>
                          <m:r>
                            <a:rPr lang="es-MX" sz="2000" i="1">
                              <a:latin typeface="Cambria Math" panose="02040503050406030204" pitchFamily="18" charset="0"/>
                              <a:ea typeface="Roboto" panose="02000000000000000000" pitchFamily="2" charset="0"/>
                            </a:rPr>
                            <m:t>=1,2,…,</m:t>
                          </m:r>
                          <m:r>
                            <a:rPr lang="es-MX" sz="2000" i="1">
                              <a:latin typeface="Cambria Math" panose="02040503050406030204" pitchFamily="18" charset="0"/>
                              <a:ea typeface="Roboto" panose="02000000000000000000" pitchFamily="2" charset="0"/>
                            </a:rPr>
                            <m:t>𝑛</m:t>
                          </m:r>
                          <m:r>
                            <a:rPr lang="es-MX" sz="2000">
                              <a:latin typeface="Cambria Math" panose="02040503050406030204" pitchFamily="18" charset="0"/>
                              <a:ea typeface="Roboto" panose="02000000000000000000" pitchFamily="2" charset="0"/>
                            </a:rPr>
                            <m:t> </m:t>
                          </m:r>
                        </m:e>
                      </m:d>
                    </m:oMath>
                  </m:oMathPara>
                </a14:m>
                <a:endParaRPr lang="es-CO" sz="2000" dirty="0"/>
              </a:p>
            </p:txBody>
          </p:sp>
        </mc:Choice>
        <mc:Fallback>
          <p:sp>
            <p:nvSpPr>
              <p:cNvPr id="6" name="CuadroTexto 5">
                <a:extLst>
                  <a:ext uri="{FF2B5EF4-FFF2-40B4-BE49-F238E27FC236}">
                    <a16:creationId xmlns:a16="http://schemas.microsoft.com/office/drawing/2014/main" id="{4AFE49C3-3B00-49EA-8025-C63CC301D83B}"/>
                  </a:ext>
                </a:extLst>
              </p:cNvPr>
              <p:cNvSpPr txBox="1">
                <a:spLocks noRot="1" noChangeAspect="1" noMove="1" noResize="1" noEditPoints="1" noAdjustHandles="1" noChangeArrowheads="1" noChangeShapeType="1" noTextEdit="1"/>
              </p:cNvSpPr>
              <p:nvPr/>
            </p:nvSpPr>
            <p:spPr>
              <a:xfrm>
                <a:off x="2176183" y="3052782"/>
                <a:ext cx="6935745" cy="307777"/>
              </a:xfrm>
              <a:prstGeom prst="rect">
                <a:avLst/>
              </a:prstGeom>
              <a:blipFill>
                <a:blip r:embed="rId5"/>
                <a:stretch>
                  <a:fillRect l="-439" b="-26000"/>
                </a:stretch>
              </a:blipFill>
            </p:spPr>
            <p:txBody>
              <a:bodyPr/>
              <a:lstStyle/>
              <a:p>
                <a:r>
                  <a:rPr lang="es-CO">
                    <a:noFill/>
                  </a:rPr>
                  <a:t> </a:t>
                </a:r>
              </a:p>
            </p:txBody>
          </p:sp>
        </mc:Fallback>
      </mc:AlternateContent>
      <p:pic>
        <p:nvPicPr>
          <p:cNvPr id="10" name="Imagen 9">
            <a:extLst>
              <a:ext uri="{FF2B5EF4-FFF2-40B4-BE49-F238E27FC236}">
                <a16:creationId xmlns:a16="http://schemas.microsoft.com/office/drawing/2014/main" id="{3A13ED0C-B348-4F0F-B6E9-D45B5F39A42F}"/>
              </a:ext>
            </a:extLst>
          </p:cNvPr>
          <p:cNvPicPr>
            <a:picLocks noChangeAspect="1"/>
          </p:cNvPicPr>
          <p:nvPr/>
        </p:nvPicPr>
        <p:blipFill>
          <a:blip r:embed="rId6"/>
          <a:stretch>
            <a:fillRect/>
          </a:stretch>
        </p:blipFill>
        <p:spPr>
          <a:xfrm>
            <a:off x="747526" y="3992727"/>
            <a:ext cx="2449713" cy="2631922"/>
          </a:xfrm>
          <a:prstGeom prst="rect">
            <a:avLst/>
          </a:prstGeom>
        </p:spPr>
      </p:pic>
      <mc:AlternateContent xmlns:mc="http://schemas.openxmlformats.org/markup-compatibility/2006">
        <mc:Choice xmlns:a14="http://schemas.microsoft.com/office/drawing/2010/main" Requires="a14">
          <p:sp>
            <p:nvSpPr>
              <p:cNvPr id="11" name="CuadroTexto 10">
                <a:extLst>
                  <a:ext uri="{FF2B5EF4-FFF2-40B4-BE49-F238E27FC236}">
                    <a16:creationId xmlns:a16="http://schemas.microsoft.com/office/drawing/2014/main" id="{1196AED3-FBB1-4599-A55B-BBFD82375590}"/>
                  </a:ext>
                </a:extLst>
              </p:cNvPr>
              <p:cNvSpPr txBox="1"/>
              <p:nvPr/>
            </p:nvSpPr>
            <p:spPr>
              <a:xfrm>
                <a:off x="3545581" y="4466654"/>
                <a:ext cx="8411593" cy="4001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𝑃𝑜𝑠𝑖𝑠𝑖𝑜𝑛𝑒𝑠</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𝑎</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𝑏</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𝑐</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𝑑</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𝑒</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𝑓</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𝑔</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h</m:t>
                          </m:r>
                        </m:e>
                      </m:d>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1,2,3,4,5,6,7,8</m:t>
                          </m:r>
                        </m:e>
                      </m:d>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,1</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h</m:t>
                              </m:r>
                              <m:r>
                                <a:rPr lang="es-MX" sz="2000" b="0" i="1" smtClean="0">
                                  <a:solidFill>
                                    <a:schemeClr val="tx1"/>
                                  </a:solidFill>
                                  <a:latin typeface="Cambria Math" panose="02040503050406030204" pitchFamily="18" charset="0"/>
                                  <a:ea typeface="Roboto" panose="02000000000000000000" pitchFamily="2" charset="0"/>
                                </a:rPr>
                                <m:t>,8</m:t>
                              </m:r>
                            </m:e>
                          </m:d>
                        </m:e>
                      </m:d>
                      <m:r>
                        <a:rPr lang="es-MX" sz="2000" b="0" i="1" smtClean="0">
                          <a:solidFill>
                            <a:schemeClr val="tx1"/>
                          </a:solidFill>
                          <a:latin typeface="Cambria Math" panose="02040503050406030204" pitchFamily="18" charset="0"/>
                          <a:ea typeface="Roboto" panose="02000000000000000000" pitchFamily="2" charset="0"/>
                        </a:rPr>
                        <m:t> </m:t>
                      </m:r>
                    </m:oMath>
                  </m:oMathPara>
                </a14:m>
                <a:endParaRPr lang="es-MX" sz="2000" b="0" i="1" dirty="0">
                  <a:solidFill>
                    <a:schemeClr val="tx1"/>
                  </a:solidFill>
                  <a:latin typeface="Cambria Math" panose="02040503050406030204" pitchFamily="18" charset="0"/>
                  <a:ea typeface="Roboto" panose="02000000000000000000" pitchFamily="2" charset="0"/>
                </a:endParaRPr>
              </a:p>
            </p:txBody>
          </p:sp>
        </mc:Choice>
        <mc:Fallback>
          <p:sp>
            <p:nvSpPr>
              <p:cNvPr id="11" name="CuadroTexto 10">
                <a:extLst>
                  <a:ext uri="{FF2B5EF4-FFF2-40B4-BE49-F238E27FC236}">
                    <a16:creationId xmlns:a16="http://schemas.microsoft.com/office/drawing/2014/main" id="{1196AED3-FBB1-4599-A55B-BBFD82375590}"/>
                  </a:ext>
                </a:extLst>
              </p:cNvPr>
              <p:cNvSpPr txBox="1">
                <a:spLocks noRot="1" noChangeAspect="1" noMove="1" noResize="1" noEditPoints="1" noAdjustHandles="1" noChangeArrowheads="1" noChangeShapeType="1" noTextEdit="1"/>
              </p:cNvSpPr>
              <p:nvPr/>
            </p:nvSpPr>
            <p:spPr>
              <a:xfrm>
                <a:off x="3545581" y="4466654"/>
                <a:ext cx="8411593" cy="400110"/>
              </a:xfrm>
              <a:prstGeom prst="rect">
                <a:avLst/>
              </a:prstGeom>
              <a:blipFill>
                <a:blip r:embed="rId7"/>
                <a:stretch>
                  <a:fillRect b="-1846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68CB4EC0-EF21-4D0D-979B-672649443B87}"/>
                  </a:ext>
                </a:extLst>
              </p:cNvPr>
              <p:cNvSpPr txBox="1"/>
              <p:nvPr/>
            </p:nvSpPr>
            <p:spPr>
              <a:xfrm>
                <a:off x="4952688" y="2576065"/>
                <a:ext cx="1952329" cy="276999"/>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1800" b="0" i="1" smtClean="0">
                              <a:latin typeface="Cambria Math" panose="02040503050406030204" pitchFamily="18" charset="0"/>
                              <a:ea typeface="Roboto" panose="02000000000000000000" pitchFamily="2" charset="0"/>
                            </a:rPr>
                          </m:ctrlPr>
                        </m:dPr>
                        <m:e>
                          <m:r>
                            <a:rPr lang="es-MX" sz="1800" i="1">
                              <a:latin typeface="Cambria Math" panose="02040503050406030204" pitchFamily="18" charset="0"/>
                              <a:ea typeface="Roboto" panose="02000000000000000000" pitchFamily="2" charset="0"/>
                            </a:rPr>
                            <m:t>𝐴</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Roboto" panose="02000000000000000000" pitchFamily="2" charset="0"/>
                            </a:rPr>
                            <m:t>𝐵</m:t>
                          </m:r>
                        </m:e>
                      </m:d>
                      <m:r>
                        <a:rPr lang="es-MX" sz="1800" i="1">
                          <a:latin typeface="Cambria Math" panose="02040503050406030204" pitchFamily="18" charset="0"/>
                          <a:ea typeface="Roboto" panose="02000000000000000000" pitchFamily="2"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𝐴</m:t>
                          </m:r>
                        </m:e>
                      </m:d>
                      <m:r>
                        <a:rPr lang="es-MX" sz="1800" b="0" i="1" smtClean="0">
                          <a:latin typeface="Cambria Math" panose="02040503050406030204" pitchFamily="18" charset="0"/>
                          <a:ea typeface="Roboto" panose="02000000000000000000" pitchFamily="2"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𝐵</m:t>
                          </m:r>
                        </m:e>
                      </m:d>
                    </m:oMath>
                  </m:oMathPara>
                </a14:m>
                <a:endParaRPr lang="es-CO" sz="1800" dirty="0"/>
              </a:p>
            </p:txBody>
          </p:sp>
        </mc:Choice>
        <mc:Fallback>
          <p:sp>
            <p:nvSpPr>
              <p:cNvPr id="13" name="CuadroTexto 12">
                <a:extLst>
                  <a:ext uri="{FF2B5EF4-FFF2-40B4-BE49-F238E27FC236}">
                    <a16:creationId xmlns:a16="http://schemas.microsoft.com/office/drawing/2014/main" id="{68CB4EC0-EF21-4D0D-979B-672649443B87}"/>
                  </a:ext>
                </a:extLst>
              </p:cNvPr>
              <p:cNvSpPr txBox="1">
                <a:spLocks noRot="1" noChangeAspect="1" noMove="1" noResize="1" noEditPoints="1" noAdjustHandles="1" noChangeArrowheads="1" noChangeShapeType="1" noTextEdit="1"/>
              </p:cNvSpPr>
              <p:nvPr/>
            </p:nvSpPr>
            <p:spPr>
              <a:xfrm>
                <a:off x="4952688" y="2576065"/>
                <a:ext cx="1952329" cy="276999"/>
              </a:xfrm>
              <a:prstGeom prst="rect">
                <a:avLst/>
              </a:prstGeom>
              <a:blipFill>
                <a:blip r:embed="rId8"/>
                <a:stretch>
                  <a:fillRect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7E3846B2-8949-4F6C-A036-0E7A1B062B4D}"/>
                  </a:ext>
                </a:extLst>
              </p:cNvPr>
              <p:cNvSpPr txBox="1"/>
              <p:nvPr/>
            </p:nvSpPr>
            <p:spPr>
              <a:xfrm>
                <a:off x="4269984" y="3579562"/>
                <a:ext cx="3623684" cy="307777"/>
              </a:xfrm>
              <a:prstGeom prst="rect">
                <a:avLst/>
              </a:prstGeom>
              <a:solidFill>
                <a:schemeClr val="bg2"/>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1</m:t>
                              </m:r>
                            </m:sub>
                          </m:sSub>
                          <m:r>
                            <a:rPr lang="es-MX" sz="2000" i="1">
                              <a:latin typeface="Cambria Math" panose="02040503050406030204" pitchFamily="18" charset="0"/>
                              <a:ea typeface="Cambria Math" panose="02040503050406030204" pitchFamily="18" charset="0"/>
                            </a:rPr>
                            <m:t>×…×</m:t>
                          </m:r>
                          <m:sSub>
                            <m:sSubPr>
                              <m:ctrlPr>
                                <a:rPr lang="es-MX" sz="2000" i="1">
                                  <a:latin typeface="Cambria Math" panose="02040503050406030204" pitchFamily="18" charset="0"/>
                                  <a:ea typeface="Cambria Math" panose="02040503050406030204" pitchFamily="18" charset="0"/>
                                </a:rPr>
                              </m:ctrlPr>
                            </m:sSubPr>
                            <m:e>
                              <m:r>
                                <a:rPr lang="es-MX" sz="2000" i="1">
                                  <a:latin typeface="Cambria Math" panose="02040503050406030204" pitchFamily="18" charset="0"/>
                                  <a:ea typeface="Roboto" panose="02000000000000000000" pitchFamily="2" charset="0"/>
                                </a:rPr>
                                <m:t>𝐴</m:t>
                              </m:r>
                            </m:e>
                            <m:sub>
                              <m:r>
                                <a:rPr lang="es-MX" sz="2000" i="1">
                                  <a:latin typeface="Cambria Math" panose="02040503050406030204" pitchFamily="18" charset="0"/>
                                  <a:ea typeface="Roboto" panose="02000000000000000000" pitchFamily="2" charset="0"/>
                                </a:rPr>
                                <m:t>𝑛</m:t>
                              </m:r>
                            </m:sub>
                          </m:sSub>
                        </m:e>
                      </m:d>
                      <m:r>
                        <a:rPr lang="es-MX" sz="2000" i="1">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𝐴</m:t>
                              </m:r>
                            </m:e>
                            <m:sub>
                              <m:r>
                                <a:rPr lang="es-MX" sz="2000" b="0" i="1" smtClean="0">
                                  <a:latin typeface="Cambria Math" panose="02040503050406030204" pitchFamily="18" charset="0"/>
                                  <a:ea typeface="Roboto" panose="02000000000000000000" pitchFamily="2" charset="0"/>
                                </a:rPr>
                                <m:t>1</m:t>
                              </m:r>
                            </m:sub>
                          </m:sSub>
                        </m:e>
                      </m:d>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sSub>
                            <m:sSubPr>
                              <m:ctrlPr>
                                <a:rPr lang="es-MX" sz="2000" i="1">
                                  <a:latin typeface="Cambria Math" panose="02040503050406030204" pitchFamily="18" charset="0"/>
                                  <a:ea typeface="Roboto" panose="02000000000000000000" pitchFamily="2" charset="0"/>
                                </a:rPr>
                              </m:ctrlPr>
                            </m:sSubPr>
                            <m:e>
                              <m:r>
                                <a:rPr lang="es-MX" sz="2000" i="1">
                                  <a:latin typeface="Cambria Math" panose="02040503050406030204" pitchFamily="18" charset="0"/>
                                  <a:ea typeface="Roboto" panose="02000000000000000000" pitchFamily="2" charset="0"/>
                                </a:rPr>
                                <m:t>𝐴</m:t>
                              </m:r>
                            </m:e>
                            <m:sub>
                              <m:r>
                                <a:rPr lang="es-MX" sz="2000" b="0" i="1" smtClean="0">
                                  <a:latin typeface="Cambria Math" panose="02040503050406030204" pitchFamily="18" charset="0"/>
                                  <a:ea typeface="Roboto" panose="02000000000000000000" pitchFamily="2" charset="0"/>
                                </a:rPr>
                                <m:t>𝑛</m:t>
                              </m:r>
                            </m:sub>
                          </m:sSub>
                        </m:e>
                      </m:d>
                    </m:oMath>
                  </m:oMathPara>
                </a14:m>
                <a:endParaRPr lang="es-CO" sz="2000" dirty="0"/>
              </a:p>
            </p:txBody>
          </p:sp>
        </mc:Choice>
        <mc:Fallback>
          <p:sp>
            <p:nvSpPr>
              <p:cNvPr id="14" name="CuadroTexto 13">
                <a:extLst>
                  <a:ext uri="{FF2B5EF4-FFF2-40B4-BE49-F238E27FC236}">
                    <a16:creationId xmlns:a16="http://schemas.microsoft.com/office/drawing/2014/main" id="{7E3846B2-8949-4F6C-A036-0E7A1B062B4D}"/>
                  </a:ext>
                </a:extLst>
              </p:cNvPr>
              <p:cNvSpPr txBox="1">
                <a:spLocks noRot="1" noChangeAspect="1" noMove="1" noResize="1" noEditPoints="1" noAdjustHandles="1" noChangeArrowheads="1" noChangeShapeType="1" noTextEdit="1"/>
              </p:cNvSpPr>
              <p:nvPr/>
            </p:nvSpPr>
            <p:spPr>
              <a:xfrm>
                <a:off x="4269984" y="3579562"/>
                <a:ext cx="3623684" cy="307777"/>
              </a:xfrm>
              <a:prstGeom prst="rect">
                <a:avLst/>
              </a:prstGeom>
              <a:blipFill>
                <a:blip r:embed="rId9"/>
                <a:stretch>
                  <a:fillRect b="-1372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771B55B0-4147-4864-A44C-0A85B112D48B}"/>
                  </a:ext>
                </a:extLst>
              </p:cNvPr>
              <p:cNvSpPr txBox="1"/>
              <p:nvPr/>
            </p:nvSpPr>
            <p:spPr>
              <a:xfrm>
                <a:off x="3672114" y="5241692"/>
                <a:ext cx="8157029" cy="4001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𝑃𝑜𝑠𝑖𝑠𝑖𝑜𝑛𝑒𝑠</m:t>
                          </m:r>
                        </m:e>
                      </m:d>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𝑎</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𝑏</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𝑐</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𝑑</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𝑒</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𝑓</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𝑔</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h</m:t>
                              </m:r>
                            </m:e>
                          </m:d>
                        </m:e>
                      </m:d>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1,2,3,4,5,6,7,8</m:t>
                              </m:r>
                            </m:e>
                          </m:d>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8</m:t>
                          </m:r>
                        </m:e>
                      </m:d>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8</m:t>
                          </m:r>
                        </m:e>
                      </m:d>
                      <m:r>
                        <a:rPr lang="es-MX" sz="2000" b="0" i="1" smtClean="0">
                          <a:solidFill>
                            <a:schemeClr val="tx1"/>
                          </a:solidFill>
                          <a:latin typeface="Cambria Math" panose="02040503050406030204" pitchFamily="18" charset="0"/>
                          <a:ea typeface="Roboto" panose="02000000000000000000" pitchFamily="2" charset="0"/>
                        </a:rPr>
                        <m:t>=64 </m:t>
                      </m:r>
                    </m:oMath>
                  </m:oMathPara>
                </a14:m>
                <a:endParaRPr lang="es-MX" sz="2000" b="0" i="1" dirty="0">
                  <a:solidFill>
                    <a:schemeClr val="tx1"/>
                  </a:solidFill>
                  <a:latin typeface="Cambria Math" panose="02040503050406030204" pitchFamily="18" charset="0"/>
                  <a:ea typeface="Roboto" panose="02000000000000000000" pitchFamily="2" charset="0"/>
                </a:endParaRPr>
              </a:p>
            </p:txBody>
          </p:sp>
        </mc:Choice>
        <mc:Fallback>
          <p:sp>
            <p:nvSpPr>
              <p:cNvPr id="16" name="CuadroTexto 15">
                <a:extLst>
                  <a:ext uri="{FF2B5EF4-FFF2-40B4-BE49-F238E27FC236}">
                    <a16:creationId xmlns:a16="http://schemas.microsoft.com/office/drawing/2014/main" id="{771B55B0-4147-4864-A44C-0A85B112D48B}"/>
                  </a:ext>
                </a:extLst>
              </p:cNvPr>
              <p:cNvSpPr txBox="1">
                <a:spLocks noRot="1" noChangeAspect="1" noMove="1" noResize="1" noEditPoints="1" noAdjustHandles="1" noChangeArrowheads="1" noChangeShapeType="1" noTextEdit="1"/>
              </p:cNvSpPr>
              <p:nvPr/>
            </p:nvSpPr>
            <p:spPr>
              <a:xfrm>
                <a:off x="3672114" y="5241692"/>
                <a:ext cx="8157029" cy="400110"/>
              </a:xfrm>
              <a:prstGeom prst="rect">
                <a:avLst/>
              </a:prstGeom>
              <a:blipFill>
                <a:blip r:embed="rId10"/>
                <a:stretch>
                  <a:fillRect b="-18462"/>
                </a:stretch>
              </a:blipFill>
            </p:spPr>
            <p:txBody>
              <a:bodyPr/>
              <a:lstStyle/>
              <a:p>
                <a:r>
                  <a:rPr lang="es-CO">
                    <a:noFill/>
                  </a:rPr>
                  <a:t> </a:t>
                </a:r>
              </a:p>
            </p:txBody>
          </p:sp>
        </mc:Fallback>
      </mc:AlternateContent>
    </p:spTree>
    <p:extLst>
      <p:ext uri="{BB962C8B-B14F-4D97-AF65-F5344CB8AC3E}">
        <p14:creationId xmlns:p14="http://schemas.microsoft.com/office/powerpoint/2010/main" val="38016410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463220" y="96038"/>
            <a:ext cx="875743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353962" y="943475"/>
            <a:ext cx="1114978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220652" y="1366888"/>
                <a:ext cx="11750696" cy="76262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1,2,3</m:t>
                        </m:r>
                      </m:e>
                    </m:d>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r>
                      <a:rPr lang="es-MX" sz="2000" b="0" i="1" smtClean="0">
                        <a:latin typeface="Cambria Math" panose="02040503050406030204" pitchFamily="18" charset="0"/>
                        <a:ea typeface="Roboto" panose="02000000000000000000" pitchFamily="2" charset="0"/>
                      </a:rPr>
                      <m:t>={0,1}</m:t>
                    </m:r>
                  </m:oMath>
                </a14:m>
                <a:r>
                  <a:rPr lang="es-MX" sz="2000" dirty="0">
                    <a:latin typeface="+mn-lt"/>
                    <a:ea typeface="Roboto" panose="02000000000000000000" pitchFamily="2" charset="0"/>
                  </a:rPr>
                  <a:t>. Obtenga los siguientes productos cartesianos y sus representaciones (Diagrama de flechas, tabla y plano cartesiano): </a:t>
                </a:r>
                <a:endParaRPr lang="es-MX" sz="2000" b="0" i="1" dirty="0">
                  <a:latin typeface="+mn-lt"/>
                  <a:ea typeface="Roboto" panose="02000000000000000000" pitchFamily="2" charset="0"/>
                </a:endParaRPr>
              </a:p>
              <a:p>
                <a:pPr marL="584200" indent="-457200">
                  <a:buFont typeface="+mj-lt"/>
                  <a:buAutoNum type="arabicPeriod"/>
                </a:pP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Roboto" panose="02000000000000000000" pitchFamily="2" charset="0"/>
                      </a:rPr>
                      <m:t> </m:t>
                    </m:r>
                  </m:oMath>
                </a14:m>
                <a:endParaRPr lang="es-MX" sz="2000" i="1" dirty="0">
                  <a:latin typeface="Cambria Math" panose="02040503050406030204" pitchFamily="18" charset="0"/>
                  <a:ea typeface="Roboto" panose="02000000000000000000" pitchFamily="2" charset="0"/>
                </a:endParaRPr>
              </a:p>
              <a:p>
                <a:pPr marL="584200" indent="-457200">
                  <a:buFont typeface="+mj-lt"/>
                  <a:buAutoNum type="arabicPeriod"/>
                </a:pPr>
                <a14:m>
                  <m:oMath xmlns:m="http://schemas.openxmlformats.org/officeDocument/2006/math">
                    <m:r>
                      <a:rPr lang="es-MX" sz="2000" b="0" i="1" smtClean="0">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 </m:t>
                    </m:r>
                  </m:oMath>
                </a14:m>
                <a:endParaRPr lang="es-MX" sz="2000" i="1" dirty="0">
                  <a:latin typeface="Cambria Math" panose="02040503050406030204" pitchFamily="18" charset="0"/>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220652" y="1366888"/>
                <a:ext cx="11750696" cy="762620"/>
              </a:xfrm>
              <a:prstGeom prst="rect">
                <a:avLst/>
              </a:prstGeom>
              <a:blipFill>
                <a:blip r:embed="rId3"/>
                <a:stretch>
                  <a:fillRect b="-113600"/>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13202513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463220" y="96038"/>
            <a:ext cx="875743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353962" y="943475"/>
            <a:ext cx="1114978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220652" y="1366888"/>
                <a:ext cx="11750696" cy="76262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1,2,3</m:t>
                        </m:r>
                      </m:e>
                    </m:d>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r>
                      <a:rPr lang="es-MX" sz="2000" b="0" i="1" smtClean="0">
                        <a:latin typeface="Cambria Math" panose="02040503050406030204" pitchFamily="18" charset="0"/>
                        <a:ea typeface="Roboto" panose="02000000000000000000" pitchFamily="2" charset="0"/>
                      </a:rPr>
                      <m:t>={0,1}</m:t>
                    </m:r>
                  </m:oMath>
                </a14:m>
                <a:r>
                  <a:rPr lang="es-MX" sz="2000" dirty="0">
                    <a:latin typeface="+mn-lt"/>
                    <a:ea typeface="Roboto" panose="02000000000000000000" pitchFamily="2" charset="0"/>
                  </a:rPr>
                  <a:t>. Obtenga los siguientes productos cartesianos y sus representaciones (Diagrama de flechas, tabla y plano cartesiano): </a:t>
                </a:r>
                <a:endParaRPr lang="es-MX" sz="2000" b="0" i="1" dirty="0">
                  <a:latin typeface="+mn-lt"/>
                  <a:ea typeface="Roboto" panose="02000000000000000000" pitchFamily="2" charset="0"/>
                </a:endParaRPr>
              </a:p>
              <a:p>
                <a:pPr marL="584200" indent="-457200">
                  <a:buFont typeface="+mj-lt"/>
                  <a:buAutoNum type="arabicPeriod"/>
                </a:pP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Roboto" panose="02000000000000000000" pitchFamily="2" charset="0"/>
                      </a:rPr>
                      <m:t> </m:t>
                    </m:r>
                  </m:oMath>
                </a14:m>
                <a:endParaRPr lang="es-MX" sz="2000" i="1" dirty="0">
                  <a:latin typeface="Cambria Math" panose="02040503050406030204" pitchFamily="18" charset="0"/>
                  <a:ea typeface="Roboto" panose="02000000000000000000" pitchFamily="2" charset="0"/>
                </a:endParaRPr>
              </a:p>
              <a:p>
                <a:pPr marL="584200" indent="-457200">
                  <a:buFont typeface="+mj-lt"/>
                  <a:buAutoNum type="arabicPeriod"/>
                </a:pPr>
                <a14:m>
                  <m:oMath xmlns:m="http://schemas.openxmlformats.org/officeDocument/2006/math">
                    <m:r>
                      <a:rPr lang="es-MX" sz="2000" b="0" i="1" smtClean="0">
                        <a:latin typeface="Cambria Math" panose="02040503050406030204" pitchFamily="18" charset="0"/>
                        <a:ea typeface="Roboto" panose="02000000000000000000" pitchFamily="2" charset="0"/>
                      </a:rPr>
                      <m:t>𝐵</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 </m:t>
                    </m:r>
                  </m:oMath>
                </a14:m>
                <a:endParaRPr lang="es-MX" sz="2000" i="1" dirty="0">
                  <a:latin typeface="Cambria Math" panose="02040503050406030204" pitchFamily="18" charset="0"/>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220652" y="1366888"/>
                <a:ext cx="11750696" cy="762620"/>
              </a:xfrm>
              <a:prstGeom prst="rect">
                <a:avLst/>
              </a:prstGeom>
              <a:blipFill>
                <a:blip r:embed="rId3"/>
                <a:stretch>
                  <a:fillRect b="-113600"/>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254281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555195" y="96038"/>
            <a:ext cx="866545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Conceptos básicos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398133" y="994576"/>
            <a:ext cx="10587093" cy="492443"/>
          </a:xfrm>
          <a:prstGeom prst="rect">
            <a:avLst/>
          </a:prstGeom>
          <a:noFill/>
        </p:spPr>
        <p:txBody>
          <a:bodyPr wrap="square" rtlCol="0">
            <a:spAutoFit/>
          </a:bodyPr>
          <a:lstStyle/>
          <a:p>
            <a:r>
              <a:rPr lang="es-MX" sz="2600" b="1" dirty="0">
                <a:ea typeface="Roboto" panose="02000000000000000000" pitchFamily="2" charset="0"/>
              </a:rPr>
              <a:t>Funciones</a:t>
            </a:r>
          </a:p>
        </p:txBody>
      </p:sp>
      <mc:AlternateContent xmlns:mc="http://schemas.openxmlformats.org/markup-compatibility/2006" xmlns:a14="http://schemas.microsoft.com/office/drawing/2010/main">
        <mc:Choice Requires="a14">
          <p:sp>
            <p:nvSpPr>
              <p:cNvPr id="17" name="Google Shape;310;p34">
                <a:extLst>
                  <a:ext uri="{FF2B5EF4-FFF2-40B4-BE49-F238E27FC236}">
                    <a16:creationId xmlns:a16="http://schemas.microsoft.com/office/drawing/2014/main" id="{4B019FD0-1C3D-4ED9-A45C-DA5B5CA62FF9}"/>
                  </a:ext>
                </a:extLst>
              </p:cNvPr>
              <p:cNvSpPr txBox="1">
                <a:spLocks/>
              </p:cNvSpPr>
              <p:nvPr/>
            </p:nvSpPr>
            <p:spPr>
              <a:xfrm>
                <a:off x="274725" y="1403344"/>
                <a:ext cx="11740294" cy="356336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Sean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conjuntos no vacíos. Una función </a:t>
                </a:r>
                <a14:m>
                  <m:oMath xmlns:m="http://schemas.openxmlformats.org/officeDocument/2006/math">
                    <m:r>
                      <a:rPr lang="es-MX" sz="2000" b="0" i="1" smtClean="0">
                        <a:latin typeface="Cambria Math" panose="02040503050406030204" pitchFamily="18" charset="0"/>
                        <a:ea typeface="Roboto" panose="02000000000000000000" pitchFamily="2" charset="0"/>
                      </a:rPr>
                      <m:t>𝑓</m:t>
                    </m:r>
                  </m:oMath>
                </a14:m>
                <a:r>
                  <a:rPr lang="es-MX" sz="2000" dirty="0">
                    <a:latin typeface="+mn-lt"/>
                    <a:ea typeface="Roboto" panose="02000000000000000000" pitchFamily="2" charset="0"/>
                  </a:rPr>
                  <a:t> de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a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a:t>
                </a:r>
                <a:r>
                  <a:rPr lang="es-MX" sz="2000" dirty="0">
                    <a:latin typeface="+mn-lt"/>
                  </a:rPr>
                  <a:t>es una </a:t>
                </a:r>
                <a:r>
                  <a:rPr lang="es-MX" sz="2000" b="1" dirty="0">
                    <a:latin typeface="+mn-lt"/>
                  </a:rPr>
                  <a:t>regla</a:t>
                </a:r>
                <a:r>
                  <a:rPr lang="es-MX" sz="2000" dirty="0">
                    <a:latin typeface="+mn-lt"/>
                  </a:rPr>
                  <a:t> que asigna a </a:t>
                </a:r>
                <a:r>
                  <a:rPr lang="es-MX" sz="2000" b="1" dirty="0">
                    <a:latin typeface="+mn-lt"/>
                  </a:rPr>
                  <a:t>cada</a:t>
                </a:r>
                <a:r>
                  <a:rPr lang="es-MX" sz="2000" dirty="0">
                    <a:latin typeface="+mn-lt"/>
                  </a:rPr>
                  <a:t> elemento de </a:t>
                </a:r>
                <a14:m>
                  <m:oMath xmlns:m="http://schemas.openxmlformats.org/officeDocument/2006/math">
                    <m:r>
                      <a:rPr lang="es-MX" sz="2000" i="1">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a:t>
                </a:r>
                <a:r>
                  <a:rPr lang="es-MX" sz="2000" b="1" dirty="0">
                    <a:latin typeface="+mn-lt"/>
                    <a:ea typeface="Roboto" panose="02000000000000000000" pitchFamily="2" charset="0"/>
                  </a:rPr>
                  <a:t>exactamente un</a:t>
                </a:r>
                <a:r>
                  <a:rPr lang="es-MX" sz="2000" dirty="0">
                    <a:latin typeface="+mn-lt"/>
                    <a:ea typeface="Roboto" panose="02000000000000000000" pitchFamily="2" charset="0"/>
                  </a:rPr>
                  <a:t> elemento de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Esto se escribe como:</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𝑓</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oMath>
                  </m:oMathPara>
                </a14:m>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Una función </a:t>
                </a:r>
                <a14:m>
                  <m:oMath xmlns:m="http://schemas.openxmlformats.org/officeDocument/2006/math">
                    <m:r>
                      <a:rPr lang="es-MX" sz="2000" b="0" i="1" smtClean="0">
                        <a:latin typeface="Cambria Math" panose="02040503050406030204" pitchFamily="18" charset="0"/>
                        <a:ea typeface="Roboto" panose="02000000000000000000" pitchFamily="2" charset="0"/>
                      </a:rPr>
                      <m:t>𝑓</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también puede definirse como un subconjunto de </a:t>
                </a: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(una relación). Este subconjunto está restringido a una relación donde ningún par de elementos de la relación tiene el mismo primer elemento.</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𝑓</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e>
                          <m:r>
                            <m:rPr>
                              <m:sty m:val="p"/>
                            </m:rPr>
                            <a:rPr lang="es-MX" sz="2000" b="0" i="0" smtClean="0">
                              <a:latin typeface="Cambria Math" panose="02040503050406030204" pitchFamily="18" charset="0"/>
                              <a:ea typeface="Roboto" panose="02000000000000000000" pitchFamily="2" charset="0"/>
                            </a:rPr>
                            <m:t>a</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cada</m:t>
                          </m:r>
                          <m:r>
                            <a:rPr lang="es-MX" sz="2000" b="0" i="0"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le</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corresponde</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un</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unico</m:t>
                          </m:r>
                          <m:r>
                            <a:rPr lang="es-MX" sz="2000" b="0" i="0"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𝑏</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xmlns="">
          <p:sp>
            <p:nvSpPr>
              <p:cNvPr id="17" name="Google Shape;310;p34">
                <a:extLst>
                  <a:ext uri="{FF2B5EF4-FFF2-40B4-BE49-F238E27FC236}">
                    <a16:creationId xmlns:a16="http://schemas.microsoft.com/office/drawing/2014/main" id="{4B019FD0-1C3D-4ED9-A45C-DA5B5CA62FF9}"/>
                  </a:ext>
                </a:extLst>
              </p:cNvPr>
              <p:cNvSpPr txBox="1">
                <a:spLocks noRot="1" noChangeAspect="1" noMove="1" noResize="1" noEditPoints="1" noAdjustHandles="1" noChangeArrowheads="1" noChangeShapeType="1" noTextEdit="1"/>
              </p:cNvSpPr>
              <p:nvPr/>
            </p:nvSpPr>
            <p:spPr>
              <a:xfrm>
                <a:off x="274725" y="1403344"/>
                <a:ext cx="11740294" cy="3563362"/>
              </a:xfrm>
              <a:prstGeom prst="rect">
                <a:avLst/>
              </a:prstGeom>
              <a:blipFill>
                <a:blip r:embed="rId3"/>
                <a:stretch>
                  <a:fillRect/>
                </a:stretch>
              </a:blipFill>
              <a:ln>
                <a:noFill/>
              </a:ln>
            </p:spPr>
            <p:txBody>
              <a:bodyPr/>
              <a:lstStyle/>
              <a:p>
                <a:r>
                  <a:rPr lang="es-CO">
                    <a:noFill/>
                  </a:rPr>
                  <a:t> </a:t>
                </a:r>
              </a:p>
            </p:txBody>
          </p:sp>
        </mc:Fallback>
      </mc:AlternateContent>
      <p:pic>
        <p:nvPicPr>
          <p:cNvPr id="18" name="Imagen 17">
            <a:extLst>
              <a:ext uri="{FF2B5EF4-FFF2-40B4-BE49-F238E27FC236}">
                <a16:creationId xmlns:a16="http://schemas.microsoft.com/office/drawing/2014/main" id="{2BA5977F-000B-40D7-A3B7-DAFD7E6C1F48}"/>
              </a:ext>
            </a:extLst>
          </p:cNvPr>
          <p:cNvPicPr>
            <a:picLocks noChangeAspect="1"/>
          </p:cNvPicPr>
          <p:nvPr/>
        </p:nvPicPr>
        <p:blipFill>
          <a:blip r:embed="rId4"/>
          <a:stretch>
            <a:fillRect/>
          </a:stretch>
        </p:blipFill>
        <p:spPr>
          <a:xfrm>
            <a:off x="555195" y="4770223"/>
            <a:ext cx="3110438" cy="1732833"/>
          </a:xfrm>
          <a:prstGeom prst="rect">
            <a:avLst/>
          </a:prstGeom>
        </p:spPr>
      </p:pic>
      <p:pic>
        <p:nvPicPr>
          <p:cNvPr id="19" name="Picture 5" descr="0213.jpg">
            <a:extLst>
              <a:ext uri="{FF2B5EF4-FFF2-40B4-BE49-F238E27FC236}">
                <a16:creationId xmlns:a16="http://schemas.microsoft.com/office/drawing/2014/main" id="{15037E42-9C96-4BF9-BF23-8F7F082EF684}"/>
              </a:ext>
            </a:extLst>
          </p:cNvPr>
          <p:cNvPicPr>
            <a:picLocks noChangeAspect="1"/>
          </p:cNvPicPr>
          <p:nvPr/>
        </p:nvPicPr>
        <p:blipFill>
          <a:blip r:embed="rId5" cstate="print"/>
          <a:stretch>
            <a:fillRect/>
          </a:stretch>
        </p:blipFill>
        <p:spPr>
          <a:xfrm>
            <a:off x="4193435" y="4863354"/>
            <a:ext cx="4535544" cy="1601080"/>
          </a:xfrm>
          <a:prstGeom prst="rect">
            <a:avLst/>
          </a:prstGeom>
        </p:spPr>
      </p:pic>
      <p:pic>
        <p:nvPicPr>
          <p:cNvPr id="21" name="Imagen 20">
            <a:extLst>
              <a:ext uri="{FF2B5EF4-FFF2-40B4-BE49-F238E27FC236}">
                <a16:creationId xmlns:a16="http://schemas.microsoft.com/office/drawing/2014/main" id="{8AC1DC52-AC8E-43DC-9C30-8378312F33B1}"/>
              </a:ext>
            </a:extLst>
          </p:cNvPr>
          <p:cNvPicPr>
            <a:picLocks noChangeAspect="1"/>
          </p:cNvPicPr>
          <p:nvPr/>
        </p:nvPicPr>
        <p:blipFill>
          <a:blip r:embed="rId6"/>
          <a:stretch>
            <a:fillRect/>
          </a:stretch>
        </p:blipFill>
        <p:spPr>
          <a:xfrm>
            <a:off x="9256782" y="4663872"/>
            <a:ext cx="2599177" cy="1839184"/>
          </a:xfrm>
          <a:prstGeom prst="rect">
            <a:avLst/>
          </a:prstGeom>
        </p:spPr>
      </p:pic>
    </p:spTree>
    <p:extLst>
      <p:ext uri="{BB962C8B-B14F-4D97-AF65-F5344CB8AC3E}">
        <p14:creationId xmlns:p14="http://schemas.microsoft.com/office/powerpoint/2010/main" val="1158932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516194" y="96038"/>
            <a:ext cx="870445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16194" y="780067"/>
            <a:ext cx="9725444"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Definición Relación</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324466" y="1405692"/>
                <a:ext cx="11311044" cy="517208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Una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de </a:t>
                </a: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 </m:t>
                    </m:r>
                  </m:oMath>
                </a14:m>
                <a:r>
                  <a:rPr lang="es-MX" sz="2000" dirty="0">
                    <a:latin typeface="+mn-lt"/>
                    <a:ea typeface="Roboto" panose="02000000000000000000" pitchFamily="2" charset="0"/>
                  </a:rPr>
                  <a:t>en </a:t>
                </a:r>
                <a14:m>
                  <m:oMath xmlns:m="http://schemas.openxmlformats.org/officeDocument/2006/math">
                    <m:r>
                      <a:rPr lang="es-MX" sz="2000" i="1">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representada también como </a:t>
                </a:r>
                <a14:m>
                  <m:oMath xmlns:m="http://schemas.openxmlformats.org/officeDocument/2006/math">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𝑦</m:t>
                    </m:r>
                    <m:r>
                      <a:rPr lang="es-MX" sz="2000" i="1">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es un conjunto de pares ordenados </a:t>
                </a:r>
                <a14:m>
                  <m:oMath xmlns:m="http://schemas.openxmlformats.org/officeDocument/2006/math">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𝑦</m:t>
                    </m:r>
                    <m:r>
                      <a:rPr lang="es-MX" sz="2000" i="1">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donde </a:t>
                </a:r>
                <a14:m>
                  <m:oMath xmlns:m="http://schemas.openxmlformats.org/officeDocument/2006/math">
                    <m:r>
                      <a:rPr lang="es-MX" sz="2000" i="1">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que satisfacen una propiedad determinada </a:t>
                </a:r>
                <a14:m>
                  <m:oMath xmlns:m="http://schemas.openxmlformats.org/officeDocument/2006/math">
                    <m:r>
                      <a:rPr lang="es-MX" sz="2000" b="0" i="1" smtClean="0">
                        <a:latin typeface="Cambria Math" panose="02040503050406030204" pitchFamily="18" charset="0"/>
                        <a:ea typeface="Roboto" panose="02000000000000000000" pitchFamily="2" charset="0"/>
                      </a:rPr>
                      <m:t>𝑃</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Formalmente, se define como:</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𝑦</m:t>
                              </m:r>
                            </m:e>
                          </m:d>
                        </m:e>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e>
                          </m:d>
                          <m:r>
                            <a:rPr lang="es-MX" sz="2000" i="1">
                              <a:latin typeface="Cambria Math" panose="02040503050406030204" pitchFamily="18" charset="0"/>
                              <a:ea typeface="Cambria Math" panose="02040503050406030204" pitchFamily="18" charset="0"/>
                            </a:rPr>
                            <m:t>∧</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𝑦</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𝐵</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𝑦</m:t>
                              </m:r>
                            </m:e>
                          </m:d>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Como no todos los elementos de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tienen que estar relacionados con los elementos de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mediante la condición </a:t>
                </a:r>
                <a14:m>
                  <m:oMath xmlns:m="http://schemas.openxmlformats.org/officeDocument/2006/math">
                    <m:r>
                      <a:rPr lang="es-MX" sz="2000" b="0" i="1" smtClean="0">
                        <a:latin typeface="Cambria Math" panose="02040503050406030204" pitchFamily="18" charset="0"/>
                        <a:ea typeface="Roboto" panose="02000000000000000000" pitchFamily="2" charset="0"/>
                      </a:rPr>
                      <m:t>𝑃</m:t>
                    </m:r>
                  </m:oMath>
                </a14:m>
                <a:r>
                  <a:rPr lang="es-MX" sz="2000" dirty="0">
                    <a:latin typeface="+mn-lt"/>
                    <a:ea typeface="Roboto" panose="02000000000000000000" pitchFamily="2" charset="0"/>
                  </a:rPr>
                  <a:t>; el conjunto </a:t>
                </a:r>
                <a14:m>
                  <m:oMath xmlns:m="http://schemas.openxmlformats.org/officeDocument/2006/math">
                    <m:r>
                      <a:rPr lang="es-MX" sz="2000" i="1">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es </a:t>
                </a:r>
                <a:r>
                  <a:rPr lang="es-MX" sz="2000" b="1" dirty="0">
                    <a:latin typeface="+mn-lt"/>
                    <a:ea typeface="Roboto" panose="02000000000000000000" pitchFamily="2" charset="0"/>
                  </a:rPr>
                  <a:t>un subconjunto</a:t>
                </a:r>
                <a:r>
                  <a:rPr lang="es-MX" sz="2000" dirty="0">
                    <a:latin typeface="+mn-lt"/>
                    <a:ea typeface="Roboto" panose="02000000000000000000" pitchFamily="2" charset="0"/>
                  </a:rPr>
                  <a:t> </a:t>
                </a: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es decir:</a:t>
                </a:r>
              </a:p>
              <a:p>
                <a:pPr marL="127000" indent="0">
                  <a:buNone/>
                </a:pPr>
                <a:endParaRPr lang="es-MX" sz="2000" i="1"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𝐵</m:t>
                      </m:r>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A este tipo de relaciones se les denomina </a:t>
                </a:r>
                <a:r>
                  <a:rPr lang="es-MX" sz="2000" b="1" dirty="0">
                    <a:latin typeface="+mn-lt"/>
                    <a:ea typeface="Roboto" panose="02000000000000000000" pitchFamily="2" charset="0"/>
                  </a:rPr>
                  <a:t>relaciones binarias</a:t>
                </a:r>
                <a:r>
                  <a:rPr lang="es-MX" sz="2000" dirty="0">
                    <a:latin typeface="+mn-lt"/>
                    <a:ea typeface="Roboto" panose="02000000000000000000" pitchFamily="2" charset="0"/>
                  </a:rPr>
                  <a:t>. </a:t>
                </a: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De manera informal, una relación (binaria) describe una </a:t>
                </a:r>
                <a:r>
                  <a:rPr lang="es-MX" sz="2000" b="1" dirty="0">
                    <a:latin typeface="+mn-lt"/>
                    <a:ea typeface="Roboto" panose="02000000000000000000" pitchFamily="2" charset="0"/>
                  </a:rPr>
                  <a:t>relación de pares</a:t>
                </a:r>
                <a:r>
                  <a:rPr lang="es-MX" sz="2000" dirty="0">
                    <a:latin typeface="+mn-lt"/>
                    <a:ea typeface="Roboto" panose="02000000000000000000" pitchFamily="2" charset="0"/>
                  </a:rPr>
                  <a:t> que se cumple para ciertos pares de elementos de dos conjuntos </a:t>
                </a:r>
                <a14:m>
                  <m:oMath xmlns:m="http://schemas.openxmlformats.org/officeDocument/2006/math">
                    <m:r>
                      <a:rPr lang="es-MX" sz="2000" i="1" smtClean="0">
                        <a:latin typeface="Cambria Math" panose="02040503050406030204" pitchFamily="18" charset="0"/>
                        <a:ea typeface="Cambria Math" panose="02040503050406030204" pitchFamily="18"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a:t>
                </a: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324466" y="1405692"/>
                <a:ext cx="11311044" cy="5172089"/>
              </a:xfrm>
              <a:prstGeom prst="rect">
                <a:avLst/>
              </a:prstGeom>
              <a:blipFill>
                <a:blip r:embed="rId3"/>
                <a:stretch>
                  <a:fillRect r="-485" b="-354"/>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2371600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3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Numero de relaciones existentes</a:t>
            </a: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0" y="1302936"/>
                <a:ext cx="11522441" cy="295427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rPr>
                  <a:t>El número total de relaciones que se pueden definir de un conjunto de un conjunto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 </m:t>
                    </m:r>
                  </m:oMath>
                </a14:m>
                <a:r>
                  <a:rPr lang="es-MX" sz="2000" dirty="0">
                    <a:latin typeface="+mn-lt"/>
                    <a:ea typeface="Roboto" panose="02000000000000000000" pitchFamily="2" charset="0"/>
                  </a:rPr>
                  <a:t>a un conjunto </a:t>
                </a:r>
                <a14:m>
                  <m:oMath xmlns:m="http://schemas.openxmlformats.org/officeDocument/2006/math">
                    <m:r>
                      <a:rPr lang="es-MX" sz="2000" b="0" i="1" smtClean="0">
                        <a:latin typeface="Cambria Math" panose="02040503050406030204" pitchFamily="18" charset="0"/>
                        <a:ea typeface="Cambria Math" panose="02040503050406030204" pitchFamily="18" charset="0"/>
                      </a:rPr>
                      <m:t>𝐵</m:t>
                    </m:r>
                    <m:r>
                      <a:rPr lang="es-MX" sz="2000" i="1">
                        <a:latin typeface="Cambria Math" panose="02040503050406030204" pitchFamily="18" charset="0"/>
                        <a:ea typeface="Cambria Math" panose="02040503050406030204" pitchFamily="18" charset="0"/>
                      </a:rPr>
                      <m:t> </m:t>
                    </m:r>
                  </m:oMath>
                </a14:m>
                <a:r>
                  <a:rPr lang="es-MX" sz="2000" dirty="0">
                    <a:latin typeface="+mn-lt"/>
                  </a:rPr>
                  <a:t>es simplemente el número de subconjuntos de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oMath>
                </a14:m>
                <a:r>
                  <a:rPr lang="es-MX" sz="2000" b="1" dirty="0">
                    <a:latin typeface="+mn-lt"/>
                  </a:rPr>
                  <a:t> </a:t>
                </a:r>
                <a:r>
                  <a:rPr lang="es-MX" sz="2000" dirty="0">
                    <a:latin typeface="+mn-lt"/>
                  </a:rPr>
                  <a:t>es decir </a:t>
                </a:r>
                <a14:m>
                  <m:oMath xmlns:m="http://schemas.openxmlformats.org/officeDocument/2006/math">
                    <m:d>
                      <m:dPr>
                        <m:begChr m:val="|"/>
                        <m:endChr m:val="|"/>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𝒫</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𝐵</m:t>
                            </m:r>
                          </m:e>
                        </m:d>
                      </m:e>
                    </m:d>
                  </m:oMath>
                </a14:m>
                <a:r>
                  <a:rPr lang="es-MX" sz="2000" dirty="0">
                    <a:latin typeface="+mn-lt"/>
                    <a:ea typeface="Roboto" panose="02000000000000000000" pitchFamily="2" charset="0"/>
                  </a:rPr>
                  <a:t>. Para el caso, sea </a:t>
                </a:r>
                <a14:m>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i="1" smtClean="0">
                            <a:latin typeface="Cambria Math" panose="02040503050406030204" pitchFamily="18" charset="0"/>
                            <a:ea typeface="Roboto" panose="02000000000000000000" pitchFamily="2" charset="0"/>
                          </a:rPr>
                          <m:t>𝐴</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𝑚</m:t>
                    </m:r>
                  </m:oMath>
                </a14:m>
                <a:r>
                  <a:rPr lang="es-MX" sz="2000" dirty="0">
                    <a:latin typeface="+mn-lt"/>
                    <a:ea typeface="Roboto" panose="02000000000000000000" pitchFamily="2" charset="0"/>
                  </a:rPr>
                  <a:t> y </a:t>
                </a:r>
                <a14:m>
                  <m:oMath xmlns:m="http://schemas.openxmlformats.org/officeDocument/2006/math">
                    <m:d>
                      <m:dPr>
                        <m:begChr m:val="|"/>
                        <m:endChr m:val="|"/>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𝐵</m:t>
                        </m:r>
                      </m:e>
                    </m:d>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𝑛</m:t>
                    </m:r>
                  </m:oMath>
                </a14:m>
                <a:r>
                  <a:rPr lang="es-MX" sz="2000" dirty="0">
                    <a:latin typeface="+mn-lt"/>
                    <a:ea typeface="Roboto" panose="02000000000000000000" pitchFamily="2" charset="0"/>
                  </a:rPr>
                  <a:t> entonces:</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e>
                      </m:d>
                      <m:r>
                        <a:rPr lang="es-MX" sz="2000" b="0" i="1" smtClean="0">
                          <a:latin typeface="Cambria Math" panose="02040503050406030204" pitchFamily="18" charset="0"/>
                          <a:ea typeface="Cambria Math" panose="02040503050406030204" pitchFamily="18" charset="0"/>
                        </a:rPr>
                        <m:t>=</m:t>
                      </m:r>
                      <m:d>
                        <m:dPr>
                          <m:begChr m:val="|"/>
                          <m:endChr m:val="|"/>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𝒫</m:t>
                          </m:r>
                          <m:d>
                            <m:dPr>
                              <m:ctrlPr>
                                <a:rPr lang="es-MX" sz="2000" b="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e>
                          </m:d>
                        </m:e>
                      </m:d>
                      <m:r>
                        <a:rPr lang="es-MX" sz="2000" b="0" i="1" smtClean="0">
                          <a:latin typeface="Cambria Math" panose="02040503050406030204" pitchFamily="18" charset="0"/>
                          <a:ea typeface="Cambria Math" panose="02040503050406030204" pitchFamily="18" charset="0"/>
                        </a:rPr>
                        <m:t>=</m:t>
                      </m:r>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2</m:t>
                          </m:r>
                        </m:e>
                        <m:sup>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r>
                            <a:rPr lang="es-MX" sz="2000" b="0" i="1" smtClean="0">
                              <a:latin typeface="Cambria Math" panose="02040503050406030204" pitchFamily="18" charset="0"/>
                              <a:ea typeface="Cambria Math" panose="02040503050406030204" pitchFamily="18" charset="0"/>
                            </a:rPr>
                            <m:t>|</m:t>
                          </m:r>
                        </m:sup>
                      </m:sSup>
                      <m:r>
                        <a:rPr lang="es-MX" sz="2000" b="0" i="1" smtClean="0">
                          <a:latin typeface="Cambria Math" panose="02040503050406030204" pitchFamily="18" charset="0"/>
                          <a:ea typeface="Cambria Math" panose="02040503050406030204" pitchFamily="18" charset="0"/>
                        </a:rPr>
                        <m:t>=</m:t>
                      </m:r>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2</m:t>
                          </m:r>
                        </m:e>
                        <m:sup>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r>
                            <a:rPr lang="es-MX" sz="2000" i="1">
                              <a:latin typeface="Cambria Math" panose="02040503050406030204" pitchFamily="18" charset="0"/>
                              <a:ea typeface="Cambria Math" panose="02040503050406030204" pitchFamily="18" charset="0"/>
                            </a:rPr>
                            <m:t>|</m:t>
                          </m:r>
                        </m:sup>
                      </m:sSup>
                      <m:r>
                        <a:rPr lang="es-MX" sz="2000" b="0" i="1" smtClean="0">
                          <a:latin typeface="Cambria Math" panose="02040503050406030204" pitchFamily="18" charset="0"/>
                          <a:ea typeface="Cambria Math" panose="02040503050406030204" pitchFamily="18" charset="0"/>
                        </a:rPr>
                        <m:t>=</m:t>
                      </m:r>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2</m:t>
                          </m:r>
                        </m:e>
                        <m:sup>
                          <m:r>
                            <a:rPr lang="es-MX" sz="2000" b="0" i="1" smtClean="0">
                              <a:latin typeface="Cambria Math" panose="02040503050406030204" pitchFamily="18" charset="0"/>
                              <a:ea typeface="Cambria Math" panose="02040503050406030204" pitchFamily="18" charset="0"/>
                            </a:rPr>
                            <m:t>𝑚</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𝑛</m:t>
                          </m:r>
                        </m:sup>
                      </m:sSup>
                    </m:oMath>
                  </m:oMathPara>
                </a14:m>
                <a:endParaRPr lang="es-MX" sz="20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0" y="1302936"/>
                <a:ext cx="11522441" cy="2954272"/>
              </a:xfrm>
              <a:prstGeom prst="rect">
                <a:avLst/>
              </a:prstGeom>
              <a:blipFill>
                <a:blip r:embed="rId3"/>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926696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7703" y="96038"/>
            <a:ext cx="8792947"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09732" y="750087"/>
            <a:ext cx="10008886"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a:t>
            </a:r>
            <a:r>
              <a:rPr lang="es-MX" b="1" dirty="0">
                <a:solidFill>
                  <a:schemeClr val="tx1"/>
                </a:solidFill>
              </a:rPr>
              <a:t> 1</a:t>
            </a:r>
            <a:endParaRPr lang="es-MX" dirty="0">
              <a:solidFill>
                <a:schemeClr val="tx1"/>
              </a:solidFill>
            </a:endParaRPr>
          </a:p>
          <a:p>
            <a:pPr marL="0" indent="0">
              <a:buFont typeface="Roboto"/>
              <a:buNone/>
            </a:pPr>
            <a:endParaRPr lang="es-MX" sz="2400" dirty="0">
              <a:solidFill>
                <a:schemeClr val="tx1"/>
              </a:solidFill>
            </a:endParaRPr>
          </a:p>
          <a:p>
            <a:pPr indent="0">
              <a:buFont typeface="Roboto"/>
              <a:buNone/>
            </a:pPr>
            <a:endParaRPr lang="es-MX" sz="2400" dirty="0">
              <a:solidFill>
                <a:schemeClr val="tx1"/>
              </a:solidFill>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318947" y="1226513"/>
            <a:ext cx="11463321" cy="82566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A continuación, se presenta una relación particular que expresa la relación “es un componente de” entre los colores primarios y secundarios:</a:t>
            </a:r>
          </a:p>
        </p:txBody>
      </p:sp>
      <p:grpSp>
        <p:nvGrpSpPr>
          <p:cNvPr id="1029" name="Grupo 1028">
            <a:extLst>
              <a:ext uri="{FF2B5EF4-FFF2-40B4-BE49-F238E27FC236}">
                <a16:creationId xmlns:a16="http://schemas.microsoft.com/office/drawing/2014/main" id="{17273D25-6F98-473C-9F29-358A377F8A4F}"/>
              </a:ext>
            </a:extLst>
          </p:cNvPr>
          <p:cNvGrpSpPr/>
          <p:nvPr/>
        </p:nvGrpSpPr>
        <p:grpSpPr>
          <a:xfrm>
            <a:off x="585221" y="2693784"/>
            <a:ext cx="3051958" cy="3064329"/>
            <a:chOff x="1527223" y="2412497"/>
            <a:chExt cx="3051958" cy="3064329"/>
          </a:xfrm>
        </p:grpSpPr>
        <p:cxnSp>
          <p:nvCxnSpPr>
            <p:cNvPr id="10" name="Conector recto de flecha 9">
              <a:extLst>
                <a:ext uri="{FF2B5EF4-FFF2-40B4-BE49-F238E27FC236}">
                  <a16:creationId xmlns:a16="http://schemas.microsoft.com/office/drawing/2014/main" id="{818BDE6F-71A1-4D4D-B4F7-A8171F2B8FCA}"/>
                </a:ext>
              </a:extLst>
            </p:cNvPr>
            <p:cNvCxnSpPr>
              <a:cxnSpLocks/>
            </p:cNvCxnSpPr>
            <p:nvPr/>
          </p:nvCxnSpPr>
          <p:spPr>
            <a:xfrm flipV="1">
              <a:off x="2552700" y="3067050"/>
              <a:ext cx="1081088" cy="61436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C1719D03-AACF-4668-98EC-454D2F822EC1}"/>
                </a:ext>
              </a:extLst>
            </p:cNvPr>
            <p:cNvCxnSpPr>
              <a:cxnSpLocks/>
            </p:cNvCxnSpPr>
            <p:nvPr/>
          </p:nvCxnSpPr>
          <p:spPr>
            <a:xfrm flipV="1">
              <a:off x="2514601" y="4486275"/>
              <a:ext cx="1123950" cy="14288"/>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a:extLst>
                <a:ext uri="{FF2B5EF4-FFF2-40B4-BE49-F238E27FC236}">
                  <a16:creationId xmlns:a16="http://schemas.microsoft.com/office/drawing/2014/main" id="{EA3F0C7C-3061-4683-85C3-BC3EAA960AAF}"/>
                </a:ext>
              </a:extLst>
            </p:cNvPr>
            <p:cNvCxnSpPr>
              <a:cxnSpLocks/>
            </p:cNvCxnSpPr>
            <p:nvPr/>
          </p:nvCxnSpPr>
          <p:spPr>
            <a:xfrm>
              <a:off x="2543176" y="3838575"/>
              <a:ext cx="1090612" cy="485775"/>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83146392-1EAF-47C4-A508-CFEAB5BD5DCE}"/>
                </a:ext>
              </a:extLst>
            </p:cNvPr>
            <p:cNvCxnSpPr>
              <a:cxnSpLocks/>
            </p:cNvCxnSpPr>
            <p:nvPr/>
          </p:nvCxnSpPr>
          <p:spPr>
            <a:xfrm>
              <a:off x="2509838" y="3014663"/>
              <a:ext cx="1109662" cy="595312"/>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recto de flecha 13">
              <a:extLst>
                <a:ext uri="{FF2B5EF4-FFF2-40B4-BE49-F238E27FC236}">
                  <a16:creationId xmlns:a16="http://schemas.microsoft.com/office/drawing/2014/main" id="{E8C67CDE-ADF2-4A57-A852-549270A41055}"/>
                </a:ext>
              </a:extLst>
            </p:cNvPr>
            <p:cNvCxnSpPr>
              <a:cxnSpLocks/>
            </p:cNvCxnSpPr>
            <p:nvPr/>
          </p:nvCxnSpPr>
          <p:spPr>
            <a:xfrm flipV="1">
              <a:off x="2528888" y="3786188"/>
              <a:ext cx="1076325" cy="519112"/>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9829C52-C917-4815-AC2A-0E583E17F3E2}"/>
                    </a:ext>
                  </a:extLst>
                </p:cNvPr>
                <p:cNvSpPr txBox="1"/>
                <p:nvPr/>
              </p:nvSpPr>
              <p:spPr>
                <a:xfrm>
                  <a:off x="1759206" y="5076716"/>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𝑨</m:t>
                        </m:r>
                      </m:oMath>
                    </m:oMathPara>
                  </a14:m>
                  <a:endParaRPr lang="es-CO" sz="1600" b="1" dirty="0"/>
                </a:p>
              </p:txBody>
            </p:sp>
          </mc:Choice>
          <mc:Fallback xmlns="">
            <p:sp>
              <p:nvSpPr>
                <p:cNvPr id="23" name="CuadroTexto 22">
                  <a:extLst>
                    <a:ext uri="{FF2B5EF4-FFF2-40B4-BE49-F238E27FC236}">
                      <a16:creationId xmlns:a16="http://schemas.microsoft.com/office/drawing/2014/main" id="{49829C52-C917-4815-AC2A-0E583E17F3E2}"/>
                    </a:ext>
                  </a:extLst>
                </p:cNvPr>
                <p:cNvSpPr txBox="1">
                  <a:spLocks noRot="1" noChangeAspect="1" noMove="1" noResize="1" noEditPoints="1" noAdjustHandles="1" noChangeArrowheads="1" noChangeShapeType="1" noTextEdit="1"/>
                </p:cNvSpPr>
                <p:nvPr/>
              </p:nvSpPr>
              <p:spPr>
                <a:xfrm>
                  <a:off x="1759206" y="5076716"/>
                  <a:ext cx="703865" cy="400110"/>
                </a:xfrm>
                <a:prstGeom prst="rect">
                  <a:avLst/>
                </a:prstGeom>
                <a:blipFill>
                  <a:blip r:embed="rId3"/>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2D747249-DB66-4CD8-9652-92FD31F71728}"/>
                    </a:ext>
                  </a:extLst>
                </p:cNvPr>
                <p:cNvSpPr txBox="1"/>
                <p:nvPr/>
              </p:nvSpPr>
              <p:spPr>
                <a:xfrm>
                  <a:off x="3673845" y="5060264"/>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𝑩</m:t>
                        </m:r>
                      </m:oMath>
                    </m:oMathPara>
                  </a14:m>
                  <a:endParaRPr lang="es-CO" sz="1600" b="1" dirty="0"/>
                </a:p>
              </p:txBody>
            </p:sp>
          </mc:Choice>
          <mc:Fallback xmlns="">
            <p:sp>
              <p:nvSpPr>
                <p:cNvPr id="18" name="CuadroTexto 17">
                  <a:extLst>
                    <a:ext uri="{FF2B5EF4-FFF2-40B4-BE49-F238E27FC236}">
                      <a16:creationId xmlns:a16="http://schemas.microsoft.com/office/drawing/2014/main" id="{2D747249-DB66-4CD8-9652-92FD31F71728}"/>
                    </a:ext>
                  </a:extLst>
                </p:cNvPr>
                <p:cNvSpPr txBox="1">
                  <a:spLocks noRot="1" noChangeAspect="1" noMove="1" noResize="1" noEditPoints="1" noAdjustHandles="1" noChangeArrowheads="1" noChangeShapeType="1" noTextEdit="1"/>
                </p:cNvSpPr>
                <p:nvPr/>
              </p:nvSpPr>
              <p:spPr>
                <a:xfrm>
                  <a:off x="3673845" y="5060264"/>
                  <a:ext cx="703865" cy="400110"/>
                </a:xfrm>
                <a:prstGeom prst="rect">
                  <a:avLst/>
                </a:prstGeom>
                <a:blipFill>
                  <a:blip r:embed="rId4"/>
                  <a:stretch>
                    <a:fillRect/>
                  </a:stretch>
                </a:blipFill>
              </p:spPr>
              <p:txBody>
                <a:bodyPr/>
                <a:lstStyle/>
                <a:p>
                  <a:r>
                    <a:rPr lang="es-CO">
                      <a:noFill/>
                    </a:rPr>
                    <a:t> </a:t>
                  </a:r>
                </a:p>
              </p:txBody>
            </p:sp>
          </mc:Fallback>
        </mc:AlternateContent>
        <p:grpSp>
          <p:nvGrpSpPr>
            <p:cNvPr id="44" name="Grupo 43">
              <a:extLst>
                <a:ext uri="{FF2B5EF4-FFF2-40B4-BE49-F238E27FC236}">
                  <a16:creationId xmlns:a16="http://schemas.microsoft.com/office/drawing/2014/main" id="{F38BE02A-8DB4-43F9-A2B6-462C57BE000F}"/>
                </a:ext>
              </a:extLst>
            </p:cNvPr>
            <p:cNvGrpSpPr/>
            <p:nvPr/>
          </p:nvGrpSpPr>
          <p:grpSpPr>
            <a:xfrm>
              <a:off x="1527223" y="2412497"/>
              <a:ext cx="1228725" cy="2584788"/>
              <a:chOff x="1451023" y="2412497"/>
              <a:chExt cx="1228725" cy="2584788"/>
            </a:xfrm>
          </p:grpSpPr>
          <p:sp>
            <p:nvSpPr>
              <p:cNvPr id="25" name="Elipse 24">
                <a:extLst>
                  <a:ext uri="{FF2B5EF4-FFF2-40B4-BE49-F238E27FC236}">
                    <a16:creationId xmlns:a16="http://schemas.microsoft.com/office/drawing/2014/main" id="{063EC38F-117A-4DC2-B863-F4414222DD40}"/>
                  </a:ext>
                </a:extLst>
              </p:cNvPr>
              <p:cNvSpPr/>
              <p:nvPr/>
            </p:nvSpPr>
            <p:spPr>
              <a:xfrm>
                <a:off x="1451023" y="2412497"/>
                <a:ext cx="1228725" cy="258478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 name="Imagen 2">
                <a:extLst>
                  <a:ext uri="{FF2B5EF4-FFF2-40B4-BE49-F238E27FC236}">
                    <a16:creationId xmlns:a16="http://schemas.microsoft.com/office/drawing/2014/main" id="{38E82B0A-B44D-46F2-92B8-2F888C211035}"/>
                  </a:ext>
                </a:extLst>
              </p:cNvPr>
              <p:cNvPicPr>
                <a:picLocks noChangeAspect="1"/>
              </p:cNvPicPr>
              <p:nvPr/>
            </p:nvPicPr>
            <p:blipFill>
              <a:blip r:embed="rId5"/>
              <a:stretch>
                <a:fillRect/>
              </a:stretch>
            </p:blipFill>
            <p:spPr>
              <a:xfrm>
                <a:off x="1738392" y="2666341"/>
                <a:ext cx="647323" cy="615553"/>
              </a:xfrm>
              <a:prstGeom prst="rect">
                <a:avLst/>
              </a:prstGeom>
            </p:spPr>
          </p:pic>
          <p:pic>
            <p:nvPicPr>
              <p:cNvPr id="29" name="Imagen 28">
                <a:extLst>
                  <a:ext uri="{FF2B5EF4-FFF2-40B4-BE49-F238E27FC236}">
                    <a16:creationId xmlns:a16="http://schemas.microsoft.com/office/drawing/2014/main" id="{B761B762-E2C2-4CDB-8577-C4B31C8CEEFA}"/>
                  </a:ext>
                </a:extLst>
              </p:cNvPr>
              <p:cNvPicPr>
                <a:picLocks noChangeAspect="1"/>
              </p:cNvPicPr>
              <p:nvPr/>
            </p:nvPicPr>
            <p:blipFill>
              <a:blip r:embed="rId6"/>
              <a:stretch>
                <a:fillRect/>
              </a:stretch>
            </p:blipFill>
            <p:spPr>
              <a:xfrm>
                <a:off x="1774133" y="3424979"/>
                <a:ext cx="611582" cy="627467"/>
              </a:xfrm>
              <a:prstGeom prst="rect">
                <a:avLst/>
              </a:prstGeom>
            </p:spPr>
          </p:pic>
          <p:pic>
            <p:nvPicPr>
              <p:cNvPr id="31" name="Imagen 30">
                <a:extLst>
                  <a:ext uri="{FF2B5EF4-FFF2-40B4-BE49-F238E27FC236}">
                    <a16:creationId xmlns:a16="http://schemas.microsoft.com/office/drawing/2014/main" id="{6CCA13A7-9FA1-4F89-A73D-A2BE6502ADF7}"/>
                  </a:ext>
                </a:extLst>
              </p:cNvPr>
              <p:cNvPicPr>
                <a:picLocks noChangeAspect="1"/>
              </p:cNvPicPr>
              <p:nvPr/>
            </p:nvPicPr>
            <p:blipFill>
              <a:blip r:embed="rId7"/>
              <a:stretch>
                <a:fillRect/>
              </a:stretch>
            </p:blipFill>
            <p:spPr>
              <a:xfrm>
                <a:off x="1775012" y="4097761"/>
                <a:ext cx="595697" cy="639381"/>
              </a:xfrm>
              <a:prstGeom prst="rect">
                <a:avLst/>
              </a:prstGeom>
            </p:spPr>
          </p:pic>
        </p:grpSp>
        <p:grpSp>
          <p:nvGrpSpPr>
            <p:cNvPr id="45" name="Grupo 44">
              <a:extLst>
                <a:ext uri="{FF2B5EF4-FFF2-40B4-BE49-F238E27FC236}">
                  <a16:creationId xmlns:a16="http://schemas.microsoft.com/office/drawing/2014/main" id="{0F3E1703-E31E-40EE-AF73-865F53D4E09E}"/>
                </a:ext>
              </a:extLst>
            </p:cNvPr>
            <p:cNvGrpSpPr/>
            <p:nvPr/>
          </p:nvGrpSpPr>
          <p:grpSpPr>
            <a:xfrm>
              <a:off x="3350456" y="2424725"/>
              <a:ext cx="1228725" cy="2584788"/>
              <a:chOff x="3411416" y="2424725"/>
              <a:chExt cx="1228725" cy="2584788"/>
            </a:xfrm>
          </p:grpSpPr>
          <p:sp>
            <p:nvSpPr>
              <p:cNvPr id="20" name="Elipse 19">
                <a:extLst>
                  <a:ext uri="{FF2B5EF4-FFF2-40B4-BE49-F238E27FC236}">
                    <a16:creationId xmlns:a16="http://schemas.microsoft.com/office/drawing/2014/main" id="{B1BBF8BB-A61B-43F9-A9F6-95BFFB8C2387}"/>
                  </a:ext>
                </a:extLst>
              </p:cNvPr>
              <p:cNvSpPr/>
              <p:nvPr/>
            </p:nvSpPr>
            <p:spPr>
              <a:xfrm>
                <a:off x="3411416" y="2424725"/>
                <a:ext cx="1228725" cy="258478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3" name="Imagen 32">
                <a:extLst>
                  <a:ext uri="{FF2B5EF4-FFF2-40B4-BE49-F238E27FC236}">
                    <a16:creationId xmlns:a16="http://schemas.microsoft.com/office/drawing/2014/main" id="{2DC7EBF3-1B24-490B-88D0-7058606A7EC8}"/>
                  </a:ext>
                </a:extLst>
              </p:cNvPr>
              <p:cNvPicPr>
                <a:picLocks noChangeAspect="1"/>
              </p:cNvPicPr>
              <p:nvPr/>
            </p:nvPicPr>
            <p:blipFill>
              <a:blip r:embed="rId8"/>
              <a:stretch>
                <a:fillRect/>
              </a:stretch>
            </p:blipFill>
            <p:spPr>
              <a:xfrm>
                <a:off x="3748946" y="3405649"/>
                <a:ext cx="615553" cy="615553"/>
              </a:xfrm>
              <a:prstGeom prst="rect">
                <a:avLst/>
              </a:prstGeom>
            </p:spPr>
          </p:pic>
          <p:pic>
            <p:nvPicPr>
              <p:cNvPr id="35" name="Imagen 34">
                <a:extLst>
                  <a:ext uri="{FF2B5EF4-FFF2-40B4-BE49-F238E27FC236}">
                    <a16:creationId xmlns:a16="http://schemas.microsoft.com/office/drawing/2014/main" id="{A77F7F92-DD37-4615-AB1B-72B6846ED6A7}"/>
                  </a:ext>
                </a:extLst>
              </p:cNvPr>
              <p:cNvPicPr>
                <a:picLocks noChangeAspect="1"/>
              </p:cNvPicPr>
              <p:nvPr/>
            </p:nvPicPr>
            <p:blipFill>
              <a:blip r:embed="rId9"/>
              <a:stretch>
                <a:fillRect/>
              </a:stretch>
            </p:blipFill>
            <p:spPr>
              <a:xfrm>
                <a:off x="3742989" y="4131317"/>
                <a:ext cx="623495" cy="619524"/>
              </a:xfrm>
              <a:prstGeom prst="rect">
                <a:avLst/>
              </a:prstGeom>
            </p:spPr>
          </p:pic>
          <p:pic>
            <p:nvPicPr>
              <p:cNvPr id="37" name="Imagen 36">
                <a:extLst>
                  <a:ext uri="{FF2B5EF4-FFF2-40B4-BE49-F238E27FC236}">
                    <a16:creationId xmlns:a16="http://schemas.microsoft.com/office/drawing/2014/main" id="{AF3C68D2-AE38-42E5-B07B-C516485CCF3A}"/>
                  </a:ext>
                </a:extLst>
              </p:cNvPr>
              <p:cNvPicPr>
                <a:picLocks noChangeAspect="1"/>
              </p:cNvPicPr>
              <p:nvPr/>
            </p:nvPicPr>
            <p:blipFill>
              <a:blip r:embed="rId10"/>
              <a:stretch>
                <a:fillRect/>
              </a:stretch>
            </p:blipFill>
            <p:spPr>
              <a:xfrm>
                <a:off x="3737950" y="2661614"/>
                <a:ext cx="611582" cy="635410"/>
              </a:xfrm>
              <a:prstGeom prst="rect">
                <a:avLst/>
              </a:prstGeom>
            </p:spPr>
          </p:pic>
        </p:grpSp>
        <p:cxnSp>
          <p:nvCxnSpPr>
            <p:cNvPr id="56" name="Conector recto de flecha 55">
              <a:extLst>
                <a:ext uri="{FF2B5EF4-FFF2-40B4-BE49-F238E27FC236}">
                  <a16:creationId xmlns:a16="http://schemas.microsoft.com/office/drawing/2014/main" id="{19B2B865-A8EF-431C-9283-C054B2A80790}"/>
                </a:ext>
              </a:extLst>
            </p:cNvPr>
            <p:cNvCxnSpPr>
              <a:cxnSpLocks/>
            </p:cNvCxnSpPr>
            <p:nvPr/>
          </p:nvCxnSpPr>
          <p:spPr>
            <a:xfrm>
              <a:off x="2510790" y="2881313"/>
              <a:ext cx="1127760" cy="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548E2D51-F173-41C7-9022-D5EC2B06616B}"/>
                  </a:ext>
                </a:extLst>
              </p:cNvPr>
              <p:cNvSpPr txBox="1"/>
              <p:nvPr/>
            </p:nvSpPr>
            <p:spPr>
              <a:xfrm>
                <a:off x="3974709" y="2052180"/>
                <a:ext cx="7898344" cy="4415440"/>
              </a:xfrm>
              <a:prstGeom prst="rect">
                <a:avLst/>
              </a:prstGeom>
              <a:noFill/>
            </p:spPr>
            <p:txBody>
              <a:bodyPr wrap="square" rtlCol="0">
                <a:spAutoFit/>
              </a:bodyPr>
              <a:lstStyle/>
              <a:p>
                <a:r>
                  <a:rPr lang="es-MX" sz="2000" b="1" dirty="0">
                    <a:solidFill>
                      <a:srgbClr val="C00000"/>
                    </a:solidFill>
                    <a:ea typeface="Roboto" panose="02000000000000000000" pitchFamily="2" charset="0"/>
                  </a:rPr>
                  <a:t>Solución</a:t>
                </a:r>
                <a:r>
                  <a:rPr lang="es-MX" sz="2000" dirty="0">
                    <a:solidFill>
                      <a:srgbClr val="C00000"/>
                    </a:solidFill>
                    <a:ea typeface="Roboto" panose="02000000000000000000" pitchFamily="2" charset="0"/>
                  </a:rPr>
                  <a:t>: </a:t>
                </a:r>
                <a:r>
                  <a:rPr lang="es-MX" sz="2000" dirty="0">
                    <a:solidFill>
                      <a:schemeClr val="tx1"/>
                    </a:solidFill>
                    <a:ea typeface="Roboto" panose="02000000000000000000" pitchFamily="2" charset="0"/>
                  </a:rPr>
                  <a:t>Sean los conjuntos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oMath>
                </a14:m>
                <a:r>
                  <a:rPr lang="es-CO" sz="2000" dirty="0">
                    <a:solidFill>
                      <a:srgbClr val="C00000"/>
                    </a:solidFill>
                    <a:ea typeface="Roboto" panose="02000000000000000000" pitchFamily="2" charset="0"/>
                  </a:rPr>
                  <a:t> </a:t>
                </a:r>
                <a:r>
                  <a:rPr lang="es-CO" sz="2000" dirty="0">
                    <a:solidFill>
                      <a:schemeClr val="tx1"/>
                    </a:solidFill>
                    <a:ea typeface="Roboto" panose="02000000000000000000" pitchFamily="2" charset="0"/>
                  </a:rPr>
                  <a:t>y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oMath>
                </a14:m>
                <a:r>
                  <a:rPr lang="es-CO" sz="2000" dirty="0">
                    <a:solidFill>
                      <a:schemeClr val="tx1"/>
                    </a:solidFill>
                    <a:ea typeface="Roboto" panose="02000000000000000000" pitchFamily="2" charset="0"/>
                  </a:rPr>
                  <a:t> el conjunto asociado a los combos tenemos:</a:t>
                </a:r>
              </a:p>
              <a:p>
                <a:pPr marL="285750" indent="-285750">
                  <a:buFont typeface="Arial" panose="020B0604020202020204" pitchFamily="34" charset="0"/>
                  <a:buChar char="•"/>
                </a:pPr>
                <a14:m>
                  <m:oMath xmlns:m="http://schemas.openxmlformats.org/officeDocument/2006/math">
                    <m:r>
                      <a:rPr lang="es-MX" sz="1800" b="0" i="1" smtClean="0">
                        <a:solidFill>
                          <a:schemeClr val="tx1"/>
                        </a:solidFill>
                        <a:latin typeface="Cambria Math" panose="02040503050406030204" pitchFamily="18" charset="0"/>
                        <a:ea typeface="Roboto" panose="02000000000000000000" pitchFamily="2" charset="0"/>
                      </a:rPr>
                      <m:t>𝐴</m:t>
                    </m:r>
                    <m:r>
                      <a:rPr lang="es-MX" sz="1800" b="0" i="1" smtClean="0">
                        <a:solidFill>
                          <a:schemeClr val="tx1"/>
                        </a:solidFill>
                        <a:latin typeface="Cambria Math" panose="02040503050406030204" pitchFamily="18" charset="0"/>
                        <a:ea typeface="Roboto" panose="02000000000000000000" pitchFamily="2" charset="0"/>
                      </a:rPr>
                      <m:t>=</m:t>
                    </m:r>
                    <m:d>
                      <m:dPr>
                        <m:begChr m:val="{"/>
                        <m:endChr m:val="}"/>
                        <m:ctrlPr>
                          <a:rPr lang="es-MX" sz="1800" b="0" i="1" smtClean="0">
                            <a:solidFill>
                              <a:schemeClr val="tx1"/>
                            </a:solidFill>
                            <a:latin typeface="Cambria Math" panose="02040503050406030204" pitchFamily="18" charset="0"/>
                            <a:ea typeface="Roboto" panose="02000000000000000000" pitchFamily="2" charset="0"/>
                          </a:rPr>
                        </m:ctrlPr>
                      </m:dPr>
                      <m:e>
                        <m:r>
                          <a:rPr lang="es-MX" sz="1800" b="0" i="1" smtClean="0">
                            <a:solidFill>
                              <a:schemeClr val="tx1"/>
                            </a:solidFill>
                            <a:latin typeface="Cambria Math" panose="02040503050406030204" pitchFamily="18" charset="0"/>
                            <a:ea typeface="Roboto" panose="02000000000000000000" pitchFamily="2" charset="0"/>
                          </a:rPr>
                          <m:t>𝑥</m:t>
                        </m:r>
                      </m:e>
                      <m:e>
                        <m:r>
                          <a:rPr lang="es-MX" sz="1800" b="0" i="1" smtClean="0">
                            <a:solidFill>
                              <a:schemeClr val="tx1"/>
                            </a:solidFill>
                            <a:latin typeface="Cambria Math" panose="02040503050406030204" pitchFamily="18" charset="0"/>
                            <a:ea typeface="Roboto" panose="02000000000000000000" pitchFamily="2" charset="0"/>
                          </a:rPr>
                          <m:t>𝐶𝑜𝑙𝑜𝑟𝑃𝑟𝑖𝑚𝑎𝑟𝑖𝑜</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𝑥</m:t>
                        </m:r>
                        <m:r>
                          <a:rPr lang="es-MX" sz="1800" b="0" i="1" smtClean="0">
                            <a:solidFill>
                              <a:schemeClr val="tx1"/>
                            </a:solidFill>
                            <a:latin typeface="Cambria Math" panose="02040503050406030204" pitchFamily="18" charset="0"/>
                            <a:ea typeface="Roboto" panose="02000000000000000000" pitchFamily="2" charset="0"/>
                          </a:rPr>
                          <m:t>)</m:t>
                        </m:r>
                      </m:e>
                    </m:d>
                    <m:r>
                      <a:rPr lang="es-MX" sz="1800" b="0" i="1" smtClean="0">
                        <a:solidFill>
                          <a:schemeClr val="tx1"/>
                        </a:solidFill>
                        <a:latin typeface="Cambria Math" panose="02040503050406030204" pitchFamily="18" charset="0"/>
                        <a:ea typeface="Roboto" panose="02000000000000000000" pitchFamily="2" charset="0"/>
                      </a:rPr>
                      <m:t>=</m:t>
                    </m:r>
                    <m:d>
                      <m:dPr>
                        <m:begChr m:val="{"/>
                        <m:endChr m:val="}"/>
                        <m:ctrlPr>
                          <a:rPr lang="es-MX" sz="1800" b="0" i="1" smtClean="0">
                            <a:solidFill>
                              <a:schemeClr val="tx1"/>
                            </a:solidFill>
                            <a:latin typeface="Cambria Math" panose="02040503050406030204" pitchFamily="18" charset="0"/>
                            <a:ea typeface="Roboto" panose="02000000000000000000" pitchFamily="2" charset="0"/>
                          </a:rPr>
                        </m:ctrlPr>
                      </m:dPr>
                      <m:e>
                        <m:r>
                          <a:rPr lang="es-MX" sz="1800" b="0" i="1" smtClean="0">
                            <a:solidFill>
                              <a:schemeClr val="tx1"/>
                            </a:solidFill>
                            <a:latin typeface="Cambria Math" panose="02040503050406030204" pitchFamily="18" charset="0"/>
                            <a:ea typeface="Roboto" panose="02000000000000000000" pitchFamily="2" charset="0"/>
                          </a:rPr>
                          <m:t>𝑎𝑧𝑢𝑙</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𝑟𝑜𝑗𝑜</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𝑎𝑚𝑎𝑟𝑖𝑙𝑙𝑜</m:t>
                        </m:r>
                      </m:e>
                    </m:d>
                  </m:oMath>
                </a14:m>
                <a:endParaRPr lang="es-CO" sz="1800" dirty="0">
                  <a:solidFill>
                    <a:schemeClr val="tx1"/>
                  </a:solidFill>
                  <a:ea typeface="Roboto" panose="02000000000000000000" pitchFamily="2" charset="0"/>
                </a:endParaRPr>
              </a:p>
              <a:p>
                <a:pPr marL="285750" indent="-285750">
                  <a:buFont typeface="Arial" panose="020B0604020202020204" pitchFamily="34" charset="0"/>
                  <a:buChar char="•"/>
                </a:pPr>
                <a14:m>
                  <m:oMath xmlns:m="http://schemas.openxmlformats.org/officeDocument/2006/math">
                    <m:r>
                      <a:rPr lang="es-MX" sz="1800" b="0" i="1" smtClean="0">
                        <a:solidFill>
                          <a:schemeClr val="tx1"/>
                        </a:solidFill>
                        <a:latin typeface="Cambria Math" panose="02040503050406030204" pitchFamily="18" charset="0"/>
                        <a:ea typeface="Roboto" panose="02000000000000000000" pitchFamily="2" charset="0"/>
                      </a:rPr>
                      <m:t>𝐵</m:t>
                    </m:r>
                    <m:r>
                      <a:rPr lang="es-MX" sz="1800" i="1">
                        <a:solidFill>
                          <a:schemeClr val="tx1"/>
                        </a:solidFill>
                        <a:latin typeface="Cambria Math" panose="02040503050406030204" pitchFamily="18" charset="0"/>
                        <a:ea typeface="Roboto" panose="02000000000000000000" pitchFamily="2" charset="0"/>
                      </a:rPr>
                      <m:t>=</m:t>
                    </m:r>
                    <m:d>
                      <m:dPr>
                        <m:begChr m:val="{"/>
                        <m:endChr m:val="}"/>
                        <m:ctrlPr>
                          <a:rPr lang="es-MX" sz="1800" i="1">
                            <a:solidFill>
                              <a:schemeClr val="tx1"/>
                            </a:solidFill>
                            <a:latin typeface="Cambria Math" panose="02040503050406030204" pitchFamily="18" charset="0"/>
                            <a:ea typeface="Roboto" panose="02000000000000000000" pitchFamily="2" charset="0"/>
                          </a:rPr>
                        </m:ctrlPr>
                      </m:dPr>
                      <m:e>
                        <m:r>
                          <a:rPr lang="es-MX" sz="1800" b="0" i="1" smtClean="0">
                            <a:solidFill>
                              <a:schemeClr val="tx1"/>
                            </a:solidFill>
                            <a:latin typeface="Cambria Math" panose="02040503050406030204" pitchFamily="18" charset="0"/>
                            <a:ea typeface="Roboto" panose="02000000000000000000" pitchFamily="2" charset="0"/>
                          </a:rPr>
                          <m:t>𝑦</m:t>
                        </m:r>
                      </m:e>
                      <m:e>
                        <m:r>
                          <a:rPr lang="es-MX" sz="1800" i="1">
                            <a:solidFill>
                              <a:schemeClr val="tx1"/>
                            </a:solidFill>
                            <a:latin typeface="Cambria Math" panose="02040503050406030204" pitchFamily="18" charset="0"/>
                            <a:ea typeface="Roboto" panose="02000000000000000000" pitchFamily="2" charset="0"/>
                          </a:rPr>
                          <m:t>𝐶𝑜𝑙𝑜𝑟</m:t>
                        </m:r>
                        <m:r>
                          <a:rPr lang="es-MX" sz="1800" b="0" i="1" smtClean="0">
                            <a:solidFill>
                              <a:schemeClr val="tx1"/>
                            </a:solidFill>
                            <a:latin typeface="Cambria Math" panose="02040503050406030204" pitchFamily="18" charset="0"/>
                            <a:ea typeface="Roboto" panose="02000000000000000000" pitchFamily="2" charset="0"/>
                          </a:rPr>
                          <m:t>𝑆𝑒𝑐𝑢𝑛𝑑𝑎𝑟𝑖𝑜</m:t>
                        </m:r>
                        <m:r>
                          <a:rPr lang="es-MX" sz="1800" i="1">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𝑦</m:t>
                        </m:r>
                        <m:r>
                          <a:rPr lang="es-MX" sz="1800" i="1">
                            <a:solidFill>
                              <a:schemeClr val="tx1"/>
                            </a:solidFill>
                            <a:latin typeface="Cambria Math" panose="02040503050406030204" pitchFamily="18" charset="0"/>
                            <a:ea typeface="Roboto" panose="02000000000000000000" pitchFamily="2" charset="0"/>
                          </a:rPr>
                          <m:t>)</m:t>
                        </m:r>
                      </m:e>
                    </m:d>
                    <m:r>
                      <a:rPr lang="es-MX" sz="1800" b="0" i="1" smtClean="0">
                        <a:solidFill>
                          <a:schemeClr val="tx1"/>
                        </a:solidFill>
                        <a:latin typeface="Cambria Math" panose="02040503050406030204" pitchFamily="18" charset="0"/>
                        <a:ea typeface="Roboto" panose="02000000000000000000" pitchFamily="2" charset="0"/>
                      </a:rPr>
                      <m:t>=</m:t>
                    </m:r>
                    <m:d>
                      <m:dPr>
                        <m:begChr m:val="{"/>
                        <m:endChr m:val="}"/>
                        <m:ctrlPr>
                          <a:rPr lang="es-MX" sz="1800" i="1">
                            <a:solidFill>
                              <a:schemeClr val="tx1"/>
                            </a:solidFill>
                            <a:latin typeface="Cambria Math" panose="02040503050406030204" pitchFamily="18" charset="0"/>
                            <a:ea typeface="Roboto" panose="02000000000000000000" pitchFamily="2" charset="0"/>
                          </a:rPr>
                        </m:ctrlPr>
                      </m:dPr>
                      <m:e>
                        <m:r>
                          <a:rPr lang="es-MX" sz="1800" b="0" i="1" smtClean="0">
                            <a:solidFill>
                              <a:schemeClr val="tx1"/>
                            </a:solidFill>
                            <a:latin typeface="Cambria Math" panose="02040503050406030204" pitchFamily="18" charset="0"/>
                            <a:ea typeface="Roboto" panose="02000000000000000000" pitchFamily="2" charset="0"/>
                          </a:rPr>
                          <m:t>𝑣𝑒𝑟𝑑𝑒</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𝑚𝑜𝑟𝑎𝑑𝑜</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𝑛𝑎𝑟𝑎𝑛𝑑𝑎</m:t>
                        </m:r>
                      </m:e>
                    </m:d>
                  </m:oMath>
                </a14:m>
                <a:endParaRPr lang="es-CO" sz="1800" dirty="0">
                  <a:solidFill>
                    <a:schemeClr val="tx1"/>
                  </a:solidFill>
                  <a:ea typeface="Roboto" panose="02000000000000000000" pitchFamily="2" charset="0"/>
                </a:endParaRPr>
              </a:p>
              <a:p>
                <a:pPr marL="285750" indent="-285750">
                  <a:buFont typeface="Arial" panose="020B0604020202020204" pitchFamily="34" charset="0"/>
                  <a:buChar char="•"/>
                </a:pPr>
                <a:endParaRPr lang="es-CO" sz="1800" dirty="0">
                  <a:solidFill>
                    <a:schemeClr val="tx1"/>
                  </a:solidFill>
                  <a:ea typeface="Roboto" panose="02000000000000000000" pitchFamily="2" charset="0"/>
                </a:endParaRPr>
              </a:p>
              <a:p>
                <a:pPr marL="285750" indent="-285750">
                  <a:buFont typeface="Arial" panose="020B0604020202020204" pitchFamily="34" charset="0"/>
                  <a:buChar char="•"/>
                </a:pPr>
                <a14:m>
                  <m:oMath xmlns:m="http://schemas.openxmlformats.org/officeDocument/2006/math">
                    <m:r>
                      <a:rPr lang="es-MX" sz="1800" b="0" i="1" smtClean="0">
                        <a:solidFill>
                          <a:schemeClr val="tx1"/>
                        </a:solidFill>
                        <a:latin typeface="Cambria Math" panose="02040503050406030204" pitchFamily="18" charset="0"/>
                        <a:ea typeface="Roboto" panose="02000000000000000000" pitchFamily="2" charset="0"/>
                      </a:rPr>
                      <m:t>𝐴</m:t>
                    </m:r>
                    <m:r>
                      <a:rPr lang="es-MX" sz="1800" b="0" i="1" smtClean="0">
                        <a:solidFill>
                          <a:schemeClr val="tx1"/>
                        </a:solidFill>
                        <a:latin typeface="Cambria Math" panose="02040503050406030204" pitchFamily="18" charset="0"/>
                        <a:ea typeface="Roboto" panose="02000000000000000000" pitchFamily="2" charset="0"/>
                      </a:rPr>
                      <m:t>×</m:t>
                    </m:r>
                    <m:r>
                      <a:rPr lang="es-MX" sz="1800" i="1">
                        <a:solidFill>
                          <a:schemeClr val="tx1"/>
                        </a:solidFill>
                        <a:latin typeface="Cambria Math" panose="02040503050406030204" pitchFamily="18" charset="0"/>
                        <a:ea typeface="Roboto" panose="02000000000000000000" pitchFamily="2" charset="0"/>
                      </a:rPr>
                      <m:t>𝐵</m:t>
                    </m:r>
                    <m:r>
                      <a:rPr lang="es-MX" sz="1800" b="0" i="1" smtClean="0">
                        <a:solidFill>
                          <a:schemeClr val="tx1"/>
                        </a:solidFill>
                        <a:latin typeface="Cambria Math" panose="02040503050406030204" pitchFamily="18" charset="0"/>
                        <a:ea typeface="Roboto" panose="02000000000000000000" pitchFamily="2" charset="0"/>
                      </a:rPr>
                      <m:t>=</m:t>
                    </m:r>
                    <m:d>
                      <m:dPr>
                        <m:begChr m:val="{"/>
                        <m:endChr m:val="}"/>
                        <m:ctrlPr>
                          <a:rPr lang="es-MX" sz="1800" b="0" i="1" smtClean="0">
                            <a:solidFill>
                              <a:schemeClr val="tx1"/>
                            </a:solidFill>
                            <a:latin typeface="Cambria Math" panose="02040503050406030204" pitchFamily="18" charset="0"/>
                            <a:ea typeface="Roboto" panose="02000000000000000000" pitchFamily="2" charset="0"/>
                          </a:rPr>
                        </m:ctrlPr>
                      </m:dPr>
                      <m:e>
                        <m:eqArr>
                          <m:eqArrPr>
                            <m:ctrlPr>
                              <a:rPr lang="es-MX" sz="1800" i="1">
                                <a:latin typeface="Cambria Math" panose="02040503050406030204" pitchFamily="18" charset="0"/>
                              </a:rPr>
                            </m:ctrlPr>
                          </m:eqArrPr>
                          <m:e>
                            <m:d>
                              <m:dPr>
                                <m:ctrlPr>
                                  <a:rPr lang="es-MX" sz="1800" i="1">
                                    <a:latin typeface="Cambria Math" panose="02040503050406030204" pitchFamily="18" charset="0"/>
                                  </a:rPr>
                                </m:ctrlPr>
                              </m:dPr>
                              <m:e>
                                <m:r>
                                  <a:rPr lang="es-MX" sz="1800" i="1">
                                    <a:latin typeface="Cambria Math" panose="02040503050406030204" pitchFamily="18" charset="0"/>
                                  </a:rPr>
                                  <m:t>𝑎𝑧𝑢𝑙</m:t>
                                </m:r>
                                <m:r>
                                  <a:rPr lang="es-MX" sz="1800" i="1">
                                    <a:latin typeface="Cambria Math" panose="02040503050406030204" pitchFamily="18" charset="0"/>
                                  </a:rPr>
                                  <m:t>,</m:t>
                                </m:r>
                                <m:r>
                                  <a:rPr lang="es-MX" sz="1800" i="1">
                                    <a:latin typeface="Cambria Math" panose="02040503050406030204" pitchFamily="18" charset="0"/>
                                  </a:rPr>
                                  <m:t>𝑣𝑒𝑟𝑑𝑒</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𝑎𝑧𝑢𝑙</m:t>
                                </m:r>
                                <m:r>
                                  <a:rPr lang="es-MX" sz="1800" i="1">
                                    <a:latin typeface="Cambria Math" panose="02040503050406030204" pitchFamily="18" charset="0"/>
                                  </a:rPr>
                                  <m:t>,</m:t>
                                </m:r>
                                <m:r>
                                  <a:rPr lang="es-MX" sz="1800" i="1">
                                    <a:latin typeface="Cambria Math" panose="02040503050406030204" pitchFamily="18" charset="0"/>
                                  </a:rPr>
                                  <m:t>𝑚𝑜𝑟𝑎𝑑𝑜</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𝑎𝑧𝑢𝑙</m:t>
                                </m:r>
                                <m:r>
                                  <a:rPr lang="es-MX" sz="1800" i="1">
                                    <a:latin typeface="Cambria Math" panose="02040503050406030204" pitchFamily="18" charset="0"/>
                                  </a:rPr>
                                  <m:t>,</m:t>
                                </m:r>
                                <m:r>
                                  <a:rPr lang="es-MX" sz="1800" b="0" i="1" smtClean="0">
                                    <a:latin typeface="Cambria Math" panose="02040503050406030204" pitchFamily="18" charset="0"/>
                                  </a:rPr>
                                  <m:t>𝑛𝑎𝑟𝑎𝑛𝑗𝑎</m:t>
                                </m:r>
                              </m:e>
                            </m:d>
                            <m:r>
                              <a:rPr lang="es-MX" sz="1800" b="0" i="1" smtClean="0">
                                <a:latin typeface="Cambria Math" panose="02040503050406030204" pitchFamily="18" charset="0"/>
                              </a:rPr>
                              <m:t>,</m:t>
                            </m:r>
                          </m:e>
                          <m:e>
                            <m:d>
                              <m:dPr>
                                <m:ctrlPr>
                                  <a:rPr lang="es-MX" sz="1800" i="1">
                                    <a:latin typeface="Cambria Math" panose="02040503050406030204" pitchFamily="18" charset="0"/>
                                  </a:rPr>
                                </m:ctrlPr>
                              </m:dPr>
                              <m:e>
                                <m:r>
                                  <a:rPr lang="es-MX" sz="1800" i="1">
                                    <a:latin typeface="Cambria Math" panose="02040503050406030204" pitchFamily="18" charset="0"/>
                                  </a:rPr>
                                  <m:t>𝑟𝑜𝑗𝑜</m:t>
                                </m:r>
                                <m:r>
                                  <a:rPr lang="es-MX" sz="1800" i="1">
                                    <a:latin typeface="Cambria Math" panose="02040503050406030204" pitchFamily="18" charset="0"/>
                                  </a:rPr>
                                  <m:t>,</m:t>
                                </m:r>
                                <m:r>
                                  <a:rPr lang="es-MX" sz="1800" b="0" i="1" smtClean="0">
                                    <a:latin typeface="Cambria Math" panose="02040503050406030204" pitchFamily="18" charset="0"/>
                                  </a:rPr>
                                  <m:t>𝑣𝑒𝑟𝑑𝑒</m:t>
                                </m:r>
                              </m:e>
                            </m:d>
                            <m:r>
                              <a:rPr lang="es-MX" sz="1800" b="0" i="1" smtClean="0">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𝑟𝑜𝑗𝑜</m:t>
                                </m:r>
                                <m:r>
                                  <a:rPr lang="es-MX" sz="1800" i="1">
                                    <a:latin typeface="Cambria Math" panose="02040503050406030204" pitchFamily="18" charset="0"/>
                                  </a:rPr>
                                  <m:t>,</m:t>
                                </m:r>
                                <m:r>
                                  <a:rPr lang="es-MX" sz="1800" i="1">
                                    <a:latin typeface="Cambria Math" panose="02040503050406030204" pitchFamily="18" charset="0"/>
                                  </a:rPr>
                                  <m:t>𝑚𝑜𝑟𝑎𝑑𝑜</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𝑟𝑜𝑗𝑜</m:t>
                                </m:r>
                                <m:r>
                                  <a:rPr lang="es-MX" sz="1800" i="1">
                                    <a:latin typeface="Cambria Math" panose="02040503050406030204" pitchFamily="18" charset="0"/>
                                  </a:rPr>
                                  <m:t>,</m:t>
                                </m:r>
                                <m:r>
                                  <a:rPr lang="es-MX" sz="1800" i="1">
                                    <a:latin typeface="Cambria Math" panose="02040503050406030204" pitchFamily="18" charset="0"/>
                                  </a:rPr>
                                  <m:t>𝑛𝑎𝑟𝑎𝑛𝑗𝑎</m:t>
                                </m:r>
                              </m:e>
                            </m:d>
                            <m:r>
                              <a:rPr lang="es-MX" sz="1800" i="1">
                                <a:latin typeface="Cambria Math" panose="02040503050406030204" pitchFamily="18" charset="0"/>
                              </a:rPr>
                              <m:t>,</m:t>
                            </m:r>
                          </m:e>
                          <m:e>
                            <m:d>
                              <m:dPr>
                                <m:ctrlPr>
                                  <a:rPr lang="es-MX" sz="1800" i="1">
                                    <a:latin typeface="Cambria Math" panose="02040503050406030204" pitchFamily="18" charset="0"/>
                                  </a:rPr>
                                </m:ctrlPr>
                              </m:dPr>
                              <m:e>
                                <m:r>
                                  <a:rPr lang="es-MX" sz="1800" i="1">
                                    <a:latin typeface="Cambria Math" panose="02040503050406030204" pitchFamily="18" charset="0"/>
                                  </a:rPr>
                                  <m:t>𝑎𝑚𝑎𝑟𝑖𝑙𝑙𝑜</m:t>
                                </m:r>
                                <m:r>
                                  <a:rPr lang="es-MX" sz="1800" i="1">
                                    <a:latin typeface="Cambria Math" panose="02040503050406030204" pitchFamily="18" charset="0"/>
                                  </a:rPr>
                                  <m:t>,</m:t>
                                </m:r>
                                <m:r>
                                  <a:rPr lang="es-MX" sz="1800" i="1">
                                    <a:latin typeface="Cambria Math" panose="02040503050406030204" pitchFamily="18" charset="0"/>
                                  </a:rPr>
                                  <m:t>𝑣𝑒𝑟𝑑𝑒</m:t>
                                </m:r>
                              </m:e>
                            </m:d>
                            <m:r>
                              <a:rPr lang="es-MX" sz="1800" b="0" i="1" smtClean="0">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𝑎𝑚𝑎𝑟𝑖𝑙𝑙𝑜</m:t>
                                </m:r>
                                <m:r>
                                  <a:rPr lang="es-MX" sz="1800" i="1">
                                    <a:latin typeface="Cambria Math" panose="02040503050406030204" pitchFamily="18" charset="0"/>
                                  </a:rPr>
                                  <m:t>,</m:t>
                                </m:r>
                                <m:r>
                                  <a:rPr lang="es-MX" sz="1800" b="0" i="1" smtClean="0">
                                    <a:latin typeface="Cambria Math" panose="02040503050406030204" pitchFamily="18" charset="0"/>
                                  </a:rPr>
                                  <m:t>𝑚𝑜𝑟𝑎𝑑𝑜</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𝑎𝑚𝑎𝑟𝑖𝑙𝑙𝑜</m:t>
                                </m:r>
                                <m:r>
                                  <a:rPr lang="es-MX" sz="1800" i="1">
                                    <a:latin typeface="Cambria Math" panose="02040503050406030204" pitchFamily="18" charset="0"/>
                                  </a:rPr>
                                  <m:t>,</m:t>
                                </m:r>
                                <m:r>
                                  <a:rPr lang="es-MX" sz="1800" i="1">
                                    <a:latin typeface="Cambria Math" panose="02040503050406030204" pitchFamily="18" charset="0"/>
                                  </a:rPr>
                                  <m:t>𝑛𝑎𝑟𝑎𝑛𝑗𝑎</m:t>
                                </m:r>
                              </m:e>
                            </m:d>
                          </m:e>
                        </m:eqArr>
                      </m:e>
                    </m:d>
                  </m:oMath>
                </a14:m>
                <a:endParaRPr lang="es-MX" sz="1800" b="0" dirty="0">
                  <a:solidFill>
                    <a:schemeClr val="tx1"/>
                  </a:solidFill>
                  <a:ea typeface="Roboto" panose="02000000000000000000" pitchFamily="2" charset="0"/>
                </a:endParaRPr>
              </a:p>
              <a:p>
                <a:endParaRPr lang="es-MX" sz="1800" dirty="0">
                  <a:solidFill>
                    <a:schemeClr val="tx1"/>
                  </a:solidFill>
                  <a:ea typeface="Roboto" panose="02000000000000000000" pitchFamily="2" charset="0"/>
                </a:endParaRPr>
              </a:p>
              <a:p>
                <a:r>
                  <a:rPr lang="es-MX" sz="1800" dirty="0">
                    <a:solidFill>
                      <a:schemeClr val="tx1"/>
                    </a:solidFill>
                    <a:ea typeface="Roboto" panose="02000000000000000000" pitchFamily="2" charset="0"/>
                  </a:rPr>
                  <a:t>Al definir la relación </a:t>
                </a:r>
                <a14:m>
                  <m:oMath xmlns:m="http://schemas.openxmlformats.org/officeDocument/2006/math">
                    <m:r>
                      <a:rPr lang="es-MX" sz="1800" b="0" i="1" smtClean="0">
                        <a:solidFill>
                          <a:schemeClr val="tx1"/>
                        </a:solidFill>
                        <a:latin typeface="Cambria Math" panose="02040503050406030204" pitchFamily="18" charset="0"/>
                        <a:ea typeface="Roboto" panose="02000000000000000000" pitchFamily="2" charset="0"/>
                      </a:rPr>
                      <m:t>𝑃</m:t>
                    </m:r>
                    <m:d>
                      <m:dPr>
                        <m:ctrlPr>
                          <a:rPr lang="es-MX" sz="1800" b="0" i="1" smtClean="0">
                            <a:solidFill>
                              <a:schemeClr val="tx1"/>
                            </a:solidFill>
                            <a:latin typeface="Cambria Math" panose="02040503050406030204" pitchFamily="18" charset="0"/>
                            <a:ea typeface="Roboto" panose="02000000000000000000" pitchFamily="2" charset="0"/>
                          </a:rPr>
                        </m:ctrlPr>
                      </m:dPr>
                      <m:e>
                        <m:r>
                          <a:rPr lang="es-MX" sz="1800" b="0" i="1" smtClean="0">
                            <a:solidFill>
                              <a:schemeClr val="tx1"/>
                            </a:solidFill>
                            <a:latin typeface="Cambria Math" panose="02040503050406030204" pitchFamily="18" charset="0"/>
                            <a:ea typeface="Roboto" panose="02000000000000000000" pitchFamily="2" charset="0"/>
                          </a:rPr>
                          <m:t>𝑥</m:t>
                        </m:r>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𝑦</m:t>
                        </m:r>
                      </m:e>
                    </m:d>
                    <m:r>
                      <a:rPr lang="es-MX" sz="1800" b="0" i="1" smtClean="0">
                        <a:solidFill>
                          <a:schemeClr val="tx1"/>
                        </a:solidFill>
                        <a:latin typeface="Cambria Math" panose="02040503050406030204" pitchFamily="18" charset="0"/>
                        <a:ea typeface="Roboto" panose="02000000000000000000" pitchFamily="2" charset="0"/>
                      </a:rPr>
                      <m:t>:</m:t>
                    </m:r>
                    <m:r>
                      <a:rPr lang="es-MX" sz="1800" b="0" i="1" smtClean="0">
                        <a:solidFill>
                          <a:schemeClr val="tx1"/>
                        </a:solidFill>
                        <a:latin typeface="Cambria Math" panose="02040503050406030204" pitchFamily="18" charset="0"/>
                        <a:ea typeface="Roboto" panose="02000000000000000000" pitchFamily="2" charset="0"/>
                      </a:rPr>
                      <m:t>𝑥</m:t>
                    </m:r>
                    <m:r>
                      <a:rPr lang="es-MX" sz="1800" b="0" i="1" smtClean="0">
                        <a:solidFill>
                          <a:schemeClr val="tx1"/>
                        </a:solidFill>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ea typeface="Roboto" panose="02000000000000000000" pitchFamily="2" charset="0"/>
                      </a:rPr>
                      <m:t>es</m:t>
                    </m:r>
                    <m:r>
                      <a:rPr lang="es-MX" sz="1800" b="0" i="0" smtClean="0">
                        <a:solidFill>
                          <a:schemeClr val="tx1"/>
                        </a:solidFill>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ea typeface="Roboto" panose="02000000000000000000" pitchFamily="2" charset="0"/>
                      </a:rPr>
                      <m:t>un</m:t>
                    </m:r>
                    <m:r>
                      <a:rPr lang="es-MX" sz="1800" b="0" i="0" smtClean="0">
                        <a:solidFill>
                          <a:schemeClr val="tx1"/>
                        </a:solidFill>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ea typeface="Roboto" panose="02000000000000000000" pitchFamily="2" charset="0"/>
                      </a:rPr>
                      <m:t>componente</m:t>
                    </m:r>
                    <m:r>
                      <a:rPr lang="es-MX" sz="1800" b="0" i="0" smtClean="0">
                        <a:solidFill>
                          <a:schemeClr val="tx1"/>
                        </a:solidFill>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ea typeface="Roboto" panose="02000000000000000000" pitchFamily="2" charset="0"/>
                      </a:rPr>
                      <m:t>de</m:t>
                    </m:r>
                    <m:r>
                      <a:rPr lang="es-MX" sz="1800" b="0" i="0" smtClean="0">
                        <a:solidFill>
                          <a:schemeClr val="tx1"/>
                        </a:solidFill>
                        <a:latin typeface="Cambria Math" panose="02040503050406030204" pitchFamily="18" charset="0"/>
                        <a:ea typeface="Roboto" panose="02000000000000000000" pitchFamily="2" charset="0"/>
                      </a:rPr>
                      <m:t> </m:t>
                    </m:r>
                    <m:r>
                      <a:rPr lang="es-MX" sz="1800" b="0" i="1" smtClean="0">
                        <a:solidFill>
                          <a:schemeClr val="tx1"/>
                        </a:solidFill>
                        <a:latin typeface="Cambria Math" panose="02040503050406030204" pitchFamily="18" charset="0"/>
                        <a:ea typeface="Roboto" panose="02000000000000000000" pitchFamily="2" charset="0"/>
                      </a:rPr>
                      <m:t>𝑦</m:t>
                    </m:r>
                  </m:oMath>
                </a14:m>
                <a:r>
                  <a:rPr lang="es-MX" sz="1800" dirty="0">
                    <a:solidFill>
                      <a:schemeClr val="tx1"/>
                    </a:solidFill>
                    <a:ea typeface="Roboto" panose="02000000000000000000" pitchFamily="2" charset="0"/>
                  </a:rPr>
                  <a:t> tenemos que la relación </a:t>
                </a:r>
                <a14:m>
                  <m:oMath xmlns:m="http://schemas.openxmlformats.org/officeDocument/2006/math">
                    <m:r>
                      <a:rPr lang="es-MX" sz="1800" b="0" i="1" smtClean="0">
                        <a:solidFill>
                          <a:schemeClr val="tx1"/>
                        </a:solidFill>
                        <a:latin typeface="Cambria Math" panose="02040503050406030204" pitchFamily="18" charset="0"/>
                        <a:ea typeface="Roboto" panose="02000000000000000000" pitchFamily="2" charset="0"/>
                      </a:rPr>
                      <m:t>𝑅</m:t>
                    </m:r>
                    <m:d>
                      <m:dPr>
                        <m:ctrlPr>
                          <a:rPr lang="es-MX" sz="1800" i="1">
                            <a:solidFill>
                              <a:schemeClr val="tx1"/>
                            </a:solidFill>
                            <a:latin typeface="Cambria Math" panose="02040503050406030204" pitchFamily="18" charset="0"/>
                            <a:ea typeface="Roboto" panose="02000000000000000000" pitchFamily="2" charset="0"/>
                          </a:rPr>
                        </m:ctrlPr>
                      </m:dPr>
                      <m:e>
                        <m:r>
                          <a:rPr lang="es-MX" sz="1800" i="1">
                            <a:solidFill>
                              <a:schemeClr val="tx1"/>
                            </a:solidFill>
                            <a:latin typeface="Cambria Math" panose="02040503050406030204" pitchFamily="18" charset="0"/>
                            <a:ea typeface="Roboto" panose="02000000000000000000" pitchFamily="2" charset="0"/>
                          </a:rPr>
                          <m:t>𝑥</m:t>
                        </m:r>
                        <m:r>
                          <a:rPr lang="es-MX" sz="1800" i="1">
                            <a:solidFill>
                              <a:schemeClr val="tx1"/>
                            </a:solidFill>
                            <a:latin typeface="Cambria Math" panose="02040503050406030204" pitchFamily="18" charset="0"/>
                            <a:ea typeface="Roboto" panose="02000000000000000000" pitchFamily="2" charset="0"/>
                          </a:rPr>
                          <m:t>,</m:t>
                        </m:r>
                        <m:r>
                          <a:rPr lang="es-MX" sz="1800" i="1">
                            <a:solidFill>
                              <a:schemeClr val="tx1"/>
                            </a:solidFill>
                            <a:latin typeface="Cambria Math" panose="02040503050406030204" pitchFamily="18" charset="0"/>
                            <a:ea typeface="Roboto" panose="02000000000000000000" pitchFamily="2" charset="0"/>
                          </a:rPr>
                          <m:t>𝑦</m:t>
                        </m:r>
                      </m:e>
                    </m:d>
                    <m:r>
                      <a:rPr lang="es-MX" sz="1800" i="1">
                        <a:solidFill>
                          <a:schemeClr val="tx1"/>
                        </a:solidFill>
                        <a:latin typeface="Cambria Math" panose="02040503050406030204" pitchFamily="18" charset="0"/>
                        <a:ea typeface="Roboto" panose="02000000000000000000" pitchFamily="2" charset="0"/>
                      </a:rPr>
                      <m:t> </m:t>
                    </m:r>
                  </m:oMath>
                </a14:m>
                <a:r>
                  <a:rPr lang="es-MX" sz="1800" dirty="0">
                    <a:solidFill>
                      <a:schemeClr val="tx1"/>
                    </a:solidFill>
                    <a:ea typeface="Roboto" panose="02000000000000000000" pitchFamily="2" charset="0"/>
                  </a:rPr>
                  <a:t>se puede representar como:</a:t>
                </a:r>
              </a:p>
              <a:p>
                <a:endParaRPr lang="es-MX" sz="1800" b="0" dirty="0">
                  <a:solidFill>
                    <a:schemeClr val="tx1"/>
                  </a:solidFill>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1800" i="1">
                          <a:latin typeface="Cambria Math" panose="02040503050406030204" pitchFamily="18" charset="0"/>
                        </a:rPr>
                        <m:t>𝑅</m:t>
                      </m:r>
                      <m:r>
                        <a:rPr lang="es-MX" sz="1800" i="1">
                          <a:latin typeface="Cambria Math" panose="02040503050406030204" pitchFamily="18" charset="0"/>
                        </a:rPr>
                        <m:t>=</m:t>
                      </m:r>
                      <m:d>
                        <m:dPr>
                          <m:begChr m:val="{"/>
                          <m:endChr m:val="}"/>
                          <m:ctrlPr>
                            <a:rPr lang="es-MX" sz="1800" i="1">
                              <a:latin typeface="Cambria Math" panose="02040503050406030204" pitchFamily="18" charset="0"/>
                            </a:rPr>
                          </m:ctrlPr>
                        </m:dPr>
                        <m:e>
                          <m:eqArr>
                            <m:eqArrPr>
                              <m:ctrlPr>
                                <a:rPr lang="es-MX" sz="1800" i="1">
                                  <a:latin typeface="Cambria Math" panose="02040503050406030204" pitchFamily="18" charset="0"/>
                                </a:rPr>
                              </m:ctrlPr>
                            </m:eqArrPr>
                            <m:e>
                              <m:d>
                                <m:dPr>
                                  <m:ctrlPr>
                                    <a:rPr lang="es-MX" sz="1800" i="1">
                                      <a:latin typeface="Cambria Math" panose="02040503050406030204" pitchFamily="18" charset="0"/>
                                    </a:rPr>
                                  </m:ctrlPr>
                                </m:dPr>
                                <m:e>
                                  <m:r>
                                    <a:rPr lang="es-MX" sz="1800" i="1">
                                      <a:latin typeface="Cambria Math" panose="02040503050406030204" pitchFamily="18" charset="0"/>
                                    </a:rPr>
                                    <m:t>𝑎𝑧𝑢𝑙</m:t>
                                  </m:r>
                                  <m:r>
                                    <a:rPr lang="es-MX" sz="1800" i="1">
                                      <a:latin typeface="Cambria Math" panose="02040503050406030204" pitchFamily="18" charset="0"/>
                                    </a:rPr>
                                    <m:t>,</m:t>
                                  </m:r>
                                  <m:r>
                                    <a:rPr lang="es-MX" sz="1800" i="1">
                                      <a:latin typeface="Cambria Math" panose="02040503050406030204" pitchFamily="18" charset="0"/>
                                    </a:rPr>
                                    <m:t>𝑣𝑒𝑟𝑑𝑒</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𝑎𝑧𝑢𝑙</m:t>
                                  </m:r>
                                  <m:r>
                                    <a:rPr lang="es-MX" sz="1800" i="1">
                                      <a:latin typeface="Cambria Math" panose="02040503050406030204" pitchFamily="18" charset="0"/>
                                    </a:rPr>
                                    <m:t>,</m:t>
                                  </m:r>
                                  <m:r>
                                    <a:rPr lang="es-MX" sz="1800" i="1">
                                      <a:latin typeface="Cambria Math" panose="02040503050406030204" pitchFamily="18" charset="0"/>
                                    </a:rPr>
                                    <m:t>𝑚𝑜𝑟𝑎𝑑𝑜</m:t>
                                  </m:r>
                                </m:e>
                              </m:d>
                              <m:r>
                                <a:rPr lang="es-MX" sz="1800" i="1">
                                  <a:latin typeface="Cambria Math" panose="02040503050406030204" pitchFamily="18" charset="0"/>
                                </a:rPr>
                                <m:t>,</m:t>
                              </m:r>
                            </m:e>
                            <m:e>
                              <m:eqArr>
                                <m:eqArrPr>
                                  <m:ctrlPr>
                                    <a:rPr lang="es-MX" sz="1800" i="1">
                                      <a:latin typeface="Cambria Math" panose="02040503050406030204" pitchFamily="18" charset="0"/>
                                    </a:rPr>
                                  </m:ctrlPr>
                                </m:eqArrPr>
                                <m:e>
                                  <m:d>
                                    <m:dPr>
                                      <m:ctrlPr>
                                        <a:rPr lang="es-MX" sz="1800" i="1">
                                          <a:latin typeface="Cambria Math" panose="02040503050406030204" pitchFamily="18" charset="0"/>
                                        </a:rPr>
                                      </m:ctrlPr>
                                    </m:dPr>
                                    <m:e>
                                      <m:r>
                                        <a:rPr lang="es-MX" sz="1800" i="1">
                                          <a:latin typeface="Cambria Math" panose="02040503050406030204" pitchFamily="18" charset="0"/>
                                        </a:rPr>
                                        <m:t>𝑟𝑜𝑗𝑜</m:t>
                                      </m:r>
                                      <m:r>
                                        <a:rPr lang="es-MX" sz="1800" i="1">
                                          <a:latin typeface="Cambria Math" panose="02040503050406030204" pitchFamily="18" charset="0"/>
                                        </a:rPr>
                                        <m:t>,</m:t>
                                      </m:r>
                                      <m:r>
                                        <a:rPr lang="es-MX" sz="1800" i="1">
                                          <a:latin typeface="Cambria Math" panose="02040503050406030204" pitchFamily="18" charset="0"/>
                                        </a:rPr>
                                        <m:t>𝑚𝑜𝑟𝑎𝑑𝑜</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𝑟𝑜𝑗𝑜</m:t>
                                      </m:r>
                                      <m:r>
                                        <a:rPr lang="es-MX" sz="1800" i="1">
                                          <a:latin typeface="Cambria Math" panose="02040503050406030204" pitchFamily="18" charset="0"/>
                                        </a:rPr>
                                        <m:t>,</m:t>
                                      </m:r>
                                      <m:r>
                                        <a:rPr lang="es-MX" sz="1800" i="1">
                                          <a:latin typeface="Cambria Math" panose="02040503050406030204" pitchFamily="18" charset="0"/>
                                        </a:rPr>
                                        <m:t>𝑛𝑎𝑟𝑎𝑛𝑗𝑎</m:t>
                                      </m:r>
                                    </m:e>
                                  </m:d>
                                  <m:r>
                                    <a:rPr lang="es-MX" sz="1800" i="1">
                                      <a:latin typeface="Cambria Math" panose="02040503050406030204" pitchFamily="18" charset="0"/>
                                    </a:rPr>
                                    <m:t>,</m:t>
                                  </m:r>
                                </m:e>
                                <m:e>
                                  <m:d>
                                    <m:dPr>
                                      <m:ctrlPr>
                                        <a:rPr lang="es-MX" sz="1800" i="1">
                                          <a:latin typeface="Cambria Math" panose="02040503050406030204" pitchFamily="18" charset="0"/>
                                        </a:rPr>
                                      </m:ctrlPr>
                                    </m:dPr>
                                    <m:e>
                                      <m:r>
                                        <a:rPr lang="es-MX" sz="1800" i="1">
                                          <a:latin typeface="Cambria Math" panose="02040503050406030204" pitchFamily="18" charset="0"/>
                                        </a:rPr>
                                        <m:t>𝑎𝑚𝑎𝑟𝑖𝑙𝑙𝑜</m:t>
                                      </m:r>
                                      <m:r>
                                        <a:rPr lang="es-MX" sz="1800" i="1">
                                          <a:latin typeface="Cambria Math" panose="02040503050406030204" pitchFamily="18" charset="0"/>
                                        </a:rPr>
                                        <m:t>,</m:t>
                                      </m:r>
                                      <m:r>
                                        <a:rPr lang="es-MX" sz="1800" i="1">
                                          <a:latin typeface="Cambria Math" panose="02040503050406030204" pitchFamily="18" charset="0"/>
                                        </a:rPr>
                                        <m:t>𝑣𝑒𝑟𝑑𝑒</m:t>
                                      </m:r>
                                    </m:e>
                                  </m:d>
                                  <m:r>
                                    <a:rPr lang="es-MX" sz="1800" i="1">
                                      <a:latin typeface="Cambria Math" panose="02040503050406030204" pitchFamily="18" charset="0"/>
                                    </a:rPr>
                                    <m:t>,</m:t>
                                  </m:r>
                                  <m:d>
                                    <m:dPr>
                                      <m:ctrlPr>
                                        <a:rPr lang="es-MX" sz="1800" i="1">
                                          <a:latin typeface="Cambria Math" panose="02040503050406030204" pitchFamily="18" charset="0"/>
                                        </a:rPr>
                                      </m:ctrlPr>
                                    </m:dPr>
                                    <m:e>
                                      <m:r>
                                        <a:rPr lang="es-MX" sz="1800" i="1">
                                          <a:latin typeface="Cambria Math" panose="02040503050406030204" pitchFamily="18" charset="0"/>
                                        </a:rPr>
                                        <m:t>𝑎𝑚𝑎𝑟𝑖𝑙𝑙𝑜</m:t>
                                      </m:r>
                                      <m:r>
                                        <a:rPr lang="es-MX" sz="1800" i="1">
                                          <a:latin typeface="Cambria Math" panose="02040503050406030204" pitchFamily="18" charset="0"/>
                                        </a:rPr>
                                        <m:t>,</m:t>
                                      </m:r>
                                      <m:r>
                                        <a:rPr lang="es-MX" sz="1800" i="1">
                                          <a:latin typeface="Cambria Math" panose="02040503050406030204" pitchFamily="18" charset="0"/>
                                        </a:rPr>
                                        <m:t>𝑛𝑎𝑟𝑎𝑛𝑗𝑎</m:t>
                                      </m:r>
                                    </m:e>
                                  </m:d>
                                </m:e>
                              </m:eqArr>
                            </m:e>
                          </m:eqArr>
                        </m:e>
                      </m:d>
                    </m:oMath>
                  </m:oMathPara>
                </a14:m>
                <a:endParaRPr lang="es-CO" sz="1800" dirty="0">
                  <a:solidFill>
                    <a:schemeClr val="tx1"/>
                  </a:solidFill>
                  <a:ea typeface="Roboto" panose="02000000000000000000" pitchFamily="2" charset="0"/>
                </a:endParaRPr>
              </a:p>
            </p:txBody>
          </p:sp>
        </mc:Choice>
        <mc:Fallback>
          <p:sp>
            <p:nvSpPr>
              <p:cNvPr id="70" name="CuadroTexto 69">
                <a:extLst>
                  <a:ext uri="{FF2B5EF4-FFF2-40B4-BE49-F238E27FC236}">
                    <a16:creationId xmlns:a16="http://schemas.microsoft.com/office/drawing/2014/main" id="{548E2D51-F173-41C7-9022-D5EC2B06616B}"/>
                  </a:ext>
                </a:extLst>
              </p:cNvPr>
              <p:cNvSpPr txBox="1">
                <a:spLocks noRot="1" noChangeAspect="1" noMove="1" noResize="1" noEditPoints="1" noAdjustHandles="1" noChangeArrowheads="1" noChangeShapeType="1" noTextEdit="1"/>
              </p:cNvSpPr>
              <p:nvPr/>
            </p:nvSpPr>
            <p:spPr>
              <a:xfrm>
                <a:off x="3974709" y="2052180"/>
                <a:ext cx="7898344" cy="4415440"/>
              </a:xfrm>
              <a:prstGeom prst="rect">
                <a:avLst/>
              </a:prstGeom>
              <a:blipFill>
                <a:blip r:embed="rId11"/>
                <a:stretch>
                  <a:fillRect l="-772" t="-829"/>
                </a:stretch>
              </a:blipFill>
            </p:spPr>
            <p:txBody>
              <a:bodyPr/>
              <a:lstStyle/>
              <a:p>
                <a:r>
                  <a:rPr lang="es-CO">
                    <a:noFill/>
                  </a:rPr>
                  <a:t> </a:t>
                </a:r>
              </a:p>
            </p:txBody>
          </p:sp>
        </mc:Fallback>
      </mc:AlternateContent>
    </p:spTree>
    <p:extLst>
      <p:ext uri="{BB962C8B-B14F-4D97-AF65-F5344CB8AC3E}">
        <p14:creationId xmlns:p14="http://schemas.microsoft.com/office/powerpoint/2010/main" val="4132676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09733" y="96038"/>
            <a:ext cx="881091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09732" y="750087"/>
            <a:ext cx="10008886"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a:t>
            </a:r>
            <a:r>
              <a:rPr lang="es-MX" b="1" dirty="0">
                <a:solidFill>
                  <a:schemeClr val="tx1"/>
                </a:solidFill>
              </a:rPr>
              <a:t> 2</a:t>
            </a:r>
            <a:endParaRPr lang="es-MX" dirty="0">
              <a:solidFill>
                <a:schemeClr val="tx1"/>
              </a:solidFill>
            </a:endParaRPr>
          </a:p>
          <a:p>
            <a:pPr marL="0" indent="0">
              <a:buFont typeface="Roboto"/>
              <a:buNone/>
            </a:pPr>
            <a:endParaRPr lang="es-MX" sz="2400" dirty="0">
              <a:solidFill>
                <a:schemeClr val="tx1"/>
              </a:solidFill>
            </a:endParaRPr>
          </a:p>
          <a:p>
            <a:pPr indent="0">
              <a:buFont typeface="Roboto"/>
              <a:buNone/>
            </a:pPr>
            <a:endParaRPr lang="es-MX" sz="2400" dirty="0">
              <a:solidFill>
                <a:schemeClr val="tx1"/>
              </a:solidFill>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09732" y="1289160"/>
                <a:ext cx="11372536" cy="129183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={0,1,2}</m:t>
                    </m:r>
                  </m:oMath>
                </a14:m>
                <a:r>
                  <a:rPr lang="es-MX" sz="2000" dirty="0">
                    <a:latin typeface="+mn-lt"/>
                    <a:ea typeface="Roboto" panose="02000000000000000000" pitchFamily="2" charset="0"/>
                  </a:rPr>
                  <a:t> y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oMath>
                </a14:m>
                <a:r>
                  <a:rPr lang="es-MX" sz="2000" dirty="0">
                    <a:latin typeface="+mn-lt"/>
                    <a:ea typeface="Roboto" panose="02000000000000000000" pitchFamily="2" charset="0"/>
                  </a:rPr>
                  <a:t>. Entonces, </a:t>
                </a:r>
                <a14:m>
                  <m:oMath xmlns:m="http://schemas.openxmlformats.org/officeDocument/2006/math">
                    <m:d>
                      <m:dPr>
                        <m:begChr m:val="{"/>
                        <m:endChr m:val="}"/>
                        <m:ctrlPr>
                          <a:rPr lang="es-MX" sz="2000" i="1">
                            <a:solidFill>
                              <a:schemeClr val="tx1"/>
                            </a:solidFill>
                            <a:latin typeface="Cambria Math" panose="02040503050406030204" pitchFamily="18" charset="0"/>
                            <a:ea typeface="Roboto" panose="02000000000000000000" pitchFamily="2" charset="0"/>
                          </a:rPr>
                        </m:ctrlPr>
                      </m:dPr>
                      <m:e>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0,</m:t>
                            </m:r>
                            <m:r>
                              <a:rPr lang="es-MX" sz="2000" b="0" i="1" smtClean="0">
                                <a:solidFill>
                                  <a:schemeClr val="tx1"/>
                                </a:solidFill>
                                <a:latin typeface="Cambria Math" panose="02040503050406030204" pitchFamily="18" charset="0"/>
                                <a:ea typeface="Roboto" panose="02000000000000000000" pitchFamily="2" charset="0"/>
                              </a:rPr>
                              <m:t>𝑎</m:t>
                            </m:r>
                          </m:e>
                        </m:d>
                        <m:r>
                          <a:rPr lang="es-MX" sz="2000" i="1">
                            <a:solidFill>
                              <a:schemeClr val="tx1"/>
                            </a:solidFill>
                            <a:latin typeface="Cambria Math" panose="02040503050406030204" pitchFamily="18" charset="0"/>
                            <a:ea typeface="Roboto" panose="02000000000000000000" pitchFamily="2" charset="0"/>
                          </a:rPr>
                          <m:t>,</m:t>
                        </m:r>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0,</m:t>
                            </m:r>
                            <m:r>
                              <a:rPr lang="es-MX" sz="2000" b="0" i="1" smtClean="0">
                                <a:solidFill>
                                  <a:schemeClr val="tx1"/>
                                </a:solidFill>
                                <a:latin typeface="Cambria Math" panose="02040503050406030204" pitchFamily="18" charset="0"/>
                                <a:ea typeface="Roboto" panose="02000000000000000000" pitchFamily="2" charset="0"/>
                              </a:rPr>
                              <m:t>𝑏</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m:t>
                            </m:r>
                            <m:r>
                              <a:rPr lang="es-MX" sz="2000" b="0" i="1" smtClean="0">
                                <a:solidFill>
                                  <a:schemeClr val="tx1"/>
                                </a:solidFill>
                                <a:latin typeface="Cambria Math" panose="02040503050406030204" pitchFamily="18" charset="0"/>
                                <a:ea typeface="Roboto" panose="02000000000000000000" pitchFamily="2" charset="0"/>
                              </a:rPr>
                              <m:t>𝑎</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m:t>
                            </m:r>
                            <m:r>
                              <a:rPr lang="es-MX" sz="2000" b="0" i="1" smtClean="0">
                                <a:solidFill>
                                  <a:schemeClr val="tx1"/>
                                </a:solidFill>
                                <a:latin typeface="Cambria Math" panose="02040503050406030204" pitchFamily="18" charset="0"/>
                                <a:ea typeface="Roboto" panose="02000000000000000000" pitchFamily="2" charset="0"/>
                              </a:rPr>
                              <m:t>𝑏</m:t>
                            </m:r>
                          </m:e>
                        </m:d>
                      </m:e>
                    </m:d>
                  </m:oMath>
                </a14:m>
                <a:r>
                  <a:rPr lang="es-MX" sz="2000" dirty="0">
                    <a:latin typeface="+mn-lt"/>
                    <a:ea typeface="Roboto" panose="02000000000000000000" pitchFamily="2" charset="0"/>
                  </a:rPr>
                  <a:t> es una relación de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de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Esto significa, por ejemplo, que </a:t>
                </a:r>
                <a14:m>
                  <m:oMath xmlns:m="http://schemas.openxmlformats.org/officeDocument/2006/math">
                    <m:r>
                      <a:rPr lang="es-MX" sz="2000" i="1">
                        <a:latin typeface="Cambria Math" panose="02040503050406030204" pitchFamily="18" charset="0"/>
                        <a:ea typeface="Roboto" panose="02000000000000000000" pitchFamily="2" charset="0"/>
                      </a:rPr>
                      <m:t>0</m:t>
                    </m:r>
                    <m:r>
                      <m:rPr>
                        <m:lit/>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𝑅</m:t>
                    </m:r>
                    <m:r>
                      <m:rPr>
                        <m:lit/>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𝑎</m:t>
                    </m:r>
                  </m:oMath>
                </a14:m>
                <a:r>
                  <a:rPr lang="es-MX" sz="2000" dirty="0">
                    <a:latin typeface="+mn-lt"/>
                    <a:ea typeface="Roboto" panose="02000000000000000000" pitchFamily="2" charset="0"/>
                  </a:rPr>
                  <a:t>, pero que </a:t>
                </a:r>
                <a14:m>
                  <m:oMath xmlns:m="http://schemas.openxmlformats.org/officeDocument/2006/math">
                    <m:r>
                      <a:rPr lang="es-MX" sz="2000" i="1">
                        <a:latin typeface="Cambria Math" panose="02040503050406030204" pitchFamily="18" charset="0"/>
                        <a:ea typeface="Roboto" panose="02000000000000000000" pitchFamily="2" charset="0"/>
                      </a:rPr>
                      <m:t>0</m:t>
                    </m:r>
                    <m:r>
                      <m:rPr>
                        <m:lit/>
                      </m:rPr>
                      <a:rPr lang="es-MX" sz="2000" b="0" i="1" smtClean="0">
                        <a:latin typeface="Cambria Math" panose="02040503050406030204" pitchFamily="18" charset="0"/>
                        <a:ea typeface="Roboto" panose="02000000000000000000" pitchFamily="2" charset="0"/>
                      </a:rPr>
                      <m:t> </m:t>
                    </m:r>
                    <m:r>
                      <m:rPr>
                        <m:sty m:val="p"/>
                      </m:rPr>
                      <a:rPr lang="es-MX" sz="2000" b="0" i="1" strike="sngStrike" smtClean="0">
                        <a:latin typeface="Cambria Math" panose="02040503050406030204" pitchFamily="18" charset="0"/>
                        <a:ea typeface="Roboto" panose="02000000000000000000" pitchFamily="2" charset="0"/>
                      </a:rPr>
                      <m:t>R</m:t>
                    </m:r>
                    <m:r>
                      <m:rPr>
                        <m:lit/>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𝑏</m:t>
                    </m:r>
                  </m:oMath>
                </a14:m>
                <a:r>
                  <a:rPr lang="es-MX" sz="2000" dirty="0">
                    <a:latin typeface="+mn-lt"/>
                    <a:ea typeface="Roboto" panose="02000000000000000000" pitchFamily="2" charset="0"/>
                  </a:rPr>
                  <a:t>. Las relaciones se pueden representar gráficamente, utilizando flechas para representar pares ordenados. Otra forma de representar esta relación es mediante una tabla.</a:t>
                </a: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09732" y="1289160"/>
                <a:ext cx="11372536" cy="1291835"/>
              </a:xfrm>
              <a:prstGeom prst="rect">
                <a:avLst/>
              </a:prstGeom>
              <a:blipFill>
                <a:blip r:embed="rId3"/>
                <a:stretch>
                  <a:fillRect b="-10377"/>
                </a:stretch>
              </a:blipFill>
              <a:ln>
                <a:noFill/>
              </a:ln>
            </p:spPr>
            <p:txBody>
              <a:bodyPr/>
              <a:lstStyle/>
              <a:p>
                <a:r>
                  <a:rPr lang="es-CO">
                    <a:noFill/>
                  </a:rPr>
                  <a:t> </a:t>
                </a:r>
              </a:p>
            </p:txBody>
          </p:sp>
        </mc:Fallback>
      </mc:AlternateContent>
      <p:pic>
        <p:nvPicPr>
          <p:cNvPr id="5" name="Imagen 4">
            <a:extLst>
              <a:ext uri="{FF2B5EF4-FFF2-40B4-BE49-F238E27FC236}">
                <a16:creationId xmlns:a16="http://schemas.microsoft.com/office/drawing/2014/main" id="{F256DDE9-F81F-4E60-9C06-4CE1B625D81F}"/>
              </a:ext>
            </a:extLst>
          </p:cNvPr>
          <p:cNvPicPr>
            <a:picLocks noChangeAspect="1"/>
          </p:cNvPicPr>
          <p:nvPr/>
        </p:nvPicPr>
        <p:blipFill>
          <a:blip r:embed="rId4"/>
          <a:stretch>
            <a:fillRect/>
          </a:stretch>
        </p:blipFill>
        <p:spPr>
          <a:xfrm>
            <a:off x="3565611" y="2773339"/>
            <a:ext cx="1888648" cy="2660353"/>
          </a:xfrm>
          <a:prstGeom prst="rect">
            <a:avLst/>
          </a:prstGeom>
        </p:spPr>
      </p:pic>
      <p:pic>
        <p:nvPicPr>
          <p:cNvPr id="8" name="Imagen 7">
            <a:extLst>
              <a:ext uri="{FF2B5EF4-FFF2-40B4-BE49-F238E27FC236}">
                <a16:creationId xmlns:a16="http://schemas.microsoft.com/office/drawing/2014/main" id="{3300FE10-BC55-456F-B466-D4649E35778F}"/>
              </a:ext>
            </a:extLst>
          </p:cNvPr>
          <p:cNvPicPr>
            <a:picLocks noChangeAspect="1"/>
          </p:cNvPicPr>
          <p:nvPr/>
        </p:nvPicPr>
        <p:blipFill>
          <a:blip r:embed="rId5"/>
          <a:stretch>
            <a:fillRect/>
          </a:stretch>
        </p:blipFill>
        <p:spPr>
          <a:xfrm>
            <a:off x="6737743" y="2954453"/>
            <a:ext cx="2286337" cy="2298123"/>
          </a:xfrm>
          <a:prstGeom prst="rect">
            <a:avLst/>
          </a:prstGeom>
        </p:spPr>
      </p:pic>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8E4A4444-2978-4BBC-AA14-61937DA12406}"/>
                  </a:ext>
                </a:extLst>
              </p:cNvPr>
              <p:cNvSpPr txBox="1"/>
              <p:nvPr/>
            </p:nvSpPr>
            <p:spPr>
              <a:xfrm>
                <a:off x="501445" y="5914964"/>
                <a:ext cx="11280824" cy="707886"/>
              </a:xfrm>
              <a:prstGeom prst="rect">
                <a:avLst/>
              </a:prstGeom>
              <a:solidFill>
                <a:schemeClr val="bg1">
                  <a:lumMod val="95000"/>
                </a:schemeClr>
              </a:solidFill>
            </p:spPr>
            <p:txBody>
              <a:bodyPr wrap="square">
                <a:spAutoFit/>
              </a:bodyPr>
              <a:lstStyle/>
              <a:p>
                <a:r>
                  <a:rPr lang="es-CO" sz="2000" dirty="0">
                    <a:ea typeface="Roboto" panose="02000000000000000000" pitchFamily="2" charset="0"/>
                  </a:rPr>
                  <a:t>Las relaciones son más generales que las funciones. Una función es una relación donde exactamente un elemento de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oMath>
                </a14:m>
                <a:r>
                  <a:rPr lang="es-CO" sz="2000" dirty="0">
                    <a:ea typeface="Roboto" panose="02000000000000000000" pitchFamily="2" charset="0"/>
                  </a:rPr>
                  <a:t> está relacionado con cada elemento de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𝐴</m:t>
                    </m:r>
                  </m:oMath>
                </a14:m>
                <a:r>
                  <a:rPr lang="es-CO" sz="2000" dirty="0">
                    <a:ea typeface="Roboto" panose="02000000000000000000" pitchFamily="2" charset="0"/>
                  </a:rPr>
                  <a:t>.</a:t>
                </a:r>
              </a:p>
            </p:txBody>
          </p:sp>
        </mc:Choice>
        <mc:Fallback xmlns="">
          <p:sp>
            <p:nvSpPr>
              <p:cNvPr id="30" name="CuadroTexto 29">
                <a:extLst>
                  <a:ext uri="{FF2B5EF4-FFF2-40B4-BE49-F238E27FC236}">
                    <a16:creationId xmlns:a16="http://schemas.microsoft.com/office/drawing/2014/main" id="{8E4A4444-2978-4BBC-AA14-61937DA12406}"/>
                  </a:ext>
                </a:extLst>
              </p:cNvPr>
              <p:cNvSpPr txBox="1">
                <a:spLocks noRot="1" noChangeAspect="1" noMove="1" noResize="1" noEditPoints="1" noAdjustHandles="1" noChangeArrowheads="1" noChangeShapeType="1" noTextEdit="1"/>
              </p:cNvSpPr>
              <p:nvPr/>
            </p:nvSpPr>
            <p:spPr>
              <a:xfrm>
                <a:off x="501445" y="5914964"/>
                <a:ext cx="11280824" cy="707886"/>
              </a:xfrm>
              <a:prstGeom prst="rect">
                <a:avLst/>
              </a:prstGeom>
              <a:blipFill>
                <a:blip r:embed="rId6"/>
                <a:stretch>
                  <a:fillRect l="-540" t="-4310" b="-14655"/>
                </a:stretch>
              </a:blipFill>
            </p:spPr>
            <p:txBody>
              <a:bodyPr/>
              <a:lstStyle/>
              <a:p>
                <a:r>
                  <a:rPr lang="es-CO">
                    <a:noFill/>
                  </a:rPr>
                  <a:t> </a:t>
                </a:r>
              </a:p>
            </p:txBody>
          </p:sp>
        </mc:Fallback>
      </mc:AlternateContent>
    </p:spTree>
    <p:extLst>
      <p:ext uri="{BB962C8B-B14F-4D97-AF65-F5344CB8AC3E}">
        <p14:creationId xmlns:p14="http://schemas.microsoft.com/office/powerpoint/2010/main" val="31549401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545690" y="96038"/>
            <a:ext cx="867496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45690" y="750087"/>
            <a:ext cx="987292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3</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545690" y="1281029"/>
                <a:ext cx="11015521" cy="312873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el conjunto de ciudades de Colombia, y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el conjunto de los 32 departamentos de Colombia. Definimos una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 tal que:</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e>
                        <m:e>
                          <m:r>
                            <m:rPr>
                              <m:sty m:val="p"/>
                            </m:rPr>
                            <a:rPr lang="es-MX" sz="2000" b="0" i="0" smtClean="0">
                              <a:latin typeface="Cambria Math" panose="02040503050406030204" pitchFamily="18" charset="0"/>
                              <a:ea typeface="Roboto" panose="02000000000000000000" pitchFamily="2" charset="0"/>
                            </a:rPr>
                            <m:t>la</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ciudad</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pertenece</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al</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departamento</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𝑏</m:t>
                          </m:r>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Según lo anterior, algunos de los pares ciudad, departamento que pertenecen a la relación R son:</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𝑅𝑖𝑜𝑛𝑒𝑔𝑟𝑜</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𝐴𝑛𝑡𝑖𝑜𝑞𝑢𝑖𝑎</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𝑀𝑒𝑑𝑒𝑙𝑙𝑖𝑛</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𝐴𝑛𝑡𝑖𝑜𝑞𝑢𝑖𝑎</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𝐶𝑎𝑙𝑖</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𝑉𝑎𝑙𝑙𝑒</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𝑌𝑢𝑚𝑏𝑜</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𝑉𝑎𝑙𝑙𝑒</m:t>
                              </m:r>
                            </m:e>
                          </m:d>
                          <m:r>
                            <a:rPr lang="es-MX" sz="2000" b="0" i="1" smtClean="0">
                              <a:latin typeface="Cambria Math" panose="02040503050406030204" pitchFamily="18" charset="0"/>
                              <a:ea typeface="Roboto" panose="02000000000000000000" pitchFamily="2" charset="0"/>
                            </a:rPr>
                            <m:t>,…</m:t>
                          </m:r>
                        </m:e>
                      </m:d>
                    </m:oMath>
                  </m:oMathPara>
                </a14:m>
                <a:endParaRPr lang="es-MX" sz="20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545690" y="1281029"/>
                <a:ext cx="11015521" cy="3128739"/>
              </a:xfrm>
              <a:prstGeom prst="rect">
                <a:avLst/>
              </a:prstGeom>
              <a:blipFill>
                <a:blip r:embed="rId3"/>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30660603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9953" y="96038"/>
            <a:ext cx="8790697"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9953" y="761329"/>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4 – Relación “Ganador del Premio Turing” </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9953" y="1292270"/>
                <a:ext cx="11573361" cy="54696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rPr>
                  <a:t>Dados los conjuntos:</a:t>
                </a:r>
              </a:p>
              <a:p>
                <a:r>
                  <a:rPr lang="es-MX" sz="2000" b="1" dirty="0">
                    <a:latin typeface="+mn-lt"/>
                  </a:rPr>
                  <a:t>Personas</a:t>
                </a:r>
                <a:r>
                  <a:rPr lang="es-MX" sz="2000" b="0" dirty="0">
                    <a:latin typeface="+mn-lt"/>
                  </a:rPr>
                  <a:t>: </a:t>
                </a:r>
                <a14:m>
                  <m:oMath xmlns:m="http://schemas.openxmlformats.org/officeDocument/2006/math">
                    <m:r>
                      <a:rPr lang="es-MX" sz="2000" b="0" i="1" smtClean="0">
                        <a:latin typeface="Cambria Math" panose="02040503050406030204" pitchFamily="18" charset="0"/>
                      </a:rPr>
                      <m:t>𝐴</m:t>
                    </m:r>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r>
                          <m:rPr>
                            <m:sty m:val="p"/>
                          </m:rPr>
                          <a:rPr lang="es-MX" sz="2000" i="0">
                            <a:latin typeface="Cambria Math" panose="02040503050406030204" pitchFamily="18" charset="0"/>
                          </a:rPr>
                          <m:t>Ron</m:t>
                        </m:r>
                        <m:r>
                          <a:rPr lang="es-MX" sz="2000" i="0">
                            <a:latin typeface="Cambria Math" panose="02040503050406030204" pitchFamily="18" charset="0"/>
                          </a:rPr>
                          <m:t> </m:t>
                        </m:r>
                        <m:r>
                          <m:rPr>
                            <m:sty m:val="p"/>
                          </m:rPr>
                          <a:rPr lang="es-MX" sz="2000" i="0">
                            <a:latin typeface="Cambria Math" panose="02040503050406030204" pitchFamily="18" charset="0"/>
                          </a:rPr>
                          <m:t>Rivest</m:t>
                        </m:r>
                        <m:r>
                          <a:rPr lang="es-MX" sz="2000" i="0">
                            <a:latin typeface="Cambria Math" panose="02040503050406030204" pitchFamily="18" charset="0"/>
                          </a:rPr>
                          <m:t>, </m:t>
                        </m:r>
                        <m:r>
                          <m:rPr>
                            <m:sty m:val="p"/>
                          </m:rPr>
                          <a:rPr lang="es-MX" sz="2000" i="0">
                            <a:latin typeface="Cambria Math" panose="02040503050406030204" pitchFamily="18" charset="0"/>
                          </a:rPr>
                          <m:t>Adi</m:t>
                        </m:r>
                        <m:r>
                          <a:rPr lang="es-MX" sz="2000" i="0">
                            <a:latin typeface="Cambria Math" panose="02040503050406030204" pitchFamily="18" charset="0"/>
                          </a:rPr>
                          <m:t> </m:t>
                        </m:r>
                        <m:r>
                          <m:rPr>
                            <m:sty m:val="p"/>
                          </m:rPr>
                          <a:rPr lang="es-MX" sz="2000" i="0">
                            <a:latin typeface="Cambria Math" panose="02040503050406030204" pitchFamily="18" charset="0"/>
                          </a:rPr>
                          <m:t>Shamir</m:t>
                        </m:r>
                        <m:r>
                          <a:rPr lang="es-MX" sz="2000" i="0">
                            <a:latin typeface="Cambria Math" panose="02040503050406030204" pitchFamily="18" charset="0"/>
                          </a:rPr>
                          <m:t>, </m:t>
                        </m:r>
                        <m:r>
                          <m:rPr>
                            <m:sty m:val="p"/>
                          </m:rPr>
                          <a:rPr lang="es-MX" sz="2000" i="0">
                            <a:latin typeface="Cambria Math" panose="02040503050406030204" pitchFamily="18" charset="0"/>
                          </a:rPr>
                          <m:t>Len</m:t>
                        </m:r>
                        <m:r>
                          <a:rPr lang="es-MX" sz="2000" i="0">
                            <a:latin typeface="Cambria Math" panose="02040503050406030204" pitchFamily="18" charset="0"/>
                          </a:rPr>
                          <m:t> </m:t>
                        </m:r>
                        <m:r>
                          <m:rPr>
                            <m:sty m:val="p"/>
                          </m:rPr>
                          <a:rPr lang="es-MX" sz="2000" i="0">
                            <a:latin typeface="Cambria Math" panose="02040503050406030204" pitchFamily="18" charset="0"/>
                          </a:rPr>
                          <m:t>Adleman</m:t>
                        </m:r>
                        <m:r>
                          <a:rPr lang="es-MX" sz="2000" i="0">
                            <a:latin typeface="Cambria Math" panose="02040503050406030204" pitchFamily="18" charset="0"/>
                          </a:rPr>
                          <m:t>, </m:t>
                        </m:r>
                        <m:r>
                          <m:rPr>
                            <m:sty m:val="p"/>
                          </m:rPr>
                          <a:rPr lang="es-MX" sz="2000" i="0">
                            <a:latin typeface="Cambria Math" panose="02040503050406030204" pitchFamily="18" charset="0"/>
                          </a:rPr>
                          <m:t>Alan</m:t>
                        </m:r>
                        <m:r>
                          <a:rPr lang="es-MX" sz="2000" i="0">
                            <a:latin typeface="Cambria Math" panose="02040503050406030204" pitchFamily="18" charset="0"/>
                          </a:rPr>
                          <m:t> </m:t>
                        </m:r>
                        <m:r>
                          <m:rPr>
                            <m:sty m:val="p"/>
                          </m:rPr>
                          <a:rPr lang="es-MX" sz="2000" i="0">
                            <a:latin typeface="Cambria Math" panose="02040503050406030204" pitchFamily="18" charset="0"/>
                          </a:rPr>
                          <m:t>Kay</m:t>
                        </m:r>
                        <m:r>
                          <a:rPr lang="es-MX" sz="2000" i="0">
                            <a:latin typeface="Cambria Math" panose="02040503050406030204" pitchFamily="18" charset="0"/>
                          </a:rPr>
                          <m:t>, ...</m:t>
                        </m:r>
                      </m:e>
                    </m:d>
                  </m:oMath>
                </a14:m>
                <a:endParaRPr lang="es-MX" sz="2000" b="0" dirty="0">
                  <a:latin typeface="+mn-lt"/>
                </a:endParaRPr>
              </a:p>
              <a:p>
                <a:r>
                  <a:rPr lang="es-MX" sz="2000" b="1" dirty="0">
                    <a:latin typeface="+mn-lt"/>
                  </a:rPr>
                  <a:t>Años</a:t>
                </a:r>
                <a:r>
                  <a:rPr lang="es-MX" sz="2000" dirty="0">
                    <a:latin typeface="+mn-lt"/>
                  </a:rPr>
                  <a:t>: </a:t>
                </a:r>
                <a14:m>
                  <m:oMath xmlns:m="http://schemas.openxmlformats.org/officeDocument/2006/math">
                    <m:r>
                      <a:rPr lang="es-MX" sz="2000" b="0" i="1" smtClean="0">
                        <a:latin typeface="Cambria Math" panose="02040503050406030204" pitchFamily="18" charset="0"/>
                      </a:rPr>
                      <m:t>𝐵</m:t>
                    </m:r>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r>
                          <a:rPr lang="es-MX" sz="2000" i="1">
                            <a:latin typeface="Cambria Math" panose="02040503050406030204" pitchFamily="18" charset="0"/>
                          </a:rPr>
                          <m:t>2002, 2003, 2004, 2005, 2006</m:t>
                        </m:r>
                      </m:e>
                    </m:d>
                  </m:oMath>
                </a14:m>
                <a:endParaRPr lang="es-MX" sz="2000" b="0" dirty="0">
                  <a:latin typeface="+mn-lt"/>
                </a:endParaRPr>
              </a:p>
              <a:p>
                <a:pPr marL="127000" indent="0">
                  <a:buNone/>
                </a:pPr>
                <a:endParaRPr lang="es-MX" sz="1800" dirty="0">
                  <a:latin typeface="+mn-lt"/>
                </a:endParaRPr>
              </a:p>
              <a:p>
                <a:pPr marL="127000" indent="0">
                  <a:buNone/>
                </a:pPr>
                <a:r>
                  <a:rPr lang="es-MX" sz="2000" dirty="0">
                    <a:latin typeface="+mn-lt"/>
                  </a:rPr>
                  <a:t>Si se define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oMath>
                </a14:m>
                <a:r>
                  <a:rPr lang="es-MX" sz="2000" dirty="0">
                    <a:latin typeface="+mn-lt"/>
                  </a:rPr>
                  <a:t> con la propiedad: </a:t>
                </a:r>
              </a:p>
              <a:p>
                <a:pPr marL="127000" indent="0" algn="ctr">
                  <a:buNone/>
                </a:pPr>
                <a:endParaRPr lang="es-MX" sz="1800" b="0" i="1" dirty="0">
                  <a:latin typeface="+mn-lt"/>
                </a:endParaRPr>
              </a:p>
              <a:p>
                <a:pPr marL="127000" indent="0">
                  <a:buNone/>
                </a:pPr>
                <a14:m>
                  <m:oMath xmlns:m="http://schemas.openxmlformats.org/officeDocument/2006/math">
                    <m:r>
                      <a:rPr lang="es-MX" sz="2000" b="0" i="1" smtClean="0">
                        <a:latin typeface="Cambria Math" panose="02040503050406030204" pitchFamily="18" charset="0"/>
                      </a:rPr>
                      <m:t>"</m:t>
                    </m:r>
                    <m:r>
                      <a:rPr lang="es-MX" sz="2000" b="0" i="1" smtClean="0">
                        <a:latin typeface="Cambria Math" panose="02040503050406030204" pitchFamily="18" charset="0"/>
                      </a:rPr>
                      <m:t>𝑇</m:t>
                    </m:r>
                    <m:r>
                      <a:rPr lang="es-MX" sz="2000" b="0" i="1" smtClean="0">
                        <a:latin typeface="Cambria Math" panose="02040503050406030204" pitchFamily="18" charset="0"/>
                      </a:rPr>
                      <m:t>(</m:t>
                    </m:r>
                    <m:r>
                      <a:rPr lang="es-MX" sz="2000" b="0" i="1" smtClean="0">
                        <a:latin typeface="Cambria Math" panose="02040503050406030204" pitchFamily="18" charset="0"/>
                      </a:rPr>
                      <m:t>𝑥</m:t>
                    </m:r>
                    <m:r>
                      <a:rPr lang="es-MX" sz="2000" b="0" i="1" smtClean="0">
                        <a:latin typeface="Cambria Math" panose="02040503050406030204" pitchFamily="18" charset="0"/>
                      </a:rPr>
                      <m:t>,</m:t>
                    </m:r>
                    <m:r>
                      <a:rPr lang="es-MX" sz="2000" b="0" i="1" smtClean="0">
                        <a:latin typeface="Cambria Math" panose="02040503050406030204" pitchFamily="18" charset="0"/>
                      </a:rPr>
                      <m:t>𝑦</m:t>
                    </m:r>
                    <m:r>
                      <a:rPr lang="es-MX" sz="2000" b="0" i="1" smtClean="0">
                        <a:latin typeface="Cambria Math" panose="02040503050406030204" pitchFamily="18" charset="0"/>
                      </a:rPr>
                      <m:t>): </m:t>
                    </m:r>
                    <m:r>
                      <m:rPr>
                        <m:sty m:val="p"/>
                      </m:rPr>
                      <a:rPr lang="es-MX" sz="2000" b="0" i="0" smtClean="0">
                        <a:latin typeface="Cambria Math" panose="02040503050406030204" pitchFamily="18" charset="0"/>
                      </a:rPr>
                      <m:t>La</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persona</m:t>
                    </m:r>
                    <m:r>
                      <a:rPr lang="es-MX" sz="2000" b="0" i="1" smtClean="0">
                        <a:latin typeface="Cambria Math" panose="02040503050406030204" pitchFamily="18" charset="0"/>
                      </a:rPr>
                      <m:t> </m:t>
                    </m:r>
                    <m:r>
                      <a:rPr lang="es-MX" sz="2000" b="0" i="1" smtClean="0">
                        <a:latin typeface="Cambria Math" panose="02040503050406030204" pitchFamily="18" charset="0"/>
                      </a:rPr>
                      <m:t>𝑥</m:t>
                    </m:r>
                    <m:r>
                      <a:rPr lang="es-MX" sz="2000" b="0" i="1" smtClean="0">
                        <a:latin typeface="Cambria Math" panose="02040503050406030204" pitchFamily="18" charset="0"/>
                      </a:rPr>
                      <m:t> </m:t>
                    </m:r>
                    <m:r>
                      <m:rPr>
                        <m:sty m:val="p"/>
                      </m:rPr>
                      <a:rPr lang="es-MX" sz="2000" b="0" i="0" smtClean="0">
                        <a:latin typeface="Cambria Math" panose="02040503050406030204" pitchFamily="18" charset="0"/>
                      </a:rPr>
                      <m:t>gano</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el</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premio</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Turing</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en</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el</m:t>
                    </m:r>
                    <m:r>
                      <a:rPr lang="es-MX" sz="2000" b="0" i="0" smtClean="0">
                        <a:latin typeface="Cambria Math" panose="02040503050406030204" pitchFamily="18" charset="0"/>
                      </a:rPr>
                      <m:t> </m:t>
                    </m:r>
                    <m:r>
                      <m:rPr>
                        <m:sty m:val="p"/>
                      </m:rPr>
                      <a:rPr lang="es-MX" sz="2000" b="0" i="0" smtClean="0">
                        <a:latin typeface="Cambria Math" panose="02040503050406030204" pitchFamily="18" charset="0"/>
                      </a:rPr>
                      <m:t>a</m:t>
                    </m:r>
                    <m:r>
                      <a:rPr lang="es-MX" sz="2000" b="0" i="0" smtClean="0">
                        <a:latin typeface="Cambria Math" panose="02040503050406030204" pitchFamily="18" charset="0"/>
                      </a:rPr>
                      <m:t>ñ</m:t>
                    </m:r>
                    <m:r>
                      <m:rPr>
                        <m:sty m:val="p"/>
                      </m:rPr>
                      <a:rPr lang="es-MX" sz="2000" b="0" i="0" smtClean="0">
                        <a:latin typeface="Cambria Math" panose="02040503050406030204" pitchFamily="18" charset="0"/>
                      </a:rPr>
                      <m:t>o</m:t>
                    </m:r>
                    <m:r>
                      <a:rPr lang="es-MX" sz="2000" b="0" i="1" smtClean="0">
                        <a:latin typeface="Cambria Math" panose="02040503050406030204" pitchFamily="18" charset="0"/>
                      </a:rPr>
                      <m:t> </m:t>
                    </m:r>
                    <m:r>
                      <a:rPr lang="es-MX" sz="2000" b="0" i="1" smtClean="0">
                        <a:latin typeface="Cambria Math" panose="02040503050406030204" pitchFamily="18" charset="0"/>
                      </a:rPr>
                      <m:t>𝑦</m:t>
                    </m:r>
                    <m:r>
                      <a:rPr lang="es-MX" sz="2000" b="0" i="1" smtClean="0">
                        <a:latin typeface="Cambria Math" panose="02040503050406030204" pitchFamily="18" charset="0"/>
                      </a:rPr>
                      <m:t>"</m:t>
                    </m:r>
                  </m:oMath>
                </a14:m>
                <a:r>
                  <a:rPr lang="es-MX" sz="2000" dirty="0">
                    <a:latin typeface="+mn-lt"/>
                  </a:rPr>
                  <a:t> </a:t>
                </a:r>
              </a:p>
              <a:p>
                <a:pPr marL="127000" indent="0">
                  <a:buNone/>
                </a:pPr>
                <a:endParaRPr lang="es-MX" sz="1800" dirty="0">
                  <a:latin typeface="+mn-lt"/>
                  <a:ea typeface="Roboto" panose="02000000000000000000" pitchFamily="2" charset="0"/>
                </a:endParaRPr>
              </a:p>
              <a:p>
                <a:pPr marL="127000" indent="0">
                  <a:buNone/>
                </a:pPr>
                <a:r>
                  <a:rPr lang="es-MX" sz="2000" dirty="0">
                    <a:latin typeface="+mn-lt"/>
                    <a:ea typeface="Roboto" panose="02000000000000000000" pitchFamily="2" charset="0"/>
                  </a:rPr>
                  <a:t>El conjunto de Pares ordenados que satisface esta propiedad es:</a:t>
                </a:r>
              </a:p>
              <a:p>
                <a:pPr marL="127000" indent="0">
                  <a:buNone/>
                </a:pPr>
                <a:endParaRPr lang="es-MX" sz="18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𝑦</m:t>
                              </m:r>
                            </m:e>
                          </m:d>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e>
                        <m:e>
                          <m:r>
                            <a:rPr lang="es-MX" sz="2000" i="1">
                              <a:latin typeface="Cambria Math" panose="02040503050406030204" pitchFamily="18" charset="0"/>
                              <a:ea typeface="Roboto" panose="02000000000000000000" pitchFamily="2" charset="0"/>
                            </a:rPr>
                            <m:t>𝑇</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𝑦</m:t>
                          </m:r>
                          <m:r>
                            <a:rPr lang="es-MX" sz="2000" i="1">
                              <a:latin typeface="Cambria Math" panose="02040503050406030204" pitchFamily="18" charset="0"/>
                              <a:ea typeface="Roboto" panose="02000000000000000000" pitchFamily="2" charset="0"/>
                            </a:rPr>
                            <m:t>)</m:t>
                          </m:r>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eqArr>
                            <m:eqArrPr>
                              <m:ctrlPr>
                                <a:rPr lang="es-CO" sz="2000" i="1">
                                  <a:latin typeface="Cambria Math" panose="02040503050406030204" pitchFamily="18" charset="0"/>
                                  <a:ea typeface="Roboto" panose="02000000000000000000" pitchFamily="2" charset="0"/>
                                </a:rPr>
                              </m:ctrlPr>
                            </m:eqArrPr>
                            <m:e>
                              <m:r>
                                <m:rPr>
                                  <m:nor/>
                                </m:rPr>
                                <a:rPr lang="es-CO" sz="2000">
                                  <a:latin typeface="+mn-lt"/>
                                  <a:ea typeface="Roboto" panose="02000000000000000000" pitchFamily="2" charset="0"/>
                                </a:rPr>
                                <m:t>(</m:t>
                              </m:r>
                              <m:r>
                                <m:rPr>
                                  <m:nor/>
                                </m:rPr>
                                <a:rPr lang="es-CO" sz="2000">
                                  <a:latin typeface="+mn-lt"/>
                                  <a:ea typeface="Roboto" panose="02000000000000000000" pitchFamily="2" charset="0"/>
                                </a:rPr>
                                <m:t>Ron</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Rivest</m:t>
                              </m:r>
                              <m:r>
                                <m:rPr>
                                  <m:nor/>
                                </m:rPr>
                                <a:rPr lang="es-CO" sz="2000">
                                  <a:latin typeface="+mn-lt"/>
                                  <a:ea typeface="Roboto" panose="02000000000000000000" pitchFamily="2" charset="0"/>
                                </a:rPr>
                                <m:t>, 2002), (</m:t>
                              </m:r>
                              <m:r>
                                <m:rPr>
                                  <m:nor/>
                                </m:rPr>
                                <a:rPr lang="es-CO" sz="2000">
                                  <a:latin typeface="+mn-lt"/>
                                  <a:ea typeface="Roboto" panose="02000000000000000000" pitchFamily="2" charset="0"/>
                                </a:rPr>
                                <m:t>Adi</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Shamir</m:t>
                              </m:r>
                              <m:r>
                                <m:rPr>
                                  <m:nor/>
                                </m:rPr>
                                <a:rPr lang="es-CO" sz="2000">
                                  <a:latin typeface="+mn-lt"/>
                                  <a:ea typeface="Roboto" panose="02000000000000000000" pitchFamily="2" charset="0"/>
                                </a:rPr>
                                <m:t>, 2002), (</m:t>
                              </m:r>
                              <m:r>
                                <m:rPr>
                                  <m:nor/>
                                </m:rPr>
                                <a:rPr lang="es-CO" sz="2000">
                                  <a:latin typeface="+mn-lt"/>
                                  <a:ea typeface="Roboto" panose="02000000000000000000" pitchFamily="2" charset="0"/>
                                </a:rPr>
                                <m:t>Len</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Adleman</m:t>
                              </m:r>
                              <m:r>
                                <m:rPr>
                                  <m:nor/>
                                </m:rPr>
                                <a:rPr lang="es-CO" sz="2000">
                                  <a:latin typeface="+mn-lt"/>
                                  <a:ea typeface="Roboto" panose="02000000000000000000" pitchFamily="2" charset="0"/>
                                </a:rPr>
                                <m:t>, 2002), (</m:t>
                              </m:r>
                              <m:r>
                                <m:rPr>
                                  <m:nor/>
                                </m:rPr>
                                <a:rPr lang="es-CO" sz="2000">
                                  <a:latin typeface="+mn-lt"/>
                                  <a:ea typeface="Roboto" panose="02000000000000000000" pitchFamily="2" charset="0"/>
                                </a:rPr>
                                <m:t>Alan</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Kay</m:t>
                              </m:r>
                              <m:r>
                                <m:rPr>
                                  <m:nor/>
                                </m:rPr>
                                <a:rPr lang="es-CO" sz="2000">
                                  <a:latin typeface="+mn-lt"/>
                                  <a:ea typeface="Roboto" panose="02000000000000000000" pitchFamily="2" charset="0"/>
                                </a:rPr>
                                <m:t>, 2003), </m:t>
                              </m:r>
                            </m:e>
                            <m:e>
                              <m:r>
                                <m:rPr>
                                  <m:nor/>
                                </m:rPr>
                                <a:rPr lang="es-CO" sz="2000">
                                  <a:latin typeface="+mn-lt"/>
                                  <a:ea typeface="Roboto" panose="02000000000000000000" pitchFamily="2" charset="0"/>
                                </a:rPr>
                                <m:t>(</m:t>
                              </m:r>
                              <m:r>
                                <m:rPr>
                                  <m:nor/>
                                </m:rPr>
                                <a:rPr lang="es-CO" sz="2000">
                                  <a:latin typeface="+mn-lt"/>
                                  <a:ea typeface="Roboto" panose="02000000000000000000" pitchFamily="2" charset="0"/>
                                </a:rPr>
                                <m:t>Vint</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Cerf</m:t>
                              </m:r>
                              <m:r>
                                <m:rPr>
                                  <m:nor/>
                                </m:rPr>
                                <a:rPr lang="es-CO" sz="2000">
                                  <a:latin typeface="+mn-lt"/>
                                  <a:ea typeface="Roboto" panose="02000000000000000000" pitchFamily="2" charset="0"/>
                                </a:rPr>
                                <m:t>, 2004), (</m:t>
                              </m:r>
                              <m:r>
                                <m:rPr>
                                  <m:nor/>
                                </m:rPr>
                                <a:rPr lang="es-CO" sz="2000">
                                  <a:latin typeface="+mn-lt"/>
                                  <a:ea typeface="Roboto" panose="02000000000000000000" pitchFamily="2" charset="0"/>
                                </a:rPr>
                                <m:t>Robert</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Kahn</m:t>
                              </m:r>
                              <m:r>
                                <m:rPr>
                                  <m:nor/>
                                </m:rPr>
                                <a:rPr lang="es-CO" sz="2000">
                                  <a:latin typeface="+mn-lt"/>
                                  <a:ea typeface="Roboto" panose="02000000000000000000" pitchFamily="2" charset="0"/>
                                </a:rPr>
                                <m:t>, 2004), (</m:t>
                              </m:r>
                              <m:r>
                                <m:rPr>
                                  <m:nor/>
                                </m:rPr>
                                <a:rPr lang="es-CO" sz="2000">
                                  <a:latin typeface="+mn-lt"/>
                                  <a:ea typeface="Roboto" panose="02000000000000000000" pitchFamily="2" charset="0"/>
                                </a:rPr>
                                <m:t>Peter</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Naur</m:t>
                              </m:r>
                              <m:r>
                                <m:rPr>
                                  <m:nor/>
                                </m:rPr>
                                <a:rPr lang="es-CO" sz="2000">
                                  <a:latin typeface="+mn-lt"/>
                                  <a:ea typeface="Roboto" panose="02000000000000000000" pitchFamily="2" charset="0"/>
                                </a:rPr>
                                <m:t>, 2005), (</m:t>
                              </m:r>
                              <m:r>
                                <m:rPr>
                                  <m:nor/>
                                </m:rPr>
                                <a:rPr lang="es-CO" sz="2000">
                                  <a:latin typeface="+mn-lt"/>
                                  <a:ea typeface="Roboto" panose="02000000000000000000" pitchFamily="2" charset="0"/>
                                </a:rPr>
                                <m:t>Frances</m:t>
                              </m:r>
                              <m:r>
                                <m:rPr>
                                  <m:nor/>
                                </m:rPr>
                                <a:rPr lang="es-CO" sz="2000">
                                  <a:latin typeface="+mn-lt"/>
                                  <a:ea typeface="Roboto" panose="02000000000000000000" pitchFamily="2" charset="0"/>
                                </a:rPr>
                                <m:t> </m:t>
                              </m:r>
                              <m:r>
                                <m:rPr>
                                  <m:nor/>
                                </m:rPr>
                                <a:rPr lang="es-CO" sz="2000">
                                  <a:latin typeface="+mn-lt"/>
                                  <a:ea typeface="Roboto" panose="02000000000000000000" pitchFamily="2" charset="0"/>
                                </a:rPr>
                                <m:t>Allen</m:t>
                              </m:r>
                              <m:r>
                                <m:rPr>
                                  <m:nor/>
                                </m:rPr>
                                <a:rPr lang="es-CO" sz="2000">
                                  <a:latin typeface="+mn-lt"/>
                                  <a:ea typeface="Roboto" panose="02000000000000000000" pitchFamily="2" charset="0"/>
                                </a:rPr>
                                <m:t>, 2006)</m:t>
                              </m:r>
                            </m:e>
                          </m:eqArr>
                        </m:e>
                      </m:d>
                    </m:oMath>
                  </m:oMathPara>
                </a14:m>
                <a:endParaRPr lang="es-MX" sz="1800" i="1" dirty="0">
                  <a:latin typeface="+mn-lt"/>
                  <a:ea typeface="Roboto" panose="02000000000000000000" pitchFamily="2" charset="0"/>
                </a:endParaRPr>
              </a:p>
              <a:p>
                <a:pPr marL="127000" indent="0">
                  <a:buNone/>
                </a:pPr>
                <a:endParaRPr lang="es-MX" sz="18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9953" y="1292270"/>
                <a:ext cx="11573361" cy="5469691"/>
              </a:xfrm>
              <a:prstGeom prst="rect">
                <a:avLst/>
              </a:prstGeom>
              <a:blipFill>
                <a:blip r:embed="rId3"/>
                <a:stretch>
                  <a:fillRect/>
                </a:stretch>
              </a:blipFill>
              <a:ln>
                <a:noFill/>
              </a:ln>
            </p:spPr>
            <p:txBody>
              <a:bodyPr/>
              <a:lstStyle/>
              <a:p>
                <a:r>
                  <a:rPr lang="es-CO">
                    <a:noFill/>
                  </a:rPr>
                  <a:t> </a:t>
                </a:r>
              </a:p>
            </p:txBody>
          </p:sp>
        </mc:Fallback>
      </mc:AlternateContent>
      <p:grpSp>
        <p:nvGrpSpPr>
          <p:cNvPr id="2" name="Grupo 1">
            <a:extLst>
              <a:ext uri="{FF2B5EF4-FFF2-40B4-BE49-F238E27FC236}">
                <a16:creationId xmlns:a16="http://schemas.microsoft.com/office/drawing/2014/main" id="{78B9FC3D-C4FD-46F8-A017-C09D8977CF2F}"/>
              </a:ext>
            </a:extLst>
          </p:cNvPr>
          <p:cNvGrpSpPr/>
          <p:nvPr/>
        </p:nvGrpSpPr>
        <p:grpSpPr>
          <a:xfrm>
            <a:off x="8731461" y="330734"/>
            <a:ext cx="3030585" cy="2155694"/>
            <a:chOff x="8114488" y="271740"/>
            <a:chExt cx="3030585" cy="2155694"/>
          </a:xfrm>
        </p:grpSpPr>
        <p:pic>
          <p:nvPicPr>
            <p:cNvPr id="1026" name="Picture 2" descr="ACM A.M. Turing Award - Heidelberg Laureate Forum">
              <a:extLst>
                <a:ext uri="{FF2B5EF4-FFF2-40B4-BE49-F238E27FC236}">
                  <a16:creationId xmlns:a16="http://schemas.microsoft.com/office/drawing/2014/main" id="{8399ABE3-A5BA-46E1-A699-64142D49FA5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33644" y="776076"/>
              <a:ext cx="2530497" cy="16513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epartment of Computer Science, Department of Molecular Biology">
              <a:extLst>
                <a:ext uri="{FF2B5EF4-FFF2-40B4-BE49-F238E27FC236}">
                  <a16:creationId xmlns:a16="http://schemas.microsoft.com/office/drawing/2014/main" id="{8AF13E44-6E64-4C70-A92C-71EACFD043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14488" y="271740"/>
              <a:ext cx="1134652" cy="75506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Alan Kay: A Visionary Who Revolutionised Computing and Education">
              <a:extLst>
                <a:ext uri="{FF2B5EF4-FFF2-40B4-BE49-F238E27FC236}">
                  <a16:creationId xmlns:a16="http://schemas.microsoft.com/office/drawing/2014/main" id="{7323F9A6-7930-4EC8-B6DC-1B95E6378F5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96752" y="271740"/>
              <a:ext cx="1348321" cy="75506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947900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220652" y="96038"/>
            <a:ext cx="899999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Relaciones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220652" y="874445"/>
            <a:ext cx="1128309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6716F76-3AFE-471D-B156-0250FFA69F6E}"/>
                  </a:ext>
                </a:extLst>
              </p:cNvPr>
              <p:cNvSpPr txBox="1">
                <a:spLocks/>
              </p:cNvSpPr>
              <p:nvPr/>
            </p:nvSpPr>
            <p:spPr>
              <a:xfrm>
                <a:off x="220652" y="1366887"/>
                <a:ext cx="11750696" cy="341158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Liste los pares ordenados de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de </a:t>
                </a:r>
                <a14:m>
                  <m:oMath xmlns:m="http://schemas.openxmlformats.org/officeDocument/2006/math">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0,1,2,3,4</m:t>
                        </m:r>
                      </m:e>
                    </m:d>
                  </m:oMath>
                </a14:m>
                <a:r>
                  <a:rPr lang="es-MX" sz="2000" dirty="0">
                    <a:latin typeface="+mn-lt"/>
                    <a:ea typeface="Roboto" panose="02000000000000000000" pitchFamily="2" charset="0"/>
                  </a:rPr>
                  <a:t> a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r>
                      <a:rPr lang="es-MX" sz="2000" b="0" i="1" smtClean="0">
                        <a:latin typeface="Cambria Math" panose="02040503050406030204" pitchFamily="18" charset="0"/>
                        <a:ea typeface="Roboto" panose="02000000000000000000" pitchFamily="2" charset="0"/>
                      </a:rPr>
                      <m:t>={0,1,2,3}</m:t>
                    </m:r>
                  </m:oMath>
                </a14:m>
                <a:r>
                  <a:rPr lang="es-MX" sz="2000" dirty="0">
                    <a:latin typeface="+mn-lt"/>
                    <a:ea typeface="Roboto" panose="02000000000000000000" pitchFamily="2" charset="0"/>
                  </a:rPr>
                  <a:t>, donde </a:t>
                </a:r>
                <a14:m>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si y solo si:  </a:t>
                </a:r>
                <a:endParaRPr lang="es-MX" sz="2000" b="0" i="1" dirty="0">
                  <a:latin typeface="+mn-lt"/>
                  <a:ea typeface="Roboto" panose="02000000000000000000" pitchFamily="2" charset="0"/>
                </a:endParaRPr>
              </a:p>
              <a:p>
                <a:pPr marL="584200" indent="-457200">
                  <a:buFont typeface="+mj-lt"/>
                  <a:buAutoNum type="arabicPeriod"/>
                </a:pPr>
                <a14:m>
                  <m:oMath xmlns:m="http://schemas.openxmlformats.org/officeDocument/2006/math">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r>
                      <a:rPr lang="es-MX" sz="2000" i="1">
                        <a:latin typeface="Cambria Math" panose="02040503050406030204" pitchFamily="18" charset="0"/>
                        <a:ea typeface="Roboto" panose="02000000000000000000" pitchFamily="2" charset="0"/>
                      </a:rPr>
                      <m:t> </m:t>
                    </m:r>
                  </m:oMath>
                </a14:m>
                <a:endParaRPr lang="es-MX" sz="2000" i="1" dirty="0">
                  <a:latin typeface="Cambria Math" panose="02040503050406030204" pitchFamily="18" charset="0"/>
                  <a:ea typeface="Roboto" panose="02000000000000000000" pitchFamily="2" charset="0"/>
                </a:endParaRPr>
              </a:p>
              <a:p>
                <a:pPr marL="584200" indent="-457200">
                  <a:buFont typeface="+mj-lt"/>
                  <a:buAutoNum type="arabicPeriod"/>
                </a:pPr>
                <a14:m>
                  <m:oMath xmlns:m="http://schemas.openxmlformats.org/officeDocument/2006/math">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r>
                      <a:rPr lang="es-MX" sz="2000" b="0" i="1" smtClean="0">
                        <a:latin typeface="Cambria Math" panose="02040503050406030204" pitchFamily="18" charset="0"/>
                        <a:ea typeface="Roboto" panose="02000000000000000000" pitchFamily="2" charset="0"/>
                      </a:rPr>
                      <m:t>=4</m:t>
                    </m:r>
                  </m:oMath>
                </a14:m>
                <a:endParaRPr lang="es-MX" sz="2000" b="0" i="1" dirty="0">
                  <a:latin typeface="Cambria Math" panose="02040503050406030204" pitchFamily="18" charset="0"/>
                  <a:ea typeface="Roboto" panose="02000000000000000000" pitchFamily="2" charset="0"/>
                </a:endParaRPr>
              </a:p>
              <a:p>
                <a:pPr marL="584200" indent="-457200">
                  <a:buFont typeface="+mj-lt"/>
                  <a:buAutoNum type="arabicPeriod"/>
                </a:pPr>
                <a14:m>
                  <m:oMath xmlns:m="http://schemas.openxmlformats.org/officeDocument/2006/math">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&gt;</m:t>
                    </m:r>
                    <m:r>
                      <a:rPr lang="es-MX" sz="2000" b="0" i="1" smtClean="0">
                        <a:latin typeface="Cambria Math" panose="02040503050406030204" pitchFamily="18" charset="0"/>
                        <a:ea typeface="Roboto" panose="02000000000000000000" pitchFamily="2" charset="0"/>
                      </a:rPr>
                      <m:t>𝑏</m:t>
                    </m:r>
                  </m:oMath>
                </a14:m>
                <a:endParaRPr lang="es-MX" sz="2000" b="0" i="1" dirty="0">
                  <a:latin typeface="Cambria Math" panose="02040503050406030204" pitchFamily="18" charset="0"/>
                  <a:ea typeface="Roboto" panose="02000000000000000000" pitchFamily="2" charset="0"/>
                </a:endParaRPr>
              </a:p>
              <a:p>
                <a:pPr marL="584200" indent="-457200">
                  <a:buFont typeface="+mj-lt"/>
                  <a:buAutoNum type="arabicPeriod"/>
                </a:pPr>
                <a14:m>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e>
                    </m:d>
                    <m:r>
                      <a:rPr lang="es-MX" sz="2000" b="0" i="1" smtClean="0">
                        <a:latin typeface="Cambria Math" panose="02040503050406030204" pitchFamily="18" charset="0"/>
                        <a:ea typeface="Roboto" panose="02000000000000000000" pitchFamily="2" charset="0"/>
                      </a:rPr>
                      <m:t>𝑏</m:t>
                    </m:r>
                  </m:oMath>
                </a14:m>
                <a:endParaRPr lang="es-MX" sz="2000" b="0" i="1" dirty="0">
                  <a:latin typeface="Cambria Math" panose="02040503050406030204" pitchFamily="18" charset="0"/>
                  <a:ea typeface="Roboto" panose="02000000000000000000" pitchFamily="2" charset="0"/>
                </a:endParaRPr>
              </a:p>
              <a:p>
                <a:pPr marL="584200" indent="-457200">
                  <a:buFont typeface="+mj-lt"/>
                  <a:buAutoNum type="arabicPeriod"/>
                </a:pPr>
                <a:endParaRPr lang="es-MX" sz="2000" i="1" dirty="0">
                  <a:latin typeface="Cambria Math" panose="02040503050406030204" pitchFamily="18" charset="0"/>
                  <a:ea typeface="Roboto" panose="02000000000000000000" pitchFamily="2" charset="0"/>
                </a:endParaRPr>
              </a:p>
              <a:p>
                <a:pPr marL="127000" indent="0">
                  <a:buNone/>
                </a:pPr>
                <a:r>
                  <a:rPr lang="es-MX" sz="2000" dirty="0">
                    <a:latin typeface="+mn-lt"/>
                    <a:ea typeface="Roboto" panose="02000000000000000000" pitchFamily="2" charset="0"/>
                  </a:rPr>
                  <a:t>Adicionalmente, realice la representación de las relaciones como tabla, diagrama de flechas, tabla matricial matriz binaria y como grafo.</a:t>
                </a:r>
                <a:endParaRPr lang="es-MX" sz="2000" b="0" i="1" dirty="0">
                  <a:latin typeface="Cambria Math" panose="02040503050406030204" pitchFamily="18" charset="0"/>
                  <a:ea typeface="Roboto" panose="02000000000000000000" pitchFamily="2" charset="0"/>
                </a:endParaRPr>
              </a:p>
              <a:p>
                <a:pPr marL="584200" indent="-457200">
                  <a:buFont typeface="+mj-lt"/>
                  <a:buAutoNum type="arabicPeriod"/>
                </a:pPr>
                <a:endParaRPr lang="es-MX" sz="2000" i="1" dirty="0">
                  <a:latin typeface="Cambria Math" panose="02040503050406030204" pitchFamily="18" charset="0"/>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p:txBody>
          </p:sp>
        </mc:Choice>
        <mc:Fallback xmlns="">
          <p:sp>
            <p:nvSpPr>
              <p:cNvPr id="8" name="Google Shape;310;p34">
                <a:extLst>
                  <a:ext uri="{FF2B5EF4-FFF2-40B4-BE49-F238E27FC236}">
                    <a16:creationId xmlns:a16="http://schemas.microsoft.com/office/drawing/2014/main" id="{F6716F76-3AFE-471D-B156-0250FFA69F6E}"/>
                  </a:ext>
                </a:extLst>
              </p:cNvPr>
              <p:cNvSpPr txBox="1">
                <a:spLocks noRot="1" noChangeAspect="1" noMove="1" noResize="1" noEditPoints="1" noAdjustHandles="1" noChangeArrowheads="1" noChangeShapeType="1" noTextEdit="1"/>
              </p:cNvSpPr>
              <p:nvPr/>
            </p:nvSpPr>
            <p:spPr>
              <a:xfrm>
                <a:off x="220652" y="1366887"/>
                <a:ext cx="11750696" cy="3411589"/>
              </a:xfrm>
              <a:prstGeom prst="rect">
                <a:avLst/>
              </a:prstGeom>
              <a:blipFill>
                <a:blip r:embed="rId3"/>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16925316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220652" y="96038"/>
            <a:ext cx="899999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Relaciones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220652" y="874445"/>
            <a:ext cx="1128309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p:spTree>
    <p:extLst>
      <p:ext uri="{BB962C8B-B14F-4D97-AF65-F5344CB8AC3E}">
        <p14:creationId xmlns:p14="http://schemas.microsoft.com/office/powerpoint/2010/main" val="3324590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220652" y="96038"/>
            <a:ext cx="899999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Relaciones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220652" y="874445"/>
            <a:ext cx="1128309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p:spTree>
    <p:extLst>
      <p:ext uri="{BB962C8B-B14F-4D97-AF65-F5344CB8AC3E}">
        <p14:creationId xmlns:p14="http://schemas.microsoft.com/office/powerpoint/2010/main" val="19160948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220652" y="96038"/>
            <a:ext cx="899999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Relaciones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220652" y="874445"/>
            <a:ext cx="1128309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p:spTree>
    <p:extLst>
      <p:ext uri="{BB962C8B-B14F-4D97-AF65-F5344CB8AC3E}">
        <p14:creationId xmlns:p14="http://schemas.microsoft.com/office/powerpoint/2010/main" val="1812989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220652" y="96038"/>
            <a:ext cx="899999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Relaciones</a:t>
            </a:r>
            <a:endParaRPr dirty="0"/>
          </a:p>
        </p:txBody>
      </p:sp>
      <p:sp>
        <p:nvSpPr>
          <p:cNvPr id="20" name="CuadroTexto 19">
            <a:extLst>
              <a:ext uri="{FF2B5EF4-FFF2-40B4-BE49-F238E27FC236}">
                <a16:creationId xmlns:a16="http://schemas.microsoft.com/office/drawing/2014/main" id="{EC981F08-C206-4A60-8BF8-5D902A118C7A}"/>
              </a:ext>
            </a:extLst>
          </p:cNvPr>
          <p:cNvSpPr txBox="1"/>
          <p:nvPr/>
        </p:nvSpPr>
        <p:spPr>
          <a:xfrm>
            <a:off x="220652" y="874445"/>
            <a:ext cx="11283092" cy="492443"/>
          </a:xfrm>
          <a:prstGeom prst="rect">
            <a:avLst/>
          </a:prstGeom>
          <a:noFill/>
        </p:spPr>
        <p:txBody>
          <a:bodyPr wrap="square" rtlCol="0">
            <a:spAutoFit/>
          </a:bodyPr>
          <a:lstStyle/>
          <a:p>
            <a:r>
              <a:rPr lang="es-MX" sz="2600" b="1" dirty="0">
                <a:ea typeface="Roboto" panose="02000000000000000000" pitchFamily="2" charset="0"/>
              </a:rPr>
              <a:t>Ejercicio de repaso</a:t>
            </a:r>
          </a:p>
        </p:txBody>
      </p:sp>
    </p:spTree>
    <p:extLst>
      <p:ext uri="{BB962C8B-B14F-4D97-AF65-F5344CB8AC3E}">
        <p14:creationId xmlns:p14="http://schemas.microsoft.com/office/powerpoint/2010/main" val="9060135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44702" y="96038"/>
            <a:ext cx="877594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44702" y="911500"/>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Definición: Relación binaria sobre un solo conjunto</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277277" y="1442442"/>
                <a:ext cx="11637445" cy="467813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Una relación binaria sobre un conjunto </a:t>
                </a:r>
                <a14:m>
                  <m:oMath xmlns:m="http://schemas.openxmlformats.org/officeDocument/2006/math">
                    <m:r>
                      <a:rPr lang="es-MX" sz="200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es una regla que conecta elementos del conjunto consigo mismos, es decir, relaciona pares de elementos del mismo conjunto. A diferencia de las relaciones entre dos conjuntos distintos (como entre </a:t>
                </a:r>
                <a14:m>
                  <m:oMath xmlns:m="http://schemas.openxmlformats.org/officeDocument/2006/math">
                    <m:r>
                      <a:rPr lang="es-MX" sz="2000" i="1">
                        <a:latin typeface="Cambria Math" panose="02040503050406030204" pitchFamily="18" charset="0"/>
                        <a:ea typeface="Roboto" panose="02000000000000000000" pitchFamily="2" charset="0"/>
                      </a:rPr>
                      <m:t>𝐴</m:t>
                    </m:r>
                    <m:r>
                      <a:rPr lang="es-MX" sz="2000" i="1">
                        <a:latin typeface="Cambria Math" panose="02040503050406030204" pitchFamily="18" charset="0"/>
                        <a:ea typeface="Roboto" panose="02000000000000000000" pitchFamily="2" charset="0"/>
                      </a:rPr>
                      <m:t> </m:t>
                    </m:r>
                  </m:oMath>
                </a14:m>
                <a:r>
                  <a:rPr lang="es-MX" sz="2000" dirty="0">
                    <a:latin typeface="+mn-lt"/>
                    <a:ea typeface="Roboto" panose="02000000000000000000" pitchFamily="2" charset="0"/>
                  </a:rPr>
                  <a:t>y </a:t>
                </a:r>
                <a14:m>
                  <m:oMath xmlns:m="http://schemas.openxmlformats.org/officeDocument/2006/math">
                    <m:r>
                      <a:rPr lang="es-MX" sz="2000" b="0" i="1" smtClean="0">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este tipo de relación es interna a </a:t>
                </a:r>
                <a14:m>
                  <m:oMath xmlns:m="http://schemas.openxmlformats.org/officeDocument/2006/math">
                    <m:r>
                      <a:rPr lang="es-MX" sz="2000" i="1">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Formalmente, una relación binaria se define como un subconjunto de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oMath>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i="1" smtClean="0">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O bien:</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e>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e>
                          </m:d>
                          <m:r>
                            <a:rPr lang="es-MX" sz="2000" b="0" i="1" smtClean="0">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𝑦</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e>
                          </m:d>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e>
                          </m:d>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Donde</a:t>
                </a:r>
                <a:r>
                  <a:rPr lang="es-MX" sz="2000" dirty="0">
                    <a:latin typeface="+mn-lt"/>
                  </a:rPr>
                  <a:t> </a:t>
                </a:r>
                <a14:m>
                  <m:oMath xmlns:m="http://schemas.openxmlformats.org/officeDocument/2006/math">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e>
                    </m:d>
                    <m:r>
                      <a:rPr lang="es-MX" sz="2000" b="0" i="1" smtClean="0">
                        <a:latin typeface="Cambria Math" panose="02040503050406030204" pitchFamily="18" charset="0"/>
                        <a:ea typeface="Cambria Math" panose="02040503050406030204" pitchFamily="18" charset="0"/>
                      </a:rPr>
                      <m:t> </m:t>
                    </m:r>
                  </m:oMath>
                </a14:m>
                <a:r>
                  <a:rPr lang="es-MX" sz="2000" dirty="0">
                    <a:latin typeface="+mn-lt"/>
                  </a:rPr>
                  <a:t> representa la propiedad o condición que deben cumplir los elementos para estar relacionados</a:t>
                </a:r>
                <a:r>
                  <a:rPr lang="es-MX" sz="2000" dirty="0">
                    <a:latin typeface="+mn-lt"/>
                    <a:ea typeface="Roboto" panose="02000000000000000000" pitchFamily="2" charset="0"/>
                  </a:rPr>
                  <a:t> </a:t>
                </a:r>
              </a:p>
              <a:p>
                <a:pPr marL="127000" indent="0">
                  <a:buNone/>
                </a:pPr>
                <a:endParaRPr lang="es-MX" sz="20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277277" y="1442442"/>
                <a:ext cx="11637445" cy="4678139"/>
              </a:xfrm>
              <a:prstGeom prst="rect">
                <a:avLst/>
              </a:prstGeom>
              <a:blipFill>
                <a:blip r:embed="rId3"/>
                <a:stretch>
                  <a:fillRect r="-681"/>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2798664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93487" y="96038"/>
            <a:ext cx="872716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78972" y="775553"/>
            <a:ext cx="9794504"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5</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367559" y="1366947"/>
                <a:ext cx="4394188" cy="15825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={1,2,3,4}</m:t>
                    </m:r>
                  </m:oMath>
                </a14:m>
                <a:r>
                  <a:rPr lang="es-MX" sz="2000" dirty="0">
                    <a:latin typeface="+mn-lt"/>
                    <a:ea typeface="Roboto" panose="02000000000000000000" pitchFamily="2" charset="0"/>
                  </a:rPr>
                  <a:t> determine:</a:t>
                </a:r>
              </a:p>
              <a:p>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𝐴</m:t>
                    </m:r>
                  </m:oMath>
                </a14:m>
                <a:endParaRPr lang="es-MX" sz="2000" dirty="0">
                  <a:latin typeface="+mn-lt"/>
                  <a:ea typeface="Roboto" panose="02000000000000000000" pitchFamily="2" charset="0"/>
                </a:endParaRPr>
              </a:p>
              <a:p>
                <a:r>
                  <a:rPr lang="es-MX" sz="2000" dirty="0">
                    <a:latin typeface="+mn-lt"/>
                    <a:ea typeface="Roboto" panose="02000000000000000000" pitchFamily="2" charset="0"/>
                  </a:rPr>
                  <a:t>Los pares ordenados de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e>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divide</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a</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𝑏</m:t>
                        </m:r>
                      </m:e>
                    </m:d>
                  </m:oMath>
                </a14:m>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367559" y="1366947"/>
                <a:ext cx="4394188" cy="1582547"/>
              </a:xfrm>
              <a:prstGeom prst="rect">
                <a:avLst/>
              </a:prstGeom>
              <a:blipFill>
                <a:blip r:embed="rId3"/>
                <a:stretch>
                  <a:fillRect/>
                </a:stretch>
              </a:blipFill>
              <a:ln>
                <a:no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 name="CuadroTexto 2">
                <a:extLst>
                  <a:ext uri="{FF2B5EF4-FFF2-40B4-BE49-F238E27FC236}">
                    <a16:creationId xmlns:a16="http://schemas.microsoft.com/office/drawing/2014/main" id="{9E1730F1-D299-4C83-BF6A-5700830D82D0}"/>
                  </a:ext>
                </a:extLst>
              </p:cNvPr>
              <p:cNvSpPr txBox="1"/>
              <p:nvPr/>
            </p:nvSpPr>
            <p:spPr>
              <a:xfrm>
                <a:off x="5451383" y="1866765"/>
                <a:ext cx="6348276" cy="12330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𝐴</m:t>
                      </m:r>
                      <m:r>
                        <a:rPr lang="es-MX" sz="2000" b="0" i="1" smtClean="0">
                          <a:latin typeface="Cambria Math" panose="02040503050406030204" pitchFamily="18" charset="0"/>
                        </a:rPr>
                        <m:t>×</m:t>
                      </m:r>
                      <m:r>
                        <a:rPr lang="es-MX" sz="2000" b="0" i="1" smtClean="0">
                          <a:latin typeface="Cambria Math" panose="02040503050406030204" pitchFamily="18" charset="0"/>
                        </a:rPr>
                        <m:t>𝐴</m:t>
                      </m:r>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r>
                            <a:rPr lang="es-MX" sz="2000" b="0" i="1" smtClean="0">
                              <a:latin typeface="Cambria Math" panose="02040503050406030204" pitchFamily="18" charset="0"/>
                            </a:rPr>
                            <m:t>1,2,3,4</m:t>
                          </m:r>
                        </m:e>
                      </m:d>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r>
                            <a:rPr lang="es-MX" sz="2000" b="0" i="1" smtClean="0">
                              <a:latin typeface="Cambria Math" panose="02040503050406030204" pitchFamily="18" charset="0"/>
                            </a:rPr>
                            <m:t>1,2,3,4</m:t>
                          </m:r>
                        </m:e>
                      </m:d>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eqArr>
                            <m:eqArrPr>
                              <m:ctrlPr>
                                <a:rPr lang="es-MX" sz="2000" b="0" i="1" smtClean="0">
                                  <a:latin typeface="Cambria Math" panose="02040503050406030204" pitchFamily="18" charset="0"/>
                                </a:rPr>
                              </m:ctrlPr>
                            </m:eqArrPr>
                            <m:e>
                              <m:d>
                                <m:dPr>
                                  <m:ctrlPr>
                                    <a:rPr lang="es-MX" sz="2000" b="0" i="1" smtClean="0">
                                      <a:solidFill>
                                        <a:srgbClr val="002060"/>
                                      </a:solidFill>
                                      <a:latin typeface="Cambria Math" panose="02040503050406030204" pitchFamily="18" charset="0"/>
                                    </a:rPr>
                                  </m:ctrlPr>
                                </m:dPr>
                                <m:e>
                                  <m:r>
                                    <a:rPr lang="es-MX" sz="2000" b="0" i="1" smtClean="0">
                                      <a:solidFill>
                                        <a:srgbClr val="002060"/>
                                      </a:solidFill>
                                      <a:latin typeface="Cambria Math" panose="02040503050406030204" pitchFamily="18" charset="0"/>
                                    </a:rPr>
                                    <m:t>1,1</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m:t>
                                  </m:r>
                                  <m:r>
                                    <a:rPr lang="es-MX" sz="2000" b="0" i="1" smtClean="0">
                                      <a:solidFill>
                                        <a:srgbClr val="002060"/>
                                      </a:solidFill>
                                      <a:latin typeface="Cambria Math" panose="02040503050406030204" pitchFamily="18" charset="0"/>
                                    </a:rPr>
                                    <m:t>2</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m:t>
                                  </m:r>
                                  <m:r>
                                    <a:rPr lang="es-MX" sz="2000" b="0" i="1" smtClean="0">
                                      <a:solidFill>
                                        <a:srgbClr val="002060"/>
                                      </a:solidFill>
                                      <a:latin typeface="Cambria Math" panose="02040503050406030204" pitchFamily="18" charset="0"/>
                                    </a:rPr>
                                    <m:t>3</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m:t>
                                  </m:r>
                                  <m:r>
                                    <a:rPr lang="es-MX" sz="2000" b="0" i="1" smtClean="0">
                                      <a:solidFill>
                                        <a:srgbClr val="002060"/>
                                      </a:solidFill>
                                      <a:latin typeface="Cambria Math" panose="02040503050406030204" pitchFamily="18" charset="0"/>
                                    </a:rPr>
                                    <m:t>4</m:t>
                                  </m:r>
                                </m:e>
                              </m:d>
                            </m:e>
                            <m:e>
                              <m:d>
                                <m:dPr>
                                  <m:ctrlPr>
                                    <a:rPr lang="es-MX" sz="2000" i="1">
                                      <a:latin typeface="Cambria Math" panose="02040503050406030204" pitchFamily="18" charset="0"/>
                                    </a:rPr>
                                  </m:ctrlPr>
                                </m:dPr>
                                <m:e>
                                  <m:r>
                                    <a:rPr lang="es-MX" sz="2000" b="0" i="1" smtClean="0">
                                      <a:latin typeface="Cambria Math" panose="02040503050406030204" pitchFamily="18" charset="0"/>
                                    </a:rPr>
                                    <m:t>2</m:t>
                                  </m:r>
                                  <m:r>
                                    <a:rPr lang="es-MX" sz="2000" i="1">
                                      <a:latin typeface="Cambria Math" panose="02040503050406030204" pitchFamily="18" charset="0"/>
                                    </a:rPr>
                                    <m:t>,1</m:t>
                                  </m:r>
                                </m:e>
                              </m:d>
                              <m:r>
                                <a:rPr lang="es-MX" sz="2000" i="1">
                                  <a:latin typeface="Cambria Math" panose="02040503050406030204" pitchFamily="18" charset="0"/>
                                </a:rPr>
                                <m:t>,</m:t>
                              </m:r>
                              <m:d>
                                <m:dPr>
                                  <m:ctrlPr>
                                    <a:rPr lang="es-MX" sz="2000" i="1" smtClean="0">
                                      <a:solidFill>
                                        <a:srgbClr val="002060"/>
                                      </a:solidFill>
                                      <a:latin typeface="Cambria Math" panose="02040503050406030204" pitchFamily="18" charset="0"/>
                                    </a:rPr>
                                  </m:ctrlPr>
                                </m:dPr>
                                <m:e>
                                  <m:r>
                                    <a:rPr lang="es-MX" sz="2000" b="0" i="1" smtClean="0">
                                      <a:solidFill>
                                        <a:srgbClr val="002060"/>
                                      </a:solidFill>
                                      <a:latin typeface="Cambria Math" panose="02040503050406030204" pitchFamily="18" charset="0"/>
                                    </a:rPr>
                                    <m:t>2</m:t>
                                  </m:r>
                                  <m:r>
                                    <a:rPr lang="es-MX" sz="2000" i="1">
                                      <a:solidFill>
                                        <a:srgbClr val="002060"/>
                                      </a:solidFill>
                                      <a:latin typeface="Cambria Math" panose="02040503050406030204" pitchFamily="18" charset="0"/>
                                    </a:rPr>
                                    <m:t>,2</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2</m:t>
                                  </m:r>
                                  <m:r>
                                    <a:rPr lang="es-MX" sz="2000" i="1">
                                      <a:latin typeface="Cambria Math" panose="02040503050406030204" pitchFamily="18" charset="0"/>
                                    </a:rPr>
                                    <m:t>,3</m:t>
                                  </m:r>
                                </m:e>
                              </m:d>
                              <m:r>
                                <a:rPr lang="es-MX" sz="2000" i="1">
                                  <a:latin typeface="Cambria Math" panose="02040503050406030204" pitchFamily="18" charset="0"/>
                                </a:rPr>
                                <m:t>,</m:t>
                              </m:r>
                              <m:d>
                                <m:dPr>
                                  <m:ctrlPr>
                                    <a:rPr lang="es-MX" sz="2000" i="1" smtClean="0">
                                      <a:solidFill>
                                        <a:srgbClr val="002060"/>
                                      </a:solidFill>
                                      <a:latin typeface="Cambria Math" panose="02040503050406030204" pitchFamily="18" charset="0"/>
                                    </a:rPr>
                                  </m:ctrlPr>
                                </m:dPr>
                                <m:e>
                                  <m:r>
                                    <a:rPr lang="es-MX" sz="2000" b="0" i="1" smtClean="0">
                                      <a:solidFill>
                                        <a:srgbClr val="002060"/>
                                      </a:solidFill>
                                      <a:latin typeface="Cambria Math" panose="02040503050406030204" pitchFamily="18" charset="0"/>
                                    </a:rPr>
                                    <m:t>2</m:t>
                                  </m:r>
                                  <m:r>
                                    <a:rPr lang="es-MX" sz="2000" i="1">
                                      <a:solidFill>
                                        <a:srgbClr val="002060"/>
                                      </a:solidFill>
                                      <a:latin typeface="Cambria Math" panose="02040503050406030204" pitchFamily="18" charset="0"/>
                                    </a:rPr>
                                    <m:t>,4</m:t>
                                  </m:r>
                                </m:e>
                              </m:d>
                            </m:e>
                            <m:e>
                              <m:d>
                                <m:dPr>
                                  <m:ctrlPr>
                                    <a:rPr lang="es-MX" sz="2000" i="1">
                                      <a:latin typeface="Cambria Math" panose="02040503050406030204" pitchFamily="18" charset="0"/>
                                    </a:rPr>
                                  </m:ctrlPr>
                                </m:dPr>
                                <m:e>
                                  <m:r>
                                    <a:rPr lang="es-MX" sz="2000" b="0" i="1" smtClean="0">
                                      <a:latin typeface="Cambria Math" panose="02040503050406030204" pitchFamily="18" charset="0"/>
                                    </a:rPr>
                                    <m:t>3</m:t>
                                  </m:r>
                                  <m:r>
                                    <a:rPr lang="es-MX" sz="2000" i="1">
                                      <a:latin typeface="Cambria Math" panose="02040503050406030204" pitchFamily="18" charset="0"/>
                                    </a:rPr>
                                    <m:t>,1</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3</m:t>
                                  </m:r>
                                  <m:r>
                                    <a:rPr lang="es-MX" sz="2000" i="1">
                                      <a:latin typeface="Cambria Math" panose="02040503050406030204" pitchFamily="18" charset="0"/>
                                    </a:rPr>
                                    <m:t>,2</m:t>
                                  </m:r>
                                </m:e>
                              </m:d>
                              <m:r>
                                <a:rPr lang="es-MX" sz="2000" i="1">
                                  <a:latin typeface="Cambria Math" panose="02040503050406030204" pitchFamily="18" charset="0"/>
                                </a:rPr>
                                <m:t>,</m:t>
                              </m:r>
                              <m:d>
                                <m:dPr>
                                  <m:ctrlPr>
                                    <a:rPr lang="es-MX" sz="2000" i="1" smtClean="0">
                                      <a:solidFill>
                                        <a:srgbClr val="002060"/>
                                      </a:solidFill>
                                      <a:latin typeface="Cambria Math" panose="02040503050406030204" pitchFamily="18" charset="0"/>
                                    </a:rPr>
                                  </m:ctrlPr>
                                </m:dPr>
                                <m:e>
                                  <m:r>
                                    <a:rPr lang="es-MX" sz="2000" b="0" i="1" smtClean="0">
                                      <a:solidFill>
                                        <a:srgbClr val="002060"/>
                                      </a:solidFill>
                                      <a:latin typeface="Cambria Math" panose="02040503050406030204" pitchFamily="18" charset="0"/>
                                    </a:rPr>
                                    <m:t>3</m:t>
                                  </m:r>
                                  <m:r>
                                    <a:rPr lang="es-MX" sz="2000" i="1">
                                      <a:solidFill>
                                        <a:srgbClr val="002060"/>
                                      </a:solidFill>
                                      <a:latin typeface="Cambria Math" panose="02040503050406030204" pitchFamily="18" charset="0"/>
                                    </a:rPr>
                                    <m:t>,3</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3</m:t>
                                  </m:r>
                                  <m:r>
                                    <a:rPr lang="es-MX" sz="2000" i="1">
                                      <a:latin typeface="Cambria Math" panose="02040503050406030204" pitchFamily="18" charset="0"/>
                                    </a:rPr>
                                    <m:t>,4</m:t>
                                  </m:r>
                                </m:e>
                              </m:d>
                            </m:e>
                            <m:e>
                              <m:d>
                                <m:dPr>
                                  <m:ctrlPr>
                                    <a:rPr lang="es-MX" sz="2000" i="1">
                                      <a:latin typeface="Cambria Math" panose="02040503050406030204" pitchFamily="18" charset="0"/>
                                    </a:rPr>
                                  </m:ctrlPr>
                                </m:dPr>
                                <m:e>
                                  <m:r>
                                    <a:rPr lang="es-MX" sz="2000" b="0" i="1" smtClean="0">
                                      <a:latin typeface="Cambria Math" panose="02040503050406030204" pitchFamily="18" charset="0"/>
                                    </a:rPr>
                                    <m:t>4</m:t>
                                  </m:r>
                                  <m:r>
                                    <a:rPr lang="es-MX" sz="2000" i="1">
                                      <a:latin typeface="Cambria Math" panose="02040503050406030204" pitchFamily="18" charset="0"/>
                                    </a:rPr>
                                    <m:t>,1</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4</m:t>
                                  </m:r>
                                  <m:r>
                                    <a:rPr lang="es-MX" sz="2000" i="1">
                                      <a:latin typeface="Cambria Math" panose="02040503050406030204" pitchFamily="18" charset="0"/>
                                    </a:rPr>
                                    <m:t>,2</m:t>
                                  </m:r>
                                </m:e>
                              </m:d>
                              <m:r>
                                <a:rPr lang="es-MX" sz="2000" i="1">
                                  <a:latin typeface="Cambria Math" panose="02040503050406030204" pitchFamily="18" charset="0"/>
                                </a:rPr>
                                <m:t>,</m:t>
                              </m:r>
                              <m:d>
                                <m:dPr>
                                  <m:ctrlPr>
                                    <a:rPr lang="es-MX" sz="2000" i="1">
                                      <a:latin typeface="Cambria Math" panose="02040503050406030204" pitchFamily="18" charset="0"/>
                                    </a:rPr>
                                  </m:ctrlPr>
                                </m:dPr>
                                <m:e>
                                  <m:r>
                                    <a:rPr lang="es-MX" sz="2000" b="0" i="1" smtClean="0">
                                      <a:latin typeface="Cambria Math" panose="02040503050406030204" pitchFamily="18" charset="0"/>
                                    </a:rPr>
                                    <m:t>4</m:t>
                                  </m:r>
                                  <m:r>
                                    <a:rPr lang="es-MX" sz="2000" i="1">
                                      <a:latin typeface="Cambria Math" panose="02040503050406030204" pitchFamily="18" charset="0"/>
                                    </a:rPr>
                                    <m:t>,3</m:t>
                                  </m:r>
                                </m:e>
                              </m:d>
                              <m:r>
                                <a:rPr lang="es-MX" sz="2000" i="1">
                                  <a:latin typeface="Cambria Math" panose="02040503050406030204" pitchFamily="18" charset="0"/>
                                </a:rPr>
                                <m:t>,</m:t>
                              </m:r>
                              <m:d>
                                <m:dPr>
                                  <m:ctrlPr>
                                    <a:rPr lang="es-MX" sz="2000" i="1" smtClean="0">
                                      <a:solidFill>
                                        <a:srgbClr val="002060"/>
                                      </a:solidFill>
                                      <a:latin typeface="Cambria Math" panose="02040503050406030204" pitchFamily="18" charset="0"/>
                                    </a:rPr>
                                  </m:ctrlPr>
                                </m:dPr>
                                <m:e>
                                  <m:r>
                                    <a:rPr lang="es-MX" sz="2000" b="0" i="1" smtClean="0">
                                      <a:solidFill>
                                        <a:srgbClr val="002060"/>
                                      </a:solidFill>
                                      <a:latin typeface="Cambria Math" panose="02040503050406030204" pitchFamily="18" charset="0"/>
                                    </a:rPr>
                                    <m:t>4</m:t>
                                  </m:r>
                                  <m:r>
                                    <a:rPr lang="es-MX" sz="2000" i="1">
                                      <a:solidFill>
                                        <a:srgbClr val="002060"/>
                                      </a:solidFill>
                                      <a:latin typeface="Cambria Math" panose="02040503050406030204" pitchFamily="18" charset="0"/>
                                    </a:rPr>
                                    <m:t>,4</m:t>
                                  </m:r>
                                </m:e>
                              </m:d>
                            </m:e>
                          </m:eqArr>
                        </m:e>
                      </m:d>
                    </m:oMath>
                  </m:oMathPara>
                </a14:m>
                <a:endParaRPr lang="es-CO" sz="2000" dirty="0"/>
              </a:p>
            </p:txBody>
          </p:sp>
        </mc:Choice>
        <mc:Fallback>
          <p:sp>
            <p:nvSpPr>
              <p:cNvPr id="3" name="CuadroTexto 2">
                <a:extLst>
                  <a:ext uri="{FF2B5EF4-FFF2-40B4-BE49-F238E27FC236}">
                    <a16:creationId xmlns:a16="http://schemas.microsoft.com/office/drawing/2014/main" id="{9E1730F1-D299-4C83-BF6A-5700830D82D0}"/>
                  </a:ext>
                </a:extLst>
              </p:cNvPr>
              <p:cNvSpPr txBox="1">
                <a:spLocks noRot="1" noChangeAspect="1" noMove="1" noResize="1" noEditPoints="1" noAdjustHandles="1" noChangeArrowheads="1" noChangeShapeType="1" noTextEdit="1"/>
              </p:cNvSpPr>
              <p:nvPr/>
            </p:nvSpPr>
            <p:spPr>
              <a:xfrm>
                <a:off x="5451383" y="1866765"/>
                <a:ext cx="6348276" cy="1233094"/>
              </a:xfrm>
              <a:prstGeom prst="rect">
                <a:avLst/>
              </a:prstGeom>
              <a:blipFill>
                <a:blip r:embed="rId4"/>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E2635B2B-F183-44B8-A543-E38C2C297818}"/>
                  </a:ext>
                </a:extLst>
              </p:cNvPr>
              <p:cNvSpPr txBox="1"/>
              <p:nvPr/>
            </p:nvSpPr>
            <p:spPr>
              <a:xfrm>
                <a:off x="3175617" y="3856137"/>
                <a:ext cx="584076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𝑅</m:t>
                      </m:r>
                      <m:r>
                        <a:rPr lang="es-MX" sz="2000" b="0" i="1" smtClean="0">
                          <a:latin typeface="Cambria Math" panose="02040503050406030204" pitchFamily="18" charset="0"/>
                        </a:rPr>
                        <m:t>=</m:t>
                      </m:r>
                      <m:d>
                        <m:dPr>
                          <m:begChr m:val="{"/>
                          <m:endChr m:val="}"/>
                          <m:ctrlPr>
                            <a:rPr lang="es-MX" sz="2000" b="0" i="1" smtClean="0">
                              <a:latin typeface="Cambria Math" panose="02040503050406030204" pitchFamily="18" charset="0"/>
                            </a:rPr>
                          </m:ctrlPr>
                        </m:dPr>
                        <m:e>
                          <m:d>
                            <m:dPr>
                              <m:ctrlPr>
                                <a:rPr lang="es-MX" sz="2000" i="1" smtClean="0">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1,1</m:t>
                              </m:r>
                            </m:e>
                          </m:d>
                          <m:r>
                            <a:rPr lang="es-MX" sz="2000" i="1">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1,2</m:t>
                              </m:r>
                            </m:e>
                          </m:d>
                          <m:r>
                            <a:rPr lang="es-MX" sz="2000" i="1">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1,3</m:t>
                              </m:r>
                            </m:e>
                          </m:d>
                          <m:r>
                            <a:rPr lang="es-MX" sz="2000" i="1">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1,4</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2,2</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2,4</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3,3</m:t>
                              </m:r>
                            </m:e>
                          </m:d>
                          <m:r>
                            <a:rPr lang="es-MX" sz="2000" b="0" i="1" smtClean="0">
                              <a:solidFill>
                                <a:srgbClr val="002060"/>
                              </a:solidFill>
                              <a:latin typeface="Cambria Math" panose="02040503050406030204" pitchFamily="18" charset="0"/>
                            </a:rPr>
                            <m:t>,</m:t>
                          </m:r>
                          <m:d>
                            <m:dPr>
                              <m:ctrlPr>
                                <a:rPr lang="es-MX" sz="2000" i="1">
                                  <a:solidFill>
                                    <a:srgbClr val="002060"/>
                                  </a:solidFill>
                                  <a:latin typeface="Cambria Math" panose="02040503050406030204" pitchFamily="18" charset="0"/>
                                </a:rPr>
                              </m:ctrlPr>
                            </m:dPr>
                            <m:e>
                              <m:r>
                                <a:rPr lang="es-MX" sz="2000" i="1">
                                  <a:solidFill>
                                    <a:srgbClr val="002060"/>
                                  </a:solidFill>
                                  <a:latin typeface="Cambria Math" panose="02040503050406030204" pitchFamily="18" charset="0"/>
                                </a:rPr>
                                <m:t>4,4</m:t>
                              </m:r>
                            </m:e>
                          </m:d>
                        </m:e>
                      </m:d>
                    </m:oMath>
                  </m:oMathPara>
                </a14:m>
                <a:endParaRPr lang="es-CO" sz="2000" dirty="0"/>
              </a:p>
            </p:txBody>
          </p:sp>
        </mc:Choice>
        <mc:Fallback>
          <p:sp>
            <p:nvSpPr>
              <p:cNvPr id="13" name="CuadroTexto 12">
                <a:extLst>
                  <a:ext uri="{FF2B5EF4-FFF2-40B4-BE49-F238E27FC236}">
                    <a16:creationId xmlns:a16="http://schemas.microsoft.com/office/drawing/2014/main" id="{E2635B2B-F183-44B8-A543-E38C2C297818}"/>
                  </a:ext>
                </a:extLst>
              </p:cNvPr>
              <p:cNvSpPr txBox="1">
                <a:spLocks noRot="1" noChangeAspect="1" noMove="1" noResize="1" noEditPoints="1" noAdjustHandles="1" noChangeArrowheads="1" noChangeShapeType="1" noTextEdit="1"/>
              </p:cNvSpPr>
              <p:nvPr/>
            </p:nvSpPr>
            <p:spPr>
              <a:xfrm>
                <a:off x="3175617" y="3856137"/>
                <a:ext cx="5840766" cy="307777"/>
              </a:xfrm>
              <a:prstGeom prst="rect">
                <a:avLst/>
              </a:prstGeom>
              <a:blipFill>
                <a:blip r:embed="rId5"/>
                <a:stretch>
                  <a:fillRect l="-626" b="-6000"/>
                </a:stretch>
              </a:blipFill>
            </p:spPr>
            <p:txBody>
              <a:bodyPr/>
              <a:lstStyle/>
              <a:p>
                <a:r>
                  <a:rPr lang="es-CO">
                    <a:noFill/>
                  </a:rPr>
                  <a:t> </a:t>
                </a:r>
              </a:p>
            </p:txBody>
          </p:sp>
        </mc:Fallback>
      </mc:AlternateContent>
      <p:sp>
        <p:nvSpPr>
          <p:cNvPr id="14" name="CuadroTexto 13">
            <a:extLst>
              <a:ext uri="{FF2B5EF4-FFF2-40B4-BE49-F238E27FC236}">
                <a16:creationId xmlns:a16="http://schemas.microsoft.com/office/drawing/2014/main" id="{BD11E40A-FF6C-4913-A2BD-23E9FBA3BFA5}"/>
              </a:ext>
            </a:extLst>
          </p:cNvPr>
          <p:cNvSpPr txBox="1"/>
          <p:nvPr/>
        </p:nvSpPr>
        <p:spPr>
          <a:xfrm>
            <a:off x="5694452" y="1281029"/>
            <a:ext cx="5307377" cy="400110"/>
          </a:xfrm>
          <a:prstGeom prst="rect">
            <a:avLst/>
          </a:prstGeom>
          <a:noFill/>
        </p:spPr>
        <p:txBody>
          <a:bodyPr wrap="square" rtlCol="0">
            <a:spAutoFit/>
          </a:bodyPr>
          <a:lstStyle/>
          <a:p>
            <a:r>
              <a:rPr lang="es-MX" sz="2000" b="1" dirty="0">
                <a:ea typeface="Roboto" panose="02000000000000000000" pitchFamily="2" charset="0"/>
              </a:rPr>
              <a:t>Solución</a:t>
            </a:r>
            <a:r>
              <a:rPr lang="es-MX" sz="2000" dirty="0">
                <a:ea typeface="Roboto" panose="02000000000000000000" pitchFamily="2" charset="0"/>
              </a:rPr>
              <a:t>: </a:t>
            </a:r>
            <a:r>
              <a:rPr lang="es-MX" sz="2000" dirty="0">
                <a:solidFill>
                  <a:schemeClr val="tx1"/>
                </a:solidFill>
                <a:ea typeface="Roboto" panose="02000000000000000000" pitchFamily="2" charset="0"/>
              </a:rPr>
              <a:t>Para producto cartesiano tenemos:</a:t>
            </a:r>
            <a:endParaRPr lang="es-CO" sz="2000" dirty="0">
              <a:solidFill>
                <a:schemeClr val="tx1"/>
              </a:solidFill>
              <a:ea typeface="Roboto" panose="02000000000000000000" pitchFamily="2" charset="0"/>
            </a:endParaRPr>
          </a:p>
        </p:txBody>
      </p:sp>
      <p:pic>
        <p:nvPicPr>
          <p:cNvPr id="11" name="Imagen 10">
            <a:extLst>
              <a:ext uri="{FF2B5EF4-FFF2-40B4-BE49-F238E27FC236}">
                <a16:creationId xmlns:a16="http://schemas.microsoft.com/office/drawing/2014/main" id="{0F9791C2-542C-4DC8-8318-E95D9E73BDFD}"/>
              </a:ext>
            </a:extLst>
          </p:cNvPr>
          <p:cNvPicPr>
            <a:picLocks noChangeAspect="1"/>
          </p:cNvPicPr>
          <p:nvPr/>
        </p:nvPicPr>
        <p:blipFill>
          <a:blip r:embed="rId6"/>
          <a:stretch>
            <a:fillRect/>
          </a:stretch>
        </p:blipFill>
        <p:spPr>
          <a:xfrm>
            <a:off x="3750227" y="4403919"/>
            <a:ext cx="1581189" cy="2238163"/>
          </a:xfrm>
          <a:prstGeom prst="rect">
            <a:avLst/>
          </a:prstGeom>
        </p:spPr>
      </p:pic>
      <p:pic>
        <p:nvPicPr>
          <p:cNvPr id="16" name="Imagen 15">
            <a:extLst>
              <a:ext uri="{FF2B5EF4-FFF2-40B4-BE49-F238E27FC236}">
                <a16:creationId xmlns:a16="http://schemas.microsoft.com/office/drawing/2014/main" id="{04519C79-5A2F-4858-B93A-8FC5E2921AB1}"/>
              </a:ext>
            </a:extLst>
          </p:cNvPr>
          <p:cNvPicPr>
            <a:picLocks noChangeAspect="1"/>
          </p:cNvPicPr>
          <p:nvPr/>
        </p:nvPicPr>
        <p:blipFill>
          <a:blip r:embed="rId7"/>
          <a:stretch>
            <a:fillRect/>
          </a:stretch>
        </p:blipFill>
        <p:spPr>
          <a:xfrm>
            <a:off x="6096000" y="4364901"/>
            <a:ext cx="2529521" cy="2238163"/>
          </a:xfrm>
          <a:prstGeom prst="rect">
            <a:avLst/>
          </a:prstGeom>
        </p:spPr>
      </p:pic>
      <p:sp>
        <p:nvSpPr>
          <p:cNvPr id="19" name="CuadroTexto 18">
            <a:extLst>
              <a:ext uri="{FF2B5EF4-FFF2-40B4-BE49-F238E27FC236}">
                <a16:creationId xmlns:a16="http://schemas.microsoft.com/office/drawing/2014/main" id="{B2611AC9-F344-404A-9DF0-3EE791820D06}"/>
              </a:ext>
            </a:extLst>
          </p:cNvPr>
          <p:cNvSpPr txBox="1"/>
          <p:nvPr/>
        </p:nvSpPr>
        <p:spPr>
          <a:xfrm>
            <a:off x="493487" y="3201563"/>
            <a:ext cx="7467933" cy="400110"/>
          </a:xfrm>
          <a:prstGeom prst="rect">
            <a:avLst/>
          </a:prstGeom>
          <a:noFill/>
        </p:spPr>
        <p:txBody>
          <a:bodyPr wrap="square" rtlCol="0">
            <a:spAutoFit/>
          </a:bodyPr>
          <a:lstStyle/>
          <a:p>
            <a:r>
              <a:rPr lang="es-MX" sz="2000" dirty="0">
                <a:solidFill>
                  <a:schemeClr val="tx1"/>
                </a:solidFill>
                <a:ea typeface="Roboto" panose="02000000000000000000" pitchFamily="2" charset="0"/>
              </a:rPr>
              <a:t>Para el caso de la relación el resultado es el siguiente:</a:t>
            </a:r>
            <a:endParaRPr lang="es-CO" sz="2000" dirty="0">
              <a:solidFill>
                <a:schemeClr val="tx1"/>
              </a:solidFill>
              <a:ea typeface="Roboto" panose="02000000000000000000" pitchFamily="2" charset="0"/>
            </a:endParaRPr>
          </a:p>
        </p:txBody>
      </p:sp>
    </p:spTree>
    <p:extLst>
      <p:ext uri="{BB962C8B-B14F-4D97-AF65-F5344CB8AC3E}">
        <p14:creationId xmlns:p14="http://schemas.microsoft.com/office/powerpoint/2010/main" val="4033563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78971" y="96038"/>
            <a:ext cx="874167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80571" y="750087"/>
            <a:ext cx="9838047"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6</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78971" y="1226513"/>
                <a:ext cx="10245857" cy="15825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𝑥</m:t>
                        </m:r>
                      </m:e>
                      <m:e>
                        <m:r>
                          <a:rPr lang="es-MX" sz="2000" b="0" i="1" smtClean="0">
                            <a:solidFill>
                              <a:schemeClr val="tx1"/>
                            </a:solidFill>
                            <a:latin typeface="Cambria Math" panose="02040503050406030204" pitchFamily="18" charset="0"/>
                            <a:ea typeface="Roboto" panose="02000000000000000000" pitchFamily="2" charset="0"/>
                          </a:rPr>
                          <m:t>𝑥</m:t>
                        </m:r>
                        <m:r>
                          <a:rPr lang="es-MX" sz="2000" b="0" i="1"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sea</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una</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hora</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del</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dia</m:t>
                        </m:r>
                      </m:e>
                    </m:d>
                  </m:oMath>
                </a14:m>
                <a:r>
                  <a:rPr lang="es-MX" sz="2000" dirty="0">
                    <a:latin typeface="+mn-lt"/>
                    <a:ea typeface="Roboto" panose="02000000000000000000" pitchFamily="2" charset="0"/>
                  </a:rPr>
                  <a:t> determine los elementos de la relación </a:t>
                </a:r>
                <a:endParaRPr lang="es-MX" sz="2000" b="0" i="1" dirty="0">
                  <a:solidFill>
                    <a:schemeClr val="tx1"/>
                  </a:solidFill>
                  <a:latin typeface="+mn-lt"/>
                  <a:ea typeface="Roboto" panose="02000000000000000000" pitchFamily="2" charset="0"/>
                </a:endParaRPr>
              </a:p>
              <a:p>
                <a:pPr marL="127000" indent="0">
                  <a:buNone/>
                </a:pPr>
                <a:endParaRPr lang="es-MX" sz="2000" b="0" i="1" dirty="0">
                  <a:solidFill>
                    <a:schemeClr val="tx1"/>
                  </a:solidFill>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d>
                            <m:dPr>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e>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sea</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una</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hora</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antes</m:t>
                          </m:r>
                          <m:r>
                            <a:rPr lang="es-MX" sz="2000" b="0" i="0"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de</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𝑦</m:t>
                          </m:r>
                        </m:e>
                      </m:d>
                    </m:oMath>
                  </m:oMathPara>
                </a14:m>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78971" y="1226513"/>
                <a:ext cx="10245857" cy="1582547"/>
              </a:xfrm>
              <a:prstGeom prst="rect">
                <a:avLst/>
              </a:prstGeom>
              <a:blipFill>
                <a:blip r:embed="rId3"/>
                <a:stretch>
                  <a:fillRect/>
                </a:stretch>
              </a:blipFill>
              <a:ln>
                <a:no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E2635B2B-F183-44B8-A543-E38C2C297818}"/>
                  </a:ext>
                </a:extLst>
              </p:cNvPr>
              <p:cNvSpPr txBox="1"/>
              <p:nvPr/>
            </p:nvSpPr>
            <p:spPr>
              <a:xfrm>
                <a:off x="2043826" y="3285486"/>
                <a:ext cx="837479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1800" b="0" i="1" smtClean="0">
                          <a:solidFill>
                            <a:schemeClr val="tx1"/>
                          </a:solidFill>
                          <a:latin typeface="Cambria Math" panose="02040503050406030204" pitchFamily="18" charset="0"/>
                        </a:rPr>
                        <m:t>𝑅</m:t>
                      </m:r>
                      <m:r>
                        <a:rPr lang="es-MX" sz="1800" b="0" i="1" smtClean="0">
                          <a:solidFill>
                            <a:schemeClr val="tx1"/>
                          </a:solidFill>
                          <a:latin typeface="Cambria Math" panose="02040503050406030204" pitchFamily="18" charset="0"/>
                        </a:rPr>
                        <m:t>=</m:t>
                      </m:r>
                      <m:d>
                        <m:dPr>
                          <m:begChr m:val="{"/>
                          <m:endChr m:val="}"/>
                          <m:ctrlPr>
                            <a:rPr lang="es-MX" sz="1800" b="0" i="1" smtClean="0">
                              <a:solidFill>
                                <a:schemeClr val="tx1"/>
                              </a:solidFill>
                              <a:latin typeface="Cambria Math" panose="02040503050406030204" pitchFamily="18" charset="0"/>
                            </a:rPr>
                          </m:ctrlPr>
                        </m:dPr>
                        <m:e>
                          <m:d>
                            <m:dPr>
                              <m:ctrlPr>
                                <a:rPr lang="es-MX" sz="1800" i="1">
                                  <a:solidFill>
                                    <a:schemeClr val="tx1"/>
                                  </a:solidFill>
                                  <a:latin typeface="Cambria Math" panose="02040503050406030204" pitchFamily="18" charset="0"/>
                                </a:rPr>
                              </m:ctrlPr>
                            </m:dPr>
                            <m:e>
                              <m:r>
                                <a:rPr lang="es-MX" sz="1800" i="1">
                                  <a:solidFill>
                                    <a:schemeClr val="tx1"/>
                                  </a:solidFill>
                                  <a:latin typeface="Cambria Math" panose="02040503050406030204" pitchFamily="18" charset="0"/>
                                </a:rPr>
                                <m:t>1</m:t>
                              </m:r>
                              <m:r>
                                <a:rPr lang="es-MX" sz="1800" b="0" i="1" smtClean="0">
                                  <a:solidFill>
                                    <a:schemeClr val="tx1"/>
                                  </a:solidFill>
                                  <a:latin typeface="Cambria Math" panose="02040503050406030204" pitchFamily="18" charset="0"/>
                                </a:rPr>
                                <m:t>2</m:t>
                              </m:r>
                              <m:r>
                                <a:rPr lang="es-MX" sz="1800" i="1">
                                  <a:solidFill>
                                    <a:schemeClr val="tx1"/>
                                  </a:solidFill>
                                  <a:latin typeface="Cambria Math" panose="02040503050406030204" pitchFamily="18" charset="0"/>
                                </a:rPr>
                                <m:t>,1</m:t>
                              </m:r>
                            </m:e>
                          </m:d>
                          <m:r>
                            <a:rPr lang="es-MX" sz="1800" i="1">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i="1">
                                  <a:solidFill>
                                    <a:schemeClr val="tx1"/>
                                  </a:solidFill>
                                  <a:latin typeface="Cambria Math" panose="02040503050406030204" pitchFamily="18" charset="0"/>
                                </a:rPr>
                                <m:t>1,2</m:t>
                              </m:r>
                            </m:e>
                          </m:d>
                          <m:r>
                            <a:rPr lang="es-MX" sz="1800" i="1">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2</m:t>
                              </m:r>
                              <m:r>
                                <a:rPr lang="es-MX" sz="1800" i="1">
                                  <a:solidFill>
                                    <a:schemeClr val="tx1"/>
                                  </a:solidFill>
                                  <a:latin typeface="Cambria Math" panose="02040503050406030204" pitchFamily="18" charset="0"/>
                                </a:rPr>
                                <m:t>,3</m:t>
                              </m:r>
                            </m:e>
                          </m:d>
                          <m:r>
                            <a:rPr lang="es-MX" sz="1800" i="1">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3</m:t>
                              </m:r>
                              <m:r>
                                <a:rPr lang="es-MX" sz="1800" i="1">
                                  <a:solidFill>
                                    <a:schemeClr val="tx1"/>
                                  </a:solidFill>
                                  <a:latin typeface="Cambria Math" panose="02040503050406030204" pitchFamily="18" charset="0"/>
                                </a:rPr>
                                <m:t>,4</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4</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5</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5</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6</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6</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7</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7</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8</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8</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9</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9</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10</m:t>
                              </m:r>
                            </m:e>
                          </m:d>
                          <m:r>
                            <a:rPr lang="es-MX" sz="1800" b="0" i="1" smtClean="0">
                              <a:solidFill>
                                <a:schemeClr val="tx1"/>
                              </a:solidFill>
                              <a:latin typeface="Cambria Math" panose="02040503050406030204" pitchFamily="18" charset="0"/>
                            </a:rPr>
                            <m:t>,</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10,11</m:t>
                              </m:r>
                            </m:e>
                          </m:d>
                          <m:r>
                            <a:rPr lang="es-MX" sz="1800" b="0" i="1" smtClean="0">
                              <a:solidFill>
                                <a:schemeClr val="tx1"/>
                              </a:solidFill>
                              <a:latin typeface="Cambria Math" panose="02040503050406030204" pitchFamily="18" charset="0"/>
                            </a:rPr>
                            <m:t>,(11,12)</m:t>
                          </m:r>
                        </m:e>
                      </m:d>
                    </m:oMath>
                  </m:oMathPara>
                </a14:m>
                <a:endParaRPr lang="es-CO" sz="1800" dirty="0">
                  <a:solidFill>
                    <a:schemeClr val="tx1"/>
                  </a:solidFill>
                </a:endParaRPr>
              </a:p>
            </p:txBody>
          </p:sp>
        </mc:Choice>
        <mc:Fallback>
          <p:sp>
            <p:nvSpPr>
              <p:cNvPr id="13" name="CuadroTexto 12">
                <a:extLst>
                  <a:ext uri="{FF2B5EF4-FFF2-40B4-BE49-F238E27FC236}">
                    <a16:creationId xmlns:a16="http://schemas.microsoft.com/office/drawing/2014/main" id="{E2635B2B-F183-44B8-A543-E38C2C297818}"/>
                  </a:ext>
                </a:extLst>
              </p:cNvPr>
              <p:cNvSpPr txBox="1">
                <a:spLocks noRot="1" noChangeAspect="1" noMove="1" noResize="1" noEditPoints="1" noAdjustHandles="1" noChangeArrowheads="1" noChangeShapeType="1" noTextEdit="1"/>
              </p:cNvSpPr>
              <p:nvPr/>
            </p:nvSpPr>
            <p:spPr>
              <a:xfrm>
                <a:off x="2043826" y="3285486"/>
                <a:ext cx="8374792" cy="276999"/>
              </a:xfrm>
              <a:prstGeom prst="rect">
                <a:avLst/>
              </a:prstGeom>
              <a:blipFill>
                <a:blip r:embed="rId4"/>
                <a:stretch>
                  <a:fillRect l="-73" t="-2222" b="-35556"/>
                </a:stretch>
              </a:blipFill>
            </p:spPr>
            <p:txBody>
              <a:bodyPr/>
              <a:lstStyle/>
              <a:p>
                <a:r>
                  <a:rPr lang="es-CO">
                    <a:noFill/>
                  </a:rPr>
                  <a:t> </a:t>
                </a:r>
              </a:p>
            </p:txBody>
          </p:sp>
        </mc:Fallback>
      </mc:AlternateContent>
      <p:sp>
        <p:nvSpPr>
          <p:cNvPr id="12" name="CuadroTexto 11">
            <a:extLst>
              <a:ext uri="{FF2B5EF4-FFF2-40B4-BE49-F238E27FC236}">
                <a16:creationId xmlns:a16="http://schemas.microsoft.com/office/drawing/2014/main" id="{C9073915-E7FC-4086-AA27-4DC303726DE6}"/>
              </a:ext>
            </a:extLst>
          </p:cNvPr>
          <p:cNvSpPr txBox="1"/>
          <p:nvPr/>
        </p:nvSpPr>
        <p:spPr>
          <a:xfrm>
            <a:off x="580571" y="2751891"/>
            <a:ext cx="7955598" cy="400110"/>
          </a:xfrm>
          <a:prstGeom prst="rect">
            <a:avLst/>
          </a:prstGeom>
          <a:noFill/>
        </p:spPr>
        <p:txBody>
          <a:bodyPr wrap="square" rtlCol="0">
            <a:spAutoFit/>
          </a:bodyPr>
          <a:lstStyle/>
          <a:p>
            <a:r>
              <a:rPr lang="es-MX" sz="2000" b="1" dirty="0">
                <a:ea typeface="Roboto" panose="02000000000000000000" pitchFamily="2" charset="0"/>
              </a:rPr>
              <a:t>Solución</a:t>
            </a:r>
            <a:r>
              <a:rPr lang="es-MX" sz="2000" dirty="0">
                <a:ea typeface="Roboto" panose="02000000000000000000" pitchFamily="2" charset="0"/>
              </a:rPr>
              <a:t>: </a:t>
            </a:r>
            <a:r>
              <a:rPr lang="es-MX" sz="2000" dirty="0">
                <a:solidFill>
                  <a:schemeClr val="tx1"/>
                </a:solidFill>
                <a:ea typeface="Roboto" panose="02000000000000000000" pitchFamily="2" charset="0"/>
              </a:rPr>
              <a:t>Para el caso tenemos:</a:t>
            </a:r>
            <a:endParaRPr lang="es-CO" sz="2000" dirty="0">
              <a:solidFill>
                <a:schemeClr val="tx1"/>
              </a:solidFill>
              <a:ea typeface="Roboto" panose="02000000000000000000" pitchFamily="2" charset="0"/>
            </a:endParaRPr>
          </a:p>
        </p:txBody>
      </p:sp>
      <p:pic>
        <p:nvPicPr>
          <p:cNvPr id="1026" name="Picture 2" descr="Wall Clock Stock Illustrations – 48,123 Wall Clock Stock ...">
            <a:extLst>
              <a:ext uri="{FF2B5EF4-FFF2-40B4-BE49-F238E27FC236}">
                <a16:creationId xmlns:a16="http://schemas.microsoft.com/office/drawing/2014/main" id="{F25E05D3-D627-46C6-AE25-849AA69545E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44346" y="1098730"/>
            <a:ext cx="1948543" cy="1948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4408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82251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mc:AlternateContent xmlns:mc="http://schemas.openxmlformats.org/markup-compatibility/2006">
        <mc:Choice xmlns:a14="http://schemas.microsoft.com/office/drawing/2010/main" Requires="a14">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Numero de relaciones existentes en un conjunto con </a:t>
                </a:r>
                <a14:m>
                  <m:oMath xmlns:m="http://schemas.openxmlformats.org/officeDocument/2006/math">
                    <m:r>
                      <a:rPr lang="es-MX" b="1" i="1" smtClean="0">
                        <a:solidFill>
                          <a:schemeClr val="tx1"/>
                        </a:solidFill>
                        <a:latin typeface="Cambria Math" panose="02040503050406030204" pitchFamily="18" charset="0"/>
                      </a:rPr>
                      <m:t>𝒏</m:t>
                    </m:r>
                  </m:oMath>
                </a14:m>
                <a:r>
                  <a:rPr lang="es-MX" b="1" dirty="0">
                    <a:solidFill>
                      <a:schemeClr val="tx1"/>
                    </a:solidFill>
                    <a:latin typeface="+mn-lt"/>
                  </a:rPr>
                  <a:t> elementos</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Choice>
        <mc:Fallback>
          <p:sp>
            <p:nvSpPr>
              <p:cNvPr id="4" name="Google Shape;310;p34">
                <a:extLst>
                  <a:ext uri="{FF2B5EF4-FFF2-40B4-BE49-F238E27FC236}">
                    <a16:creationId xmlns:a16="http://schemas.microsoft.com/office/drawing/2014/main" id="{BE15A36C-9BD2-469A-9CCF-F214389CB345}"/>
                  </a:ext>
                </a:extLst>
              </p:cNvPr>
              <p:cNvSpPr txBox="1">
                <a:spLocks noRot="1" noChangeAspect="1" noMove="1" noResize="1" noEditPoints="1" noAdjustHandles="1" noChangeArrowheads="1" noChangeShapeType="1" noTextEdit="1"/>
              </p:cNvSpPr>
              <p:nvPr/>
            </p:nvSpPr>
            <p:spPr>
              <a:xfrm>
                <a:off x="424722" y="780067"/>
                <a:ext cx="11342558" cy="530942"/>
              </a:xfrm>
              <a:prstGeom prst="rect">
                <a:avLst/>
              </a:prstGeom>
              <a:blipFill>
                <a:blip r:embed="rId3"/>
                <a:stretch>
                  <a:fillRect l="-968" b="-37931"/>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0" y="1302936"/>
                <a:ext cx="11522441" cy="295427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Una relación sobre un conjunto </a:t>
                </a:r>
                <a14:m>
                  <m:oMath xmlns:m="http://schemas.openxmlformats.org/officeDocument/2006/math">
                    <m:r>
                      <a:rPr lang="es-MX" sz="200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es un subconjunto del producto cartesiano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oMath>
                </a14:m>
                <a:r>
                  <a:rPr lang="es-MX" sz="2000" dirty="0">
                    <a:latin typeface="+mn-lt"/>
                    <a:ea typeface="Roboto" panose="02000000000000000000" pitchFamily="2" charset="0"/>
                  </a:rPr>
                  <a:t>.</a:t>
                </a:r>
              </a:p>
              <a:p>
                <a:r>
                  <a:rPr lang="es-MX" sz="2000" dirty="0">
                    <a:latin typeface="+mn-lt"/>
                    <a:ea typeface="Roboto" panose="02000000000000000000" pitchFamily="2" charset="0"/>
                  </a:rPr>
                  <a:t>Si el conjunto </a:t>
                </a:r>
                <a14:m>
                  <m:oMath xmlns:m="http://schemas.openxmlformats.org/officeDocument/2006/math">
                    <m:r>
                      <a:rPr lang="es-MX" sz="2000" i="1" smtClean="0">
                        <a:latin typeface="Cambria Math" panose="02040503050406030204" pitchFamily="18" charset="0"/>
                        <a:ea typeface="Roboto" panose="02000000000000000000" pitchFamily="2" charset="0"/>
                      </a:rPr>
                      <m:t>𝐴</m:t>
                    </m:r>
                  </m:oMath>
                </a14:m>
                <a:r>
                  <a:rPr lang="es-MX" sz="2000" dirty="0">
                    <a:latin typeface="+mn-lt"/>
                    <a:ea typeface="Roboto" panose="02000000000000000000" pitchFamily="2" charset="0"/>
                  </a:rPr>
                  <a:t> tiene </a:t>
                </a:r>
                <a14:m>
                  <m:oMath xmlns:m="http://schemas.openxmlformats.org/officeDocument/2006/math">
                    <m:r>
                      <a:rPr lang="es-MX" sz="2000" b="0" i="1" smtClean="0">
                        <a:latin typeface="Cambria Math" panose="02040503050406030204" pitchFamily="18" charset="0"/>
                        <a:ea typeface="Roboto" panose="02000000000000000000" pitchFamily="2" charset="0"/>
                      </a:rPr>
                      <m:t>𝑛</m:t>
                    </m:r>
                  </m:oMath>
                </a14:m>
                <a:r>
                  <a:rPr lang="es-MX" sz="2000" dirty="0">
                    <a:latin typeface="+mn-lt"/>
                    <a:ea typeface="Roboto" panose="02000000000000000000" pitchFamily="2" charset="0"/>
                  </a:rPr>
                  <a:t> elementos, luego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oMath>
                </a14:m>
                <a:r>
                  <a:rPr lang="es-MX" sz="2000" dirty="0">
                    <a:latin typeface="+mn-lt"/>
                    <a:ea typeface="Roboto" panose="02000000000000000000" pitchFamily="2" charset="0"/>
                  </a:rPr>
                  <a:t>, tiene </a:t>
                </a:r>
                <a14:m>
                  <m:oMath xmlns:m="http://schemas.openxmlformats.org/officeDocument/2006/math">
                    <m:d>
                      <m:dPr>
                        <m:begChr m:val="|"/>
                        <m:endChr m:val="|"/>
                        <m:ctrlPr>
                          <a:rPr lang="es-MX" sz="2000" b="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e>
                    </m:d>
                    <m:r>
                      <a:rPr lang="es-MX" sz="2000" b="0" i="1" smtClean="0">
                        <a:latin typeface="Cambria Math" panose="02040503050406030204" pitchFamily="18" charset="0"/>
                        <a:ea typeface="Cambria Math" panose="02040503050406030204" pitchFamily="18" charset="0"/>
                      </a:rPr>
                      <m:t>=</m:t>
                    </m:r>
                    <m:d>
                      <m:dPr>
                        <m:begChr m:val="|"/>
                        <m:endChr m:val="|"/>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𝐴</m:t>
                        </m:r>
                      </m:e>
                    </m:d>
                    <m:d>
                      <m:dPr>
                        <m:begChr m:val="|"/>
                        <m:endChr m:val="|"/>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𝐴</m:t>
                        </m:r>
                      </m:e>
                    </m:d>
                    <m:r>
                      <a:rPr lang="es-MX" sz="2000" b="0" i="1" smtClean="0">
                        <a:latin typeface="Cambria Math" panose="02040503050406030204" pitchFamily="18" charset="0"/>
                        <a:ea typeface="Cambria Math" panose="02040503050406030204" pitchFamily="18" charset="0"/>
                      </a:rPr>
                      <m:t>=</m:t>
                    </m:r>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𝑛</m:t>
                        </m:r>
                      </m:e>
                      <m:sup>
                        <m:r>
                          <a:rPr lang="es-MX" sz="2000" b="0" i="1" smtClean="0">
                            <a:latin typeface="Cambria Math" panose="02040503050406030204" pitchFamily="18" charset="0"/>
                            <a:ea typeface="Cambria Math" panose="02040503050406030204" pitchFamily="18" charset="0"/>
                          </a:rPr>
                          <m:t>2</m:t>
                        </m:r>
                      </m:sup>
                    </m:sSup>
                  </m:oMath>
                </a14:m>
                <a:endParaRPr lang="es-MX" sz="2000" b="0" dirty="0">
                  <a:latin typeface="+mn-lt"/>
                  <a:ea typeface="Cambria Math" panose="02040503050406030204" pitchFamily="18" charset="0"/>
                </a:endParaRPr>
              </a:p>
              <a:p>
                <a:r>
                  <a:rPr lang="es-MX" sz="2000" dirty="0">
                    <a:latin typeface="+mn-lt"/>
                    <a:ea typeface="Roboto" panose="02000000000000000000" pitchFamily="2" charset="0"/>
                  </a:rPr>
                  <a:t>Un conjunto con </a:t>
                </a:r>
                <a14:m>
                  <m:oMath xmlns:m="http://schemas.openxmlformats.org/officeDocument/2006/math">
                    <m:r>
                      <a:rPr lang="es-MX" sz="2000" b="0" i="1" smtClean="0">
                        <a:latin typeface="Cambria Math" panose="02040503050406030204" pitchFamily="18" charset="0"/>
                        <a:ea typeface="Cambria Math" panose="02040503050406030204" pitchFamily="18" charset="0"/>
                      </a:rPr>
                      <m:t>𝑚</m:t>
                    </m:r>
                  </m:oMath>
                </a14:m>
                <a:r>
                  <a:rPr lang="es-MX" sz="2000" dirty="0">
                    <a:latin typeface="+mn-lt"/>
                    <a:ea typeface="Roboto" panose="02000000000000000000" pitchFamily="2" charset="0"/>
                  </a:rPr>
                  <a:t> elementos tiene </a:t>
                </a:r>
                <a14:m>
                  <m:oMath xmlns:m="http://schemas.openxmlformats.org/officeDocument/2006/math">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2</m:t>
                        </m:r>
                      </m:e>
                      <m:sup>
                        <m:r>
                          <a:rPr lang="es-MX" sz="2000" b="0" i="1" smtClean="0">
                            <a:latin typeface="Cambria Math" panose="02040503050406030204" pitchFamily="18" charset="0"/>
                            <a:ea typeface="Cambria Math" panose="02040503050406030204" pitchFamily="18" charset="0"/>
                          </a:rPr>
                          <m:t>𝑚</m:t>
                        </m:r>
                      </m:sup>
                    </m:sSup>
                  </m:oMath>
                </a14:m>
                <a:r>
                  <a:rPr lang="es-MX" sz="2000" dirty="0">
                    <a:latin typeface="+mn-lt"/>
                    <a:ea typeface="Roboto" panose="02000000000000000000" pitchFamily="2" charset="0"/>
                  </a:rPr>
                  <a:t> subconjuntos, de modo que, el conjunto </a:t>
                </a:r>
                <a14:m>
                  <m:oMath xmlns:m="http://schemas.openxmlformats.org/officeDocument/2006/math">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oMath>
                </a14:m>
                <a:r>
                  <a:rPr lang="es-MX" sz="2000" dirty="0">
                    <a:latin typeface="+mn-lt"/>
                    <a:ea typeface="Roboto" panose="02000000000000000000" pitchFamily="2" charset="0"/>
                  </a:rPr>
                  <a:t> tendrá </a:t>
                </a:r>
                <a14:m>
                  <m:oMath xmlns:m="http://schemas.openxmlformats.org/officeDocument/2006/math">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2</m:t>
                        </m:r>
                      </m:e>
                      <m:sup>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𝑛</m:t>
                            </m:r>
                          </m:e>
                          <m:sup>
                            <m:r>
                              <a:rPr lang="es-MX" sz="2000" b="0" i="1" smtClean="0">
                                <a:latin typeface="Cambria Math" panose="02040503050406030204" pitchFamily="18" charset="0"/>
                                <a:ea typeface="Cambria Math" panose="02040503050406030204" pitchFamily="18" charset="0"/>
                              </a:rPr>
                              <m:t>2</m:t>
                            </m:r>
                          </m:sup>
                        </m:sSup>
                      </m:sup>
                    </m:sSup>
                  </m:oMath>
                </a14:m>
                <a:r>
                  <a:rPr lang="es-MX" sz="2000" dirty="0">
                    <a:latin typeface="+mn-lt"/>
                    <a:ea typeface="Roboto" panose="02000000000000000000" pitchFamily="2" charset="0"/>
                  </a:rPr>
                  <a:t>subconjuntos.</a:t>
                </a:r>
              </a:p>
              <a:p>
                <a:r>
                  <a:rPr lang="es-MX" sz="2000" b="1" dirty="0">
                    <a:latin typeface="+mn-lt"/>
                    <a:ea typeface="Roboto" panose="02000000000000000000" pitchFamily="2" charset="0"/>
                  </a:rPr>
                  <a:t>Conclusión</a:t>
                </a:r>
                <a:r>
                  <a:rPr lang="es-MX" sz="2000" dirty="0">
                    <a:latin typeface="+mn-lt"/>
                    <a:ea typeface="Roboto" panose="02000000000000000000" pitchFamily="2" charset="0"/>
                  </a:rPr>
                  <a:t>: en un conjunto de </a:t>
                </a:r>
                <a14:m>
                  <m:oMath xmlns:m="http://schemas.openxmlformats.org/officeDocument/2006/math">
                    <m:r>
                      <a:rPr lang="es-MX" sz="2000" b="0" i="1" smtClean="0">
                        <a:latin typeface="Cambria Math" panose="02040503050406030204" pitchFamily="18" charset="0"/>
                        <a:ea typeface="Roboto" panose="02000000000000000000" pitchFamily="2" charset="0"/>
                      </a:rPr>
                      <m:t>𝑛</m:t>
                    </m:r>
                  </m:oMath>
                </a14:m>
                <a:r>
                  <a:rPr lang="es-MX" sz="2000" dirty="0">
                    <a:latin typeface="+mn-lt"/>
                    <a:ea typeface="Roboto" panose="02000000000000000000" pitchFamily="2" charset="0"/>
                  </a:rPr>
                  <a:t> elementos hay </a:t>
                </a:r>
                <a14:m>
                  <m:oMath xmlns:m="http://schemas.openxmlformats.org/officeDocument/2006/math">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2</m:t>
                        </m:r>
                      </m:e>
                      <m:sup>
                        <m:sSup>
                          <m:sSupPr>
                            <m:ctrlPr>
                              <a:rPr lang="es-MX" sz="2000" i="1">
                                <a:latin typeface="Cambria Math" panose="02040503050406030204" pitchFamily="18" charset="0"/>
                                <a:ea typeface="Cambria Math" panose="02040503050406030204" pitchFamily="18" charset="0"/>
                              </a:rPr>
                            </m:ctrlPr>
                          </m:sSupPr>
                          <m:e>
                            <m:r>
                              <a:rPr lang="es-MX" sz="2000" i="1">
                                <a:latin typeface="Cambria Math" panose="02040503050406030204" pitchFamily="18" charset="0"/>
                                <a:ea typeface="Cambria Math" panose="02040503050406030204" pitchFamily="18" charset="0"/>
                              </a:rPr>
                              <m:t>𝑛</m:t>
                            </m:r>
                          </m:e>
                          <m:sup>
                            <m:r>
                              <a:rPr lang="es-MX" sz="2000" i="1">
                                <a:latin typeface="Cambria Math" panose="02040503050406030204" pitchFamily="18" charset="0"/>
                                <a:ea typeface="Cambria Math" panose="02040503050406030204" pitchFamily="18" charset="0"/>
                              </a:rPr>
                              <m:t>2</m:t>
                            </m:r>
                          </m:sup>
                        </m:sSup>
                      </m:sup>
                    </m:sSup>
                  </m:oMath>
                </a14:m>
                <a:r>
                  <a:rPr lang="es-MX" sz="2000" dirty="0">
                    <a:latin typeface="+mn-lt"/>
                    <a:ea typeface="Roboto" panose="02000000000000000000" pitchFamily="2" charset="0"/>
                  </a:rPr>
                  <a:t> relaciones posibles.</a:t>
                </a:r>
              </a:p>
              <a:p>
                <a:pPr marL="127000" indent="0">
                  <a:buNone/>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e>
                      </m:d>
                      <m:r>
                        <a:rPr lang="es-MX" sz="2000" b="0" i="1" smtClean="0">
                          <a:latin typeface="Cambria Math" panose="02040503050406030204" pitchFamily="18" charset="0"/>
                          <a:ea typeface="Cambria Math" panose="02040503050406030204" pitchFamily="18" charset="0"/>
                        </a:rPr>
                        <m:t>=</m:t>
                      </m:r>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𝑛</m:t>
                          </m:r>
                        </m:e>
                        <m:sup>
                          <m:r>
                            <a:rPr lang="es-MX" sz="2000" b="0" i="1" smtClean="0">
                              <a:latin typeface="Cambria Math" panose="02040503050406030204" pitchFamily="18" charset="0"/>
                              <a:ea typeface="Cambria Math" panose="02040503050406030204" pitchFamily="18" charset="0"/>
                            </a:rPr>
                            <m:t>2</m:t>
                          </m:r>
                        </m:sup>
                      </m:sSup>
                      <m:r>
                        <a:rPr lang="es-MX" sz="2000" b="0" i="1" smtClean="0">
                          <a:latin typeface="Cambria Math" panose="02040503050406030204" pitchFamily="18" charset="0"/>
                          <a:ea typeface="Cambria Math" panose="02040503050406030204" pitchFamily="18" charset="0"/>
                        </a:rPr>
                        <m:t>→</m:t>
                      </m:r>
                      <m:d>
                        <m:dPr>
                          <m:begChr m:val="|"/>
                          <m:endChr m:val="|"/>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𝒫</m:t>
                          </m:r>
                          <m:d>
                            <m:dPr>
                              <m:ctrlPr>
                                <a:rPr lang="es-MX" sz="2000" b="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r>
                                <m:rPr>
                                  <m:sty m:val="p"/>
                                </m:rPr>
                                <a:rPr lang="es-MX" sz="2000" i="1">
                                  <a:latin typeface="Cambria Math" panose="02040503050406030204" pitchFamily="18" charset="0"/>
                                  <a:ea typeface="Cambria Math" panose="02040503050406030204" pitchFamily="18" charset="0"/>
                                </a:rPr>
                                <m:t>A</m:t>
                              </m:r>
                            </m:e>
                          </m:d>
                        </m:e>
                      </m:d>
                      <m:r>
                        <a:rPr lang="es-MX" sz="2000" b="0" i="1" smtClean="0">
                          <a:latin typeface="Cambria Math" panose="02040503050406030204" pitchFamily="18" charset="0"/>
                          <a:ea typeface="Cambria Math" panose="02040503050406030204" pitchFamily="18" charset="0"/>
                        </a:rPr>
                        <m:t>=</m:t>
                      </m:r>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2</m:t>
                          </m:r>
                        </m:e>
                        <m:sup>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sup>
                      </m:sSup>
                      <m:r>
                        <a:rPr lang="es-MX" sz="2000" b="0" i="1" smtClean="0">
                          <a:latin typeface="Cambria Math" panose="02040503050406030204" pitchFamily="18" charset="0"/>
                          <a:ea typeface="Cambria Math" panose="02040503050406030204" pitchFamily="18" charset="0"/>
                        </a:rPr>
                        <m:t>=</m:t>
                      </m:r>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2</m:t>
                          </m:r>
                        </m:e>
                        <m:sup>
                          <m:sSup>
                            <m:sSupPr>
                              <m:ctrlPr>
                                <a:rPr lang="es-MX" sz="2000" b="0" i="1" smtClean="0">
                                  <a:latin typeface="Cambria Math" panose="02040503050406030204" pitchFamily="18" charset="0"/>
                                  <a:ea typeface="Cambria Math" panose="02040503050406030204" pitchFamily="18" charset="0"/>
                                </a:rPr>
                              </m:ctrlPr>
                            </m:sSupPr>
                            <m:e>
                              <m:r>
                                <a:rPr lang="es-MX" sz="2000" b="0" i="1" smtClean="0">
                                  <a:latin typeface="Cambria Math" panose="02040503050406030204" pitchFamily="18" charset="0"/>
                                  <a:ea typeface="Cambria Math" panose="02040503050406030204" pitchFamily="18" charset="0"/>
                                </a:rPr>
                                <m:t>𝑛</m:t>
                              </m:r>
                            </m:e>
                            <m:sup>
                              <m:r>
                                <a:rPr lang="es-MX" sz="2000" b="0" i="1" smtClean="0">
                                  <a:latin typeface="Cambria Math" panose="02040503050406030204" pitchFamily="18" charset="0"/>
                                  <a:ea typeface="Cambria Math" panose="02040503050406030204" pitchFamily="18" charset="0"/>
                                </a:rPr>
                                <m:t>2</m:t>
                              </m:r>
                            </m:sup>
                          </m:sSup>
                        </m:sup>
                      </m:sSup>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0" y="1302936"/>
                <a:ext cx="11522441" cy="2954272"/>
              </a:xfrm>
              <a:prstGeom prst="rect">
                <a:avLst/>
              </a:prstGeom>
              <a:blipFill>
                <a:blip r:embed="rId4"/>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30625341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0" y="1302937"/>
            <a:ext cx="11522441" cy="692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La siguiente tabla muestra diferentes escenarios posibles y la cantidad de relaciones posibles:</a:t>
            </a:r>
          </a:p>
          <a:p>
            <a:pPr marL="127000" indent="0">
              <a:buNone/>
            </a:pPr>
            <a:endParaRPr lang="es-MX" sz="2000" dirty="0">
              <a:latin typeface="+mn-lt"/>
              <a:ea typeface="Roboto" panose="02000000000000000000" pitchFamily="2" charset="0"/>
            </a:endParaRPr>
          </a:p>
        </p:txBody>
      </p:sp>
      <mc:AlternateContent xmlns:mc="http://schemas.openxmlformats.org/markup-compatibility/2006">
        <mc:Choice xmlns:a14="http://schemas.microsoft.com/office/drawing/2010/main" Requires="a14">
          <p:graphicFrame>
            <p:nvGraphicFramePr>
              <p:cNvPr id="2" name="Tabla 2">
                <a:extLst>
                  <a:ext uri="{FF2B5EF4-FFF2-40B4-BE49-F238E27FC236}">
                    <a16:creationId xmlns:a16="http://schemas.microsoft.com/office/drawing/2014/main" id="{8558CB70-BBCF-49DB-A0F9-6F001569EA7D}"/>
                  </a:ext>
                </a:extLst>
              </p:cNvPr>
              <p:cNvGraphicFramePr>
                <a:graphicFrameLocks noGrp="1"/>
              </p:cNvGraphicFramePr>
              <p:nvPr>
                <p:extLst>
                  <p:ext uri="{D42A27DB-BD31-4B8C-83A1-F6EECF244321}">
                    <p14:modId xmlns:p14="http://schemas.microsoft.com/office/powerpoint/2010/main" val="3103189785"/>
                  </p:ext>
                </p:extLst>
              </p:nvPr>
            </p:nvGraphicFramePr>
            <p:xfrm>
              <a:off x="580571" y="2027129"/>
              <a:ext cx="11366590" cy="3566160"/>
            </p:xfrm>
            <a:graphic>
              <a:graphicData uri="http://schemas.openxmlformats.org/drawingml/2006/table">
                <a:tbl>
                  <a:tblPr firstRow="1" bandRow="1">
                    <a:tableStyleId>{AD6A3598-7CB8-4345-8D95-17CE05F158A0}</a:tableStyleId>
                  </a:tblPr>
                  <a:tblGrid>
                    <a:gridCol w="2430912">
                      <a:extLst>
                        <a:ext uri="{9D8B030D-6E8A-4147-A177-3AD203B41FA5}">
                          <a16:colId xmlns:a16="http://schemas.microsoft.com/office/drawing/2014/main" val="425169582"/>
                        </a:ext>
                      </a:extLst>
                    </a:gridCol>
                    <a:gridCol w="4111495">
                      <a:extLst>
                        <a:ext uri="{9D8B030D-6E8A-4147-A177-3AD203B41FA5}">
                          <a16:colId xmlns:a16="http://schemas.microsoft.com/office/drawing/2014/main" val="846766345"/>
                        </a:ext>
                      </a:extLst>
                    </a:gridCol>
                    <a:gridCol w="4824183">
                      <a:extLst>
                        <a:ext uri="{9D8B030D-6E8A-4147-A177-3AD203B41FA5}">
                          <a16:colId xmlns:a16="http://schemas.microsoft.com/office/drawing/2014/main" val="3911370269"/>
                        </a:ext>
                      </a:extLst>
                    </a:gridCol>
                  </a:tblGrid>
                  <a:tr h="370840">
                    <a:tc>
                      <a:txBody>
                        <a:bodyPr/>
                        <a:lstStyle/>
                        <a:p>
                          <a:r>
                            <a:rPr lang="es-CO" sz="2000" b="1" dirty="0">
                              <a:latin typeface="+mj-lt"/>
                              <a:ea typeface="Roboto" panose="02000000000000000000" pitchFamily="2" charset="0"/>
                            </a:rPr>
                            <a:t>Contexto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j-lt"/>
                              <a:ea typeface="Roboto" panose="02000000000000000000" pitchFamily="2" charset="0"/>
                            </a:rPr>
                            <a:t>Conjuntos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j-lt"/>
                              <a:ea typeface="Roboto" panose="02000000000000000000" pitchFamily="2" charset="0"/>
                            </a:rPr>
                            <a:t>Numero de relaciones posibles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089420585"/>
                      </a:ext>
                    </a:extLst>
                  </a:tr>
                  <a:tr h="370840">
                    <a:tc>
                      <a:txBody>
                        <a:bodyPr/>
                        <a:lstStyle/>
                        <a:p>
                          <a:r>
                            <a:rPr lang="es-CO" sz="2000" dirty="0">
                              <a:latin typeface="+mj-lt"/>
                              <a:ea typeface="Roboto" panose="02000000000000000000" pitchFamily="2" charset="0"/>
                            </a:rPr>
                            <a:t>Colores primarios y secundarios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𝑎𝑧𝑢𝑙</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𝑟𝑜𝑗𝑜</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𝑎𝑚𝑎𝑟𝑖𝑙𝑙𝑜</m:t>
                                  </m:r>
                                </m:e>
                              </m:d>
                            </m:oMath>
                          </a14:m>
                          <a:endParaRPr lang="es-CO" sz="2000" dirty="0">
                            <a:solidFill>
                              <a:schemeClr val="tx1"/>
                            </a:solidFill>
                            <a:latin typeface="+mj-lt"/>
                            <a:ea typeface="Roboto" panose="02000000000000000000" pitchFamily="2" charset="0"/>
                          </a:endParaRPr>
                        </a:p>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i="1">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𝑣𝑒𝑟𝑑𝑒</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𝑚𝑜𝑟𝑎𝑑𝑜</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𝑛𝑎𝑟𝑎𝑛𝑑𝑎</m:t>
                                  </m:r>
                                </m:e>
                              </m:d>
                            </m:oMath>
                          </a14:m>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𝑛</m:t>
                                    </m:r>
                                  </m:e>
                                  <m:sub>
                                    <m:r>
                                      <a:rPr lang="es-MX" sz="2000" b="0" i="1" smtClean="0">
                                        <a:latin typeface="Cambria Math" panose="02040503050406030204" pitchFamily="18" charset="0"/>
                                        <a:ea typeface="Roboto" panose="02000000000000000000" pitchFamily="2" charset="0"/>
                                      </a:rPr>
                                      <m:t>𝑅</m:t>
                                    </m:r>
                                  </m:sub>
                                </m:sSub>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e>
                                    </m:d>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3×3</m:t>
                                    </m:r>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9</m:t>
                                    </m:r>
                                  </m:sup>
                                </m:sSup>
                                <m:r>
                                  <a:rPr lang="es-MX" sz="2000" b="0" i="1" smtClean="0">
                                    <a:latin typeface="Cambria Math" panose="02040503050406030204" pitchFamily="18" charset="0"/>
                                    <a:ea typeface="Roboto" panose="02000000000000000000" pitchFamily="2" charset="0"/>
                                  </a:rPr>
                                  <m:t>=512</m:t>
                                </m:r>
                              </m:oMath>
                            </m:oMathPara>
                          </a14:m>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528483"/>
                      </a:ext>
                    </a:extLst>
                  </a:tr>
                  <a:tr h="370840">
                    <a:tc>
                      <a:txBody>
                        <a:bodyPr/>
                        <a:lstStyle/>
                        <a:p>
                          <a:r>
                            <a:rPr lang="es-CO" sz="2000" dirty="0">
                              <a:latin typeface="+mj-lt"/>
                              <a:ea typeface="Roboto" panose="02000000000000000000" pitchFamily="2" charset="0"/>
                            </a:rPr>
                            <a:t>Combinación números y letras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={0,1,2}</m:t>
                              </m:r>
                            </m:oMath>
                          </a14:m>
                          <a:r>
                            <a:rPr lang="es-MX" sz="2000" dirty="0">
                              <a:latin typeface="+mj-lt"/>
                              <a:ea typeface="Roboto" panose="02000000000000000000" pitchFamily="2" charset="0"/>
                            </a:rPr>
                            <a:t>  </a:t>
                          </a:r>
                          <a:endParaRPr lang="es-MX" sz="2000" b="0" i="1" dirty="0">
                            <a:solidFill>
                              <a:schemeClr val="tx1"/>
                            </a:solidFill>
                            <a:latin typeface="+mj-lt"/>
                            <a:ea typeface="Roboto" panose="02000000000000000000" pitchFamily="2" charset="0"/>
                          </a:endParaRPr>
                        </a:p>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oMath>
                          </a14:m>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𝑛</m:t>
                                    </m:r>
                                  </m:e>
                                  <m:sub>
                                    <m:r>
                                      <a:rPr lang="es-MX" sz="2000" b="0" i="1" smtClean="0">
                                        <a:latin typeface="Cambria Math" panose="02040503050406030204" pitchFamily="18" charset="0"/>
                                        <a:ea typeface="Roboto" panose="02000000000000000000" pitchFamily="2" charset="0"/>
                                      </a:rPr>
                                      <m:t>𝑅</m:t>
                                    </m:r>
                                  </m:sub>
                                </m:sSub>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e>
                                    </m:d>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3×2</m:t>
                                    </m:r>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6</m:t>
                                    </m:r>
                                  </m:sup>
                                </m:sSup>
                                <m:r>
                                  <a:rPr lang="es-MX" sz="2000" b="0" i="1" smtClean="0">
                                    <a:latin typeface="Cambria Math" panose="02040503050406030204" pitchFamily="18" charset="0"/>
                                    <a:ea typeface="Roboto" panose="02000000000000000000" pitchFamily="2" charset="0"/>
                                  </a:rPr>
                                  <m:t>=64</m:t>
                                </m:r>
                              </m:oMath>
                            </m:oMathPara>
                          </a14:m>
                          <a:endParaRPr lang="es-CO" sz="2000" dirty="0">
                            <a:latin typeface="+mj-lt"/>
                            <a:ea typeface="Roboto" panose="02000000000000000000" pitchFamily="2" charset="0"/>
                          </a:endParaRPr>
                        </a:p>
                        <a:p>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9260177"/>
                      </a:ext>
                    </a:extLst>
                  </a:tr>
                  <a:tr h="370840">
                    <a:tc>
                      <a:txBody>
                        <a:bodyPr/>
                        <a:lstStyle/>
                        <a:p>
                          <a:r>
                            <a:rPr lang="es-CO" sz="2000" dirty="0">
                              <a:latin typeface="+mj-lt"/>
                              <a:ea typeface="Roboto" panose="02000000000000000000" pitchFamily="2" charset="0"/>
                            </a:rPr>
                            <a:t>Ciudades y departamentos de Colombia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𝑥</m:t>
                                  </m:r>
                                </m:e>
                                <m:e>
                                  <m:r>
                                    <a:rPr lang="es-MX" sz="2000" b="0" i="1" smtClean="0">
                                      <a:solidFill>
                                        <a:schemeClr val="tx1"/>
                                      </a:solidFill>
                                      <a:latin typeface="Cambria Math" panose="02040503050406030204" pitchFamily="18" charset="0"/>
                                      <a:ea typeface="Roboto" panose="02000000000000000000" pitchFamily="2" charset="0"/>
                                    </a:rPr>
                                    <m:t>𝑥</m:t>
                                  </m:r>
                                  <m:r>
                                    <a:rPr lang="es-MX" sz="2000" b="0" i="1"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es</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una</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ciudad</m:t>
                                  </m:r>
                                </m:e>
                              </m:d>
                            </m:oMath>
                          </a14:m>
                          <a:r>
                            <a:rPr lang="es-MX" sz="2000" dirty="0">
                              <a:latin typeface="+mj-lt"/>
                              <a:ea typeface="Roboto" panose="02000000000000000000" pitchFamily="2" charset="0"/>
                            </a:rPr>
                            <a:t>  </a:t>
                          </a:r>
                          <a:endParaRPr lang="es-MX" sz="2000" b="0" i="1" dirty="0">
                            <a:solidFill>
                              <a:schemeClr val="tx1"/>
                            </a:solidFill>
                            <a:latin typeface="+mj-lt"/>
                            <a:ea typeface="Roboto" panose="02000000000000000000" pitchFamily="2" charset="0"/>
                          </a:endParaRPr>
                        </a:p>
                        <a:p>
                          <a:pPr marL="285750" indent="-285750">
                            <a:buFont typeface="Arial" panose="020B0604020202020204" pitchFamily="34" charset="0"/>
                            <a:buChar cha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𝑦</m:t>
                                  </m:r>
                                </m:e>
                                <m:e>
                                  <m:r>
                                    <a:rPr lang="es-MX" sz="2000" b="0" i="1" smtClean="0">
                                      <a:solidFill>
                                        <a:schemeClr val="tx1"/>
                                      </a:solidFill>
                                      <a:latin typeface="Cambria Math" panose="02040503050406030204" pitchFamily="18" charset="0"/>
                                      <a:ea typeface="Roboto" panose="02000000000000000000" pitchFamily="2" charset="0"/>
                                    </a:rPr>
                                    <m:t>𝑦</m:t>
                                  </m:r>
                                  <m:r>
                                    <a:rPr lang="es-MX" sz="2000" b="0" i="1"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es</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un</m:t>
                                  </m:r>
                                  <m:r>
                                    <a:rPr lang="es-MX" sz="2000" b="0" i="0" smtClean="0">
                                      <a:solidFill>
                                        <a:schemeClr val="tx1"/>
                                      </a:solidFill>
                                      <a:latin typeface="Cambria Math" panose="02040503050406030204" pitchFamily="18" charset="0"/>
                                      <a:ea typeface="Roboto" panose="02000000000000000000" pitchFamily="2" charset="0"/>
                                    </a:rPr>
                                    <m:t> </m:t>
                                  </m:r>
                                  <m:r>
                                    <m:rPr>
                                      <m:sty m:val="p"/>
                                    </m:rPr>
                                    <a:rPr lang="es-MX" sz="2000" b="0" i="0" smtClean="0">
                                      <a:solidFill>
                                        <a:schemeClr val="tx1"/>
                                      </a:solidFill>
                                      <a:latin typeface="Cambria Math" panose="02040503050406030204" pitchFamily="18" charset="0"/>
                                      <a:ea typeface="Roboto" panose="02000000000000000000" pitchFamily="2" charset="0"/>
                                    </a:rPr>
                                    <m:t>departamento</m:t>
                                  </m:r>
                                </m:e>
                              </m:d>
                            </m:oMath>
                          </a14:m>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𝑛</m:t>
                                    </m:r>
                                  </m:e>
                                  <m:sub>
                                    <m:r>
                                      <a:rPr lang="es-MX" sz="2000" b="0" i="1" smtClean="0">
                                        <a:latin typeface="Cambria Math" panose="02040503050406030204" pitchFamily="18" charset="0"/>
                                        <a:ea typeface="Roboto" panose="02000000000000000000" pitchFamily="2" charset="0"/>
                                      </a:rPr>
                                      <m:t>𝑅</m:t>
                                    </m:r>
                                  </m:sub>
                                </m:sSub>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e>
                                    </m:d>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𝐵</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151×32</m:t>
                                    </m:r>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4832</m:t>
                                    </m:r>
                                  </m:sup>
                                </m:sSup>
                              </m:oMath>
                            </m:oMathPara>
                          </a14:m>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0102969"/>
                      </a:ext>
                    </a:extLst>
                  </a:tr>
                  <a:tr h="370840">
                    <a:tc>
                      <a:txBody>
                        <a:bodyPr/>
                        <a:lstStyle/>
                        <a:p>
                          <a:r>
                            <a:rPr lang="es-CO" sz="2000" dirty="0">
                              <a:latin typeface="+mj-lt"/>
                              <a:ea typeface="Roboto" panose="02000000000000000000" pitchFamily="2" charset="0"/>
                            </a:rPr>
                            <a:t>Conjunto de números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1,2,3,4</m:t>
                                  </m:r>
                                </m:e>
                              </m:d>
                            </m:oMath>
                          </a14:m>
                          <a:r>
                            <a:rPr lang="es-MX" sz="2000" dirty="0">
                              <a:latin typeface="+mj-lt"/>
                              <a:ea typeface="Roboto" panose="02000000000000000000" pitchFamily="2" charset="0"/>
                            </a:rPr>
                            <a:t>  </a:t>
                          </a:r>
                          <a:endParaRPr lang="es-MX" sz="2000" b="0" i="1" dirty="0">
                            <a:solidFill>
                              <a:schemeClr val="tx1"/>
                            </a:solidFill>
                            <a:latin typeface="+mj-lt"/>
                            <a:ea typeface="Roboto" panose="02000000000000000000" pitchFamily="2" charset="0"/>
                          </a:endParaRPr>
                        </a:p>
                        <a:p>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𝑛</m:t>
                                    </m:r>
                                  </m:e>
                                  <m:sub>
                                    <m:r>
                                      <a:rPr lang="es-MX" sz="2000" b="0" i="1" smtClean="0">
                                        <a:latin typeface="Cambria Math" panose="02040503050406030204" pitchFamily="18" charset="0"/>
                                        <a:ea typeface="Roboto" panose="02000000000000000000" pitchFamily="2" charset="0"/>
                                      </a:rPr>
                                      <m:t>𝑅</m:t>
                                    </m:r>
                                  </m:sub>
                                </m:sSub>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e>
                                    </m:d>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sSup>
                                      <m:sSupPr>
                                        <m:ctrlPr>
                                          <a:rPr lang="es-MX" sz="2000" b="0" i="1" smtClean="0">
                                            <a:latin typeface="Cambria Math" panose="02040503050406030204" pitchFamily="18" charset="0"/>
                                            <a:ea typeface="Roboto" panose="02000000000000000000" pitchFamily="2" charset="0"/>
                                          </a:rPr>
                                        </m:ctrlPr>
                                      </m:sSupPr>
                                      <m:e>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𝐴</m:t>
                                            </m:r>
                                          </m:e>
                                        </m:d>
                                      </m:e>
                                      <m:sup>
                                        <m:r>
                                          <a:rPr lang="es-MX" sz="2000" b="0" i="1" smtClean="0">
                                            <a:latin typeface="Cambria Math" panose="02040503050406030204" pitchFamily="18" charset="0"/>
                                            <a:ea typeface="Roboto" panose="02000000000000000000" pitchFamily="2" charset="0"/>
                                          </a:rPr>
                                          <m:t>2</m:t>
                                        </m:r>
                                      </m:sup>
                                    </m:sSup>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4</m:t>
                                        </m:r>
                                      </m:e>
                                      <m:sup>
                                        <m:r>
                                          <a:rPr lang="es-MX" sz="2000" b="0" i="1" smtClean="0">
                                            <a:latin typeface="Cambria Math" panose="02040503050406030204" pitchFamily="18" charset="0"/>
                                            <a:ea typeface="Roboto" panose="02000000000000000000" pitchFamily="2" charset="0"/>
                                          </a:rPr>
                                          <m:t>2</m:t>
                                        </m:r>
                                      </m:sup>
                                    </m:sSup>
                                  </m:sup>
                                </m:sSup>
                                <m:r>
                                  <a:rPr lang="es-MX" sz="2000" b="0" i="1" smtClean="0">
                                    <a:latin typeface="Cambria Math" panose="02040503050406030204" pitchFamily="18" charset="0"/>
                                    <a:ea typeface="Roboto" panose="02000000000000000000" pitchFamily="2" charset="0"/>
                                  </a:rPr>
                                  <m:t>=</m:t>
                                </m:r>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16</m:t>
                                    </m:r>
                                  </m:sup>
                                </m:sSup>
                                <m:r>
                                  <a:rPr lang="es-MX" sz="2000" b="0" i="1" smtClean="0">
                                    <a:latin typeface="Cambria Math" panose="02040503050406030204" pitchFamily="18" charset="0"/>
                                    <a:ea typeface="Roboto" panose="02000000000000000000" pitchFamily="2" charset="0"/>
                                  </a:rPr>
                                  <m:t>=65536</m:t>
                                </m:r>
                              </m:oMath>
                            </m:oMathPara>
                          </a14:m>
                          <a:endParaRPr lang="es-CO" sz="2000" dirty="0">
                            <a:latin typeface="+mj-lt"/>
                            <a:ea typeface="Roboto" panose="02000000000000000000" pitchFamily="2" charset="0"/>
                          </a:endParaRPr>
                        </a:p>
                        <a:p>
                          <a:endParaRPr lang="es-CO" sz="2000" dirty="0">
                            <a:latin typeface="+mj-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5453111"/>
                      </a:ext>
                    </a:extLst>
                  </a:tr>
                </a:tbl>
              </a:graphicData>
            </a:graphic>
          </p:graphicFrame>
        </mc:Choice>
        <mc:Fallback>
          <p:graphicFrame>
            <p:nvGraphicFramePr>
              <p:cNvPr id="2" name="Tabla 2">
                <a:extLst>
                  <a:ext uri="{FF2B5EF4-FFF2-40B4-BE49-F238E27FC236}">
                    <a16:creationId xmlns:a16="http://schemas.microsoft.com/office/drawing/2014/main" id="{8558CB70-BBCF-49DB-A0F9-6F001569EA7D}"/>
                  </a:ext>
                </a:extLst>
              </p:cNvPr>
              <p:cNvGraphicFramePr>
                <a:graphicFrameLocks noGrp="1"/>
              </p:cNvGraphicFramePr>
              <p:nvPr>
                <p:extLst>
                  <p:ext uri="{D42A27DB-BD31-4B8C-83A1-F6EECF244321}">
                    <p14:modId xmlns:p14="http://schemas.microsoft.com/office/powerpoint/2010/main" val="3103189785"/>
                  </p:ext>
                </p:extLst>
              </p:nvPr>
            </p:nvGraphicFramePr>
            <p:xfrm>
              <a:off x="580571" y="2027129"/>
              <a:ext cx="11366590" cy="3566160"/>
            </p:xfrm>
            <a:graphic>
              <a:graphicData uri="http://schemas.openxmlformats.org/drawingml/2006/table">
                <a:tbl>
                  <a:tblPr firstRow="1" bandRow="1">
                    <a:tableStyleId>{AD6A3598-7CB8-4345-8D95-17CE05F158A0}</a:tableStyleId>
                  </a:tblPr>
                  <a:tblGrid>
                    <a:gridCol w="2430912">
                      <a:extLst>
                        <a:ext uri="{9D8B030D-6E8A-4147-A177-3AD203B41FA5}">
                          <a16:colId xmlns:a16="http://schemas.microsoft.com/office/drawing/2014/main" val="425169582"/>
                        </a:ext>
                      </a:extLst>
                    </a:gridCol>
                    <a:gridCol w="4111495">
                      <a:extLst>
                        <a:ext uri="{9D8B030D-6E8A-4147-A177-3AD203B41FA5}">
                          <a16:colId xmlns:a16="http://schemas.microsoft.com/office/drawing/2014/main" val="846766345"/>
                        </a:ext>
                      </a:extLst>
                    </a:gridCol>
                    <a:gridCol w="4824183">
                      <a:extLst>
                        <a:ext uri="{9D8B030D-6E8A-4147-A177-3AD203B41FA5}">
                          <a16:colId xmlns:a16="http://schemas.microsoft.com/office/drawing/2014/main" val="3911370269"/>
                        </a:ext>
                      </a:extLst>
                    </a:gridCol>
                  </a:tblGrid>
                  <a:tr h="396240">
                    <a:tc>
                      <a:txBody>
                        <a:bodyPr/>
                        <a:lstStyle/>
                        <a:p>
                          <a:r>
                            <a:rPr lang="es-CO" sz="2000" b="1" dirty="0">
                              <a:latin typeface="+mj-lt"/>
                              <a:ea typeface="Roboto" panose="02000000000000000000" pitchFamily="2" charset="0"/>
                            </a:rPr>
                            <a:t>Contexto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j-lt"/>
                              <a:ea typeface="Roboto" panose="02000000000000000000" pitchFamily="2" charset="0"/>
                            </a:rPr>
                            <a:t>Conjuntos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j-lt"/>
                              <a:ea typeface="Roboto" panose="02000000000000000000" pitchFamily="2" charset="0"/>
                            </a:rPr>
                            <a:t>Numero de relaciones posibles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089420585"/>
                      </a:ext>
                    </a:extLst>
                  </a:tr>
                  <a:tr h="701040">
                    <a:tc>
                      <a:txBody>
                        <a:bodyPr/>
                        <a:lstStyle/>
                        <a:p>
                          <a:r>
                            <a:rPr lang="es-CO" sz="2000" dirty="0">
                              <a:latin typeface="+mj-lt"/>
                              <a:ea typeface="Roboto" panose="02000000000000000000" pitchFamily="2" charset="0"/>
                            </a:rPr>
                            <a:t>Colores primarios y secundarios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9347" t="-60870" r="-117804" b="-354783"/>
                          </a:stretch>
                        </a:blip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5606" t="-60870" r="-253" b="-354783"/>
                          </a:stretch>
                        </a:blipFill>
                      </a:tcPr>
                    </a:tc>
                    <a:extLst>
                      <a:ext uri="{0D108BD9-81ED-4DB2-BD59-A6C34878D82A}">
                        <a16:rowId xmlns:a16="http://schemas.microsoft.com/office/drawing/2014/main" val="1361528483"/>
                      </a:ext>
                    </a:extLst>
                  </a:tr>
                  <a:tr h="720090">
                    <a:tc>
                      <a:txBody>
                        <a:bodyPr/>
                        <a:lstStyle/>
                        <a:p>
                          <a:r>
                            <a:rPr lang="es-CO" sz="2000" dirty="0">
                              <a:latin typeface="+mj-lt"/>
                              <a:ea typeface="Roboto" panose="02000000000000000000" pitchFamily="2" charset="0"/>
                            </a:rPr>
                            <a:t>Combinación números y letras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9347" t="-155462" r="-117804" b="-242857"/>
                          </a:stretch>
                        </a:blip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5606" t="-155462" r="-253" b="-242857"/>
                          </a:stretch>
                        </a:blipFill>
                      </a:tcPr>
                    </a:tc>
                    <a:extLst>
                      <a:ext uri="{0D108BD9-81ED-4DB2-BD59-A6C34878D82A}">
                        <a16:rowId xmlns:a16="http://schemas.microsoft.com/office/drawing/2014/main" val="1669260177"/>
                      </a:ext>
                    </a:extLst>
                  </a:tr>
                  <a:tr h="1005840">
                    <a:tc>
                      <a:txBody>
                        <a:bodyPr/>
                        <a:lstStyle/>
                        <a:p>
                          <a:r>
                            <a:rPr lang="es-CO" sz="2000" dirty="0">
                              <a:latin typeface="+mj-lt"/>
                              <a:ea typeface="Roboto" panose="02000000000000000000" pitchFamily="2" charset="0"/>
                            </a:rPr>
                            <a:t>Ciudades y departamentos de Colombia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9347" t="-184242" r="-117804" b="-75152"/>
                          </a:stretch>
                        </a:blip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5606" t="-184242" r="-253" b="-75152"/>
                          </a:stretch>
                        </a:blipFill>
                      </a:tcPr>
                    </a:tc>
                    <a:extLst>
                      <a:ext uri="{0D108BD9-81ED-4DB2-BD59-A6C34878D82A}">
                        <a16:rowId xmlns:a16="http://schemas.microsoft.com/office/drawing/2014/main" val="1380102969"/>
                      </a:ext>
                    </a:extLst>
                  </a:tr>
                  <a:tr h="742950">
                    <a:tc>
                      <a:txBody>
                        <a:bodyPr/>
                        <a:lstStyle/>
                        <a:p>
                          <a:r>
                            <a:rPr lang="es-CO" sz="2000" dirty="0">
                              <a:latin typeface="+mj-lt"/>
                              <a:ea typeface="Roboto" panose="02000000000000000000" pitchFamily="2" charset="0"/>
                            </a:rPr>
                            <a:t>Conjunto de números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9347" t="-384426" r="-117804" b="-1639"/>
                          </a:stretch>
                        </a:blip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5606" t="-384426" r="-253" b="-1639"/>
                          </a:stretch>
                        </a:blipFill>
                      </a:tcPr>
                    </a:tc>
                    <a:extLst>
                      <a:ext uri="{0D108BD9-81ED-4DB2-BD59-A6C34878D82A}">
                        <a16:rowId xmlns:a16="http://schemas.microsoft.com/office/drawing/2014/main" val="3105453111"/>
                      </a:ext>
                    </a:extLst>
                  </a:tr>
                </a:tbl>
              </a:graphicData>
            </a:graphic>
          </p:graphicFrame>
        </mc:Fallback>
      </mc:AlternateContent>
    </p:spTree>
    <p:extLst>
      <p:ext uri="{BB962C8B-B14F-4D97-AF65-F5344CB8AC3E}">
        <p14:creationId xmlns:p14="http://schemas.microsoft.com/office/powerpoint/2010/main" val="24330831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sz="2400" b="1" dirty="0">
                <a:solidFill>
                  <a:schemeClr val="tx1"/>
                </a:solidFill>
                <a:latin typeface="+mn-lt"/>
              </a:rPr>
              <a:t>Dominio y rango de una relación</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p:sp>
        <p:nvSpPr>
          <p:cNvPr id="8" name="Google Shape;310;p34">
            <a:extLst>
              <a:ext uri="{FF2B5EF4-FFF2-40B4-BE49-F238E27FC236}">
                <a16:creationId xmlns:a16="http://schemas.microsoft.com/office/drawing/2014/main" id="{FA035FCB-35A1-4C97-9F92-3E0C37527396}"/>
              </a:ext>
            </a:extLst>
          </p:cNvPr>
          <p:cNvSpPr txBox="1">
            <a:spLocks/>
          </p:cNvSpPr>
          <p:nvPr/>
        </p:nvSpPr>
        <p:spPr>
          <a:xfrm>
            <a:off x="304800" y="1262169"/>
            <a:ext cx="11499955" cy="78761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El dominio y el rango de una relación </a:t>
            </a:r>
            <a:r>
              <a:rPr lang="es-MX" sz="2000" dirty="0">
                <a:latin typeface="+mn-lt"/>
              </a:rPr>
              <a:t>permite describir con precisión qué elementos están realmente involucrados en la relación.</a:t>
            </a:r>
            <a:endParaRPr lang="es-MX" sz="2000" dirty="0">
              <a:latin typeface="+mn-lt"/>
              <a:ea typeface="Roboto" panose="02000000000000000000" pitchFamily="2" charset="0"/>
            </a:endParaRPr>
          </a:p>
        </p:txBody>
      </p:sp>
      <p:grpSp>
        <p:nvGrpSpPr>
          <p:cNvPr id="2" name="Grupo 1">
            <a:extLst>
              <a:ext uri="{FF2B5EF4-FFF2-40B4-BE49-F238E27FC236}">
                <a16:creationId xmlns:a16="http://schemas.microsoft.com/office/drawing/2014/main" id="{2D606B4C-EEF6-41A3-A0C3-65E508FA0DCA}"/>
              </a:ext>
            </a:extLst>
          </p:cNvPr>
          <p:cNvGrpSpPr/>
          <p:nvPr/>
        </p:nvGrpSpPr>
        <p:grpSpPr>
          <a:xfrm>
            <a:off x="304800" y="2065896"/>
            <a:ext cx="11592074" cy="2192917"/>
            <a:chOff x="304800" y="2065896"/>
            <a:chExt cx="11592074" cy="2192917"/>
          </a:xfrm>
        </p:grpSpPr>
        <mc:AlternateContent xmlns:mc="http://schemas.openxmlformats.org/markup-compatibility/2006">
          <mc:Choice xmlns:a14="http://schemas.microsoft.com/office/drawing/2010/main" Requires="a14">
            <p:sp>
              <p:nvSpPr>
                <p:cNvPr id="12" name="Google Shape;310;p34">
                  <a:extLst>
                    <a:ext uri="{FF2B5EF4-FFF2-40B4-BE49-F238E27FC236}">
                      <a16:creationId xmlns:a16="http://schemas.microsoft.com/office/drawing/2014/main" id="{2F548695-71CD-48A6-9B56-9F0F15520A9F}"/>
                    </a:ext>
                  </a:extLst>
                </p:cNvPr>
                <p:cNvSpPr txBox="1">
                  <a:spLocks/>
                </p:cNvSpPr>
                <p:nvPr/>
              </p:nvSpPr>
              <p:spPr>
                <a:xfrm>
                  <a:off x="304800" y="2065896"/>
                  <a:ext cx="11592074" cy="219291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solidFill>
                        <a:schemeClr val="tx1"/>
                      </a:solidFill>
                      <a:latin typeface="+mn-lt"/>
                      <a:ea typeface="Roboto" panose="02000000000000000000" pitchFamily="2" charset="0"/>
                    </a:rPr>
                    <a:t>Dominio</a:t>
                  </a:r>
                  <a:r>
                    <a:rPr lang="es-MX" sz="2000" dirty="0">
                      <a:solidFill>
                        <a:schemeClr val="tx1"/>
                      </a:solidFill>
                      <a:latin typeface="+mn-lt"/>
                      <a:ea typeface="Roboto" panose="02000000000000000000" pitchFamily="2" charset="0"/>
                    </a:rPr>
                    <a:t>:</a:t>
                  </a:r>
                </a:p>
                <a:p>
                  <a:r>
                    <a:rPr lang="es-MX" sz="2000" b="0" dirty="0">
                      <a:latin typeface="+mn-lt"/>
                      <a:ea typeface="Roboto" panose="02000000000000000000" pitchFamily="2" charset="0"/>
                    </a:rPr>
                    <a:t>Es el conjunto de todos los primeros elementos de los pares ordenados en la relación.</a:t>
                  </a:r>
                </a:p>
                <a:p>
                  <a:r>
                    <a:rPr lang="es-MX" sz="2000" dirty="0">
                      <a:latin typeface="+mn-lt"/>
                      <a:ea typeface="Roboto" panose="02000000000000000000" pitchFamily="2" charset="0"/>
                    </a:rPr>
                    <a:t>Dominio (</a:t>
                  </a:r>
                  <a14:m>
                    <m:oMath xmlns:m="http://schemas.openxmlformats.org/officeDocument/2006/math">
                      <m:r>
                        <m:rPr>
                          <m:sty m:val="p"/>
                        </m:rPr>
                        <a:rPr lang="es-MX" sz="2000" b="0" i="0" smtClean="0">
                          <a:latin typeface="Cambria Math" panose="02040503050406030204" pitchFamily="18" charset="0"/>
                          <a:ea typeface="Roboto" panose="02000000000000000000" pitchFamily="2" charset="0"/>
                        </a:rPr>
                        <m:t>dom</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de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 es un subconjunto de </a:t>
                  </a:r>
                  <a14:m>
                    <m:oMath xmlns:m="http://schemas.openxmlformats.org/officeDocument/2006/math">
                      <m:r>
                        <a:rPr lang="es-MX" sz="2000" i="1">
                          <a:latin typeface="Cambria Math" panose="02040503050406030204" pitchFamily="18" charset="0"/>
                          <a:ea typeface="Cambria Math" panose="02040503050406030204" pitchFamily="18" charset="0"/>
                        </a:rPr>
                        <m:t>𝐴</m:t>
                      </m:r>
                    </m:oMath>
                  </a14:m>
                  <a:r>
                    <a:rPr lang="es-MX" sz="2000" dirty="0">
                      <a:latin typeface="+mn-lt"/>
                      <a:ea typeface="Roboto" panose="02000000000000000000" pitchFamily="2" charset="0"/>
                    </a:rPr>
                    <a:t> (</a:t>
                  </a:r>
                  <a14:m>
                    <m:oMath xmlns:m="http://schemas.openxmlformats.org/officeDocument/2006/math">
                      <m:r>
                        <m:rPr>
                          <m:sty m:val="p"/>
                        </m:rPr>
                        <a:rPr lang="es-MX" sz="2000" b="0" i="0" smtClean="0">
                          <a:latin typeface="Cambria Math" panose="02040503050406030204" pitchFamily="18" charset="0"/>
                          <a:ea typeface="Roboto" panose="02000000000000000000" pitchFamily="2" charset="0"/>
                        </a:rPr>
                        <m:t>dom</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Cambria Math" panose="02040503050406030204" pitchFamily="18" charset="0"/>
                        </a:rPr>
                        <m:t>𝐴</m:t>
                      </m:r>
                    </m:oMath>
                  </a14:m>
                  <a:r>
                    <a:rPr lang="es-MX" sz="2000" dirty="0">
                      <a:latin typeface="+mn-lt"/>
                      <a:ea typeface="Roboto" panose="02000000000000000000" pitchFamily="2" charset="0"/>
                    </a:rPr>
                    <a:t>), tal que: </a:t>
                  </a:r>
                </a:p>
                <a:p>
                  <a:pPr marL="127000" indent="0">
                    <a:buNone/>
                  </a:pPr>
                  <a:endParaRPr lang="es-MX" sz="2000" dirty="0">
                    <a:latin typeface="+mn-lt"/>
                    <a:ea typeface="Roboto" panose="02000000000000000000" pitchFamily="2" charset="0"/>
                  </a:endParaRPr>
                </a:p>
              </p:txBody>
            </p:sp>
          </mc:Choice>
          <mc:Fallback>
            <p:sp>
              <p:nvSpPr>
                <p:cNvPr id="12" name="Google Shape;310;p34">
                  <a:extLst>
                    <a:ext uri="{FF2B5EF4-FFF2-40B4-BE49-F238E27FC236}">
                      <a16:creationId xmlns:a16="http://schemas.microsoft.com/office/drawing/2014/main" id="{2F548695-71CD-48A6-9B56-9F0F15520A9F}"/>
                    </a:ext>
                  </a:extLst>
                </p:cNvPr>
                <p:cNvSpPr txBox="1">
                  <a:spLocks noRot="1" noChangeAspect="1" noMove="1" noResize="1" noEditPoints="1" noAdjustHandles="1" noChangeArrowheads="1" noChangeShapeType="1" noTextEdit="1"/>
                </p:cNvSpPr>
                <p:nvPr/>
              </p:nvSpPr>
              <p:spPr>
                <a:xfrm>
                  <a:off x="304800" y="2065896"/>
                  <a:ext cx="11592074" cy="2192917"/>
                </a:xfrm>
                <a:prstGeom prst="rect">
                  <a:avLst/>
                </a:prstGeom>
                <a:blipFill>
                  <a:blip r:embed="rId3"/>
                  <a:stretch>
                    <a:fillRect/>
                  </a:stretch>
                </a:blipFill>
                <a:ln>
                  <a:no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 name="CuadroTexto 2">
                  <a:extLst>
                    <a:ext uri="{FF2B5EF4-FFF2-40B4-BE49-F238E27FC236}">
                      <a16:creationId xmlns:a16="http://schemas.microsoft.com/office/drawing/2014/main" id="{FAC35029-31BE-4BFC-9516-05BEBCD2DBC3}"/>
                    </a:ext>
                  </a:extLst>
                </p:cNvPr>
                <p:cNvSpPr txBox="1"/>
                <p:nvPr/>
              </p:nvSpPr>
              <p:spPr>
                <a:xfrm>
                  <a:off x="2896303" y="3635710"/>
                  <a:ext cx="6456511" cy="460639"/>
                </a:xfrm>
                <a:prstGeom prst="rect">
                  <a:avLst/>
                </a:prstGeom>
                <a:solidFill>
                  <a:schemeClr val="bg1">
                    <a:lumMod val="95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smtClean="0">
                            <a:latin typeface="Cambria Math" panose="02040503050406030204" pitchFamily="18" charset="0"/>
                            <a:ea typeface="Roboto" panose="02000000000000000000" pitchFamily="2" charset="0"/>
                          </a:rPr>
                          <m:t>dom</m:t>
                        </m:r>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𝑅</m:t>
                            </m:r>
                          </m:e>
                        </m:d>
                        <m:r>
                          <a:rPr lang="es-MX" sz="2000" b="0" i="1" smtClean="0">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𝛿</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e>
                            </m:d>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𝑦</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𝐵</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𝑅</m:t>
                                    </m:r>
                                  </m:e>
                                </m:d>
                              </m:e>
                            </m:d>
                          </m:e>
                        </m:d>
                      </m:oMath>
                    </m:oMathPara>
                  </a14:m>
                  <a:endParaRPr lang="es-CO" sz="2000" dirty="0"/>
                </a:p>
              </p:txBody>
            </p:sp>
          </mc:Choice>
          <mc:Fallback>
            <p:sp>
              <p:nvSpPr>
                <p:cNvPr id="3" name="CuadroTexto 2">
                  <a:extLst>
                    <a:ext uri="{FF2B5EF4-FFF2-40B4-BE49-F238E27FC236}">
                      <a16:creationId xmlns:a16="http://schemas.microsoft.com/office/drawing/2014/main" id="{FAC35029-31BE-4BFC-9516-05BEBCD2DBC3}"/>
                    </a:ext>
                  </a:extLst>
                </p:cNvPr>
                <p:cNvSpPr txBox="1">
                  <a:spLocks noRot="1" noChangeAspect="1" noMove="1" noResize="1" noEditPoints="1" noAdjustHandles="1" noChangeArrowheads="1" noChangeShapeType="1" noTextEdit="1"/>
                </p:cNvSpPr>
                <p:nvPr/>
              </p:nvSpPr>
              <p:spPr>
                <a:xfrm>
                  <a:off x="2896303" y="3635710"/>
                  <a:ext cx="6456511" cy="460639"/>
                </a:xfrm>
                <a:prstGeom prst="rect">
                  <a:avLst/>
                </a:prstGeom>
                <a:blipFill>
                  <a:blip r:embed="rId4"/>
                  <a:stretch>
                    <a:fillRect/>
                  </a:stretch>
                </a:blipFill>
              </p:spPr>
              <p:txBody>
                <a:bodyPr/>
                <a:lstStyle/>
                <a:p>
                  <a:r>
                    <a:rPr lang="es-CO">
                      <a:noFill/>
                    </a:rPr>
                    <a:t> </a:t>
                  </a:r>
                </a:p>
              </p:txBody>
            </p:sp>
          </mc:Fallback>
        </mc:AlternateContent>
      </p:grpSp>
      <p:grpSp>
        <p:nvGrpSpPr>
          <p:cNvPr id="5" name="Grupo 4">
            <a:extLst>
              <a:ext uri="{FF2B5EF4-FFF2-40B4-BE49-F238E27FC236}">
                <a16:creationId xmlns:a16="http://schemas.microsoft.com/office/drawing/2014/main" id="{DC91C263-8DEC-4963-B040-E98DE28E9125}"/>
              </a:ext>
            </a:extLst>
          </p:cNvPr>
          <p:cNvGrpSpPr/>
          <p:nvPr/>
        </p:nvGrpSpPr>
        <p:grpSpPr>
          <a:xfrm>
            <a:off x="304800" y="4394524"/>
            <a:ext cx="11499955" cy="2080309"/>
            <a:chOff x="879172" y="4499455"/>
            <a:chExt cx="10925583" cy="2080309"/>
          </a:xfrm>
        </p:grpSpPr>
        <mc:AlternateContent xmlns:mc="http://schemas.openxmlformats.org/markup-compatibility/2006">
          <mc:Choice xmlns:a14="http://schemas.microsoft.com/office/drawing/2010/main" Requires="a14">
            <p:sp>
              <p:nvSpPr>
                <p:cNvPr id="11" name="Google Shape;310;p34">
                  <a:extLst>
                    <a:ext uri="{FF2B5EF4-FFF2-40B4-BE49-F238E27FC236}">
                      <a16:creationId xmlns:a16="http://schemas.microsoft.com/office/drawing/2014/main" id="{F38B932A-112A-4260-B1DF-11F714A10529}"/>
                    </a:ext>
                  </a:extLst>
                </p:cNvPr>
                <p:cNvSpPr txBox="1">
                  <a:spLocks/>
                </p:cNvSpPr>
                <p:nvPr/>
              </p:nvSpPr>
              <p:spPr>
                <a:xfrm>
                  <a:off x="879172" y="4499455"/>
                  <a:ext cx="10925583" cy="137902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solidFill>
                        <a:schemeClr val="tx1"/>
                      </a:solidFill>
                      <a:latin typeface="+mn-lt"/>
                      <a:ea typeface="Roboto" panose="02000000000000000000" pitchFamily="2" charset="0"/>
                    </a:rPr>
                    <a:t>Rango</a:t>
                  </a:r>
                  <a:r>
                    <a:rPr lang="es-MX" sz="2000" dirty="0">
                      <a:solidFill>
                        <a:schemeClr val="tx1"/>
                      </a:solidFill>
                      <a:latin typeface="+mn-lt"/>
                      <a:ea typeface="Roboto" panose="02000000000000000000" pitchFamily="2" charset="0"/>
                    </a:rPr>
                    <a:t>:</a:t>
                  </a:r>
                </a:p>
                <a:p>
                  <a:r>
                    <a:rPr lang="es-MX" sz="2000" dirty="0">
                      <a:latin typeface="+mn-lt"/>
                      <a:ea typeface="Roboto" panose="02000000000000000000" pitchFamily="2" charset="0"/>
                    </a:rPr>
                    <a:t>Es el conjunto de todos los segundos elementos de los pares ordenados en la relación.</a:t>
                  </a:r>
                </a:p>
                <a:p>
                  <a:r>
                    <a:rPr lang="es-MX" sz="2000" dirty="0">
                      <a:latin typeface="+mn-lt"/>
                      <a:ea typeface="Roboto" panose="02000000000000000000" pitchFamily="2" charset="0"/>
                    </a:rPr>
                    <a:t>Rango (</a:t>
                  </a:r>
                  <a14:m>
                    <m:oMath xmlns:m="http://schemas.openxmlformats.org/officeDocument/2006/math">
                      <m:r>
                        <m:rPr>
                          <m:sty m:val="p"/>
                        </m:rPr>
                        <a:rPr lang="es-MX" sz="2000" b="0" i="0" smtClean="0">
                          <a:latin typeface="Cambria Math" panose="02040503050406030204" pitchFamily="18" charset="0"/>
                          <a:ea typeface="Roboto" panose="02000000000000000000" pitchFamily="2" charset="0"/>
                        </a:rPr>
                        <m:t>ran</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de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 es un subconjunto de </a:t>
                  </a:r>
                  <a14:m>
                    <m:oMath xmlns:m="http://schemas.openxmlformats.org/officeDocument/2006/math">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 (</a:t>
                  </a:r>
                  <a14:m>
                    <m:oMath xmlns:m="http://schemas.openxmlformats.org/officeDocument/2006/math">
                      <m:r>
                        <m:rPr>
                          <m:sty m:val="p"/>
                        </m:rPr>
                        <a:rPr lang="es-MX" sz="2000">
                          <a:latin typeface="Cambria Math" panose="02040503050406030204" pitchFamily="18" charset="0"/>
                          <a:ea typeface="Roboto" panose="02000000000000000000" pitchFamily="2" charset="0"/>
                        </a:rPr>
                        <m:t>ran</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Cambria Math" panose="02040503050406030204" pitchFamily="18" charset="0"/>
                        </a:rPr>
                        <m:t>𝐵</m:t>
                      </m:r>
                    </m:oMath>
                  </a14:m>
                  <a:r>
                    <a:rPr lang="es-MX" sz="2000" dirty="0">
                      <a:latin typeface="+mn-lt"/>
                      <a:ea typeface="Roboto" panose="02000000000000000000" pitchFamily="2" charset="0"/>
                    </a:rPr>
                    <a:t>), tal que: </a:t>
                  </a:r>
                </a:p>
              </p:txBody>
            </p:sp>
          </mc:Choice>
          <mc:Fallback>
            <p:sp>
              <p:nvSpPr>
                <p:cNvPr id="11" name="Google Shape;310;p34">
                  <a:extLst>
                    <a:ext uri="{FF2B5EF4-FFF2-40B4-BE49-F238E27FC236}">
                      <a16:creationId xmlns:a16="http://schemas.microsoft.com/office/drawing/2014/main" id="{F38B932A-112A-4260-B1DF-11F714A10529}"/>
                    </a:ext>
                  </a:extLst>
                </p:cNvPr>
                <p:cNvSpPr txBox="1">
                  <a:spLocks noRot="1" noChangeAspect="1" noMove="1" noResize="1" noEditPoints="1" noAdjustHandles="1" noChangeArrowheads="1" noChangeShapeType="1" noTextEdit="1"/>
                </p:cNvSpPr>
                <p:nvPr/>
              </p:nvSpPr>
              <p:spPr>
                <a:xfrm>
                  <a:off x="879172" y="4499455"/>
                  <a:ext cx="10925583" cy="1379028"/>
                </a:xfrm>
                <a:prstGeom prst="rect">
                  <a:avLst/>
                </a:prstGeom>
                <a:blipFill>
                  <a:blip r:embed="rId5"/>
                  <a:stretch>
                    <a:fillRect b="-2212"/>
                  </a:stretch>
                </a:blipFill>
                <a:ln>
                  <a:no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4B888105-2526-4306-95FA-BCED0180B87E}"/>
                    </a:ext>
                  </a:extLst>
                </p:cNvPr>
                <p:cNvSpPr txBox="1"/>
                <p:nvPr/>
              </p:nvSpPr>
              <p:spPr>
                <a:xfrm>
                  <a:off x="3459969" y="6119125"/>
                  <a:ext cx="6015308" cy="460639"/>
                </a:xfrm>
                <a:prstGeom prst="rect">
                  <a:avLst/>
                </a:prstGeom>
                <a:solidFill>
                  <a:schemeClr val="bg1">
                    <a:lumMod val="95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b="0" i="0" smtClean="0">
                            <a:latin typeface="Cambria Math" panose="02040503050406030204" pitchFamily="18" charset="0"/>
                            <a:ea typeface="Roboto" panose="02000000000000000000" pitchFamily="2" charset="0"/>
                          </a:rPr>
                          <m:t>ran</m:t>
                        </m:r>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𝑅</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Cambria Math" panose="02040503050406030204" pitchFamily="18" charset="0"/>
                          </a:rPr>
                          <m:t>𝛾</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𝑅</m:t>
                        </m:r>
                        <m:r>
                          <a:rPr lang="es-MX" sz="2000" i="1">
                            <a:latin typeface="Cambria Math" panose="02040503050406030204" pitchFamily="18" charset="0"/>
                            <a:ea typeface="Roboto" panose="02000000000000000000" pitchFamily="2" charset="0"/>
                          </a:rPr>
                          <m:t>)=</m:t>
                        </m:r>
                        <m:d>
                          <m:dPr>
                            <m:begChr m:val="{"/>
                            <m:endChr m:val="}"/>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𝑦</m:t>
                            </m:r>
                          </m:e>
                          <m:e>
                            <m:d>
                              <m:dPr>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𝑦</m:t>
                                </m:r>
                                <m:r>
                                  <a:rPr lang="es-MX" sz="2000" i="1">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𝐵</m:t>
                                </m:r>
                              </m:e>
                            </m:d>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𝑅</m:t>
                                    </m:r>
                                  </m:e>
                                </m:d>
                              </m:e>
                            </m:d>
                          </m:e>
                        </m:d>
                      </m:oMath>
                    </m:oMathPara>
                  </a14:m>
                  <a:endParaRPr lang="es-CO" sz="2000" dirty="0"/>
                </a:p>
              </p:txBody>
            </p:sp>
          </mc:Choice>
          <mc:Fallback>
            <p:sp>
              <p:nvSpPr>
                <p:cNvPr id="13" name="CuadroTexto 12">
                  <a:extLst>
                    <a:ext uri="{FF2B5EF4-FFF2-40B4-BE49-F238E27FC236}">
                      <a16:creationId xmlns:a16="http://schemas.microsoft.com/office/drawing/2014/main" id="{4B888105-2526-4306-95FA-BCED0180B87E}"/>
                    </a:ext>
                  </a:extLst>
                </p:cNvPr>
                <p:cNvSpPr txBox="1">
                  <a:spLocks noRot="1" noChangeAspect="1" noMove="1" noResize="1" noEditPoints="1" noAdjustHandles="1" noChangeArrowheads="1" noChangeShapeType="1" noTextEdit="1"/>
                </p:cNvSpPr>
                <p:nvPr/>
              </p:nvSpPr>
              <p:spPr>
                <a:xfrm>
                  <a:off x="3459969" y="6119125"/>
                  <a:ext cx="6015308" cy="460639"/>
                </a:xfrm>
                <a:prstGeom prst="rect">
                  <a:avLst/>
                </a:prstGeom>
                <a:blipFill>
                  <a:blip r:embed="rId6"/>
                  <a:stretch>
                    <a:fillRect/>
                  </a:stretch>
                </a:blipFill>
              </p:spPr>
              <p:txBody>
                <a:bodyPr/>
                <a:lstStyle/>
                <a:p>
                  <a:r>
                    <a:rPr lang="es-CO">
                      <a:noFill/>
                    </a:rPr>
                    <a:t> </a:t>
                  </a:r>
                </a:p>
              </p:txBody>
            </p:sp>
          </mc:Fallback>
        </mc:AlternateContent>
      </p:grpSp>
    </p:spTree>
    <p:extLst>
      <p:ext uri="{BB962C8B-B14F-4D97-AF65-F5344CB8AC3E}">
        <p14:creationId xmlns:p14="http://schemas.microsoft.com/office/powerpoint/2010/main" val="14490283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1" y="1379231"/>
                <a:ext cx="11522440" cy="21463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Suponga que tiene los siguientes conjuntos y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dada por:</a:t>
                </a:r>
              </a:p>
              <a:p>
                <a:r>
                  <a:rPr lang="es-MX" sz="2000" b="1" dirty="0">
                    <a:solidFill>
                      <a:schemeClr val="tx1"/>
                    </a:solidFill>
                    <a:latin typeface="+mn-lt"/>
                    <a:ea typeface="Roboto" panose="02000000000000000000" pitchFamily="2" charset="0"/>
                  </a:rPr>
                  <a:t>Conjunto de partida</a:t>
                </a:r>
                <a:r>
                  <a:rPr lang="es-MX" sz="2000" b="0" dirty="0">
                    <a:solidFill>
                      <a:schemeClr val="tx1"/>
                    </a:solidFill>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1,2,3,4</m:t>
                        </m:r>
                      </m:e>
                    </m:d>
                  </m:oMath>
                </a14:m>
                <a:endParaRPr lang="es-MX" sz="2000" dirty="0">
                  <a:latin typeface="+mn-lt"/>
                  <a:ea typeface="Roboto" panose="02000000000000000000" pitchFamily="2" charset="0"/>
                </a:endParaRPr>
              </a:p>
              <a:p>
                <a:r>
                  <a:rPr lang="es-MX" sz="2000" b="1" dirty="0">
                    <a:solidFill>
                      <a:schemeClr val="tx1"/>
                    </a:solidFill>
                    <a:latin typeface="+mn-lt"/>
                    <a:ea typeface="Roboto" panose="02000000000000000000" pitchFamily="2" charset="0"/>
                  </a:rPr>
                  <a:t>Conjunto de llegada</a:t>
                </a:r>
                <a:r>
                  <a:rPr lang="es-MX" sz="2000" dirty="0">
                    <a:solidFill>
                      <a:schemeClr val="tx1"/>
                    </a:solidFill>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𝑐</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𝑑</m:t>
                        </m:r>
                      </m:e>
                    </m:d>
                  </m:oMath>
                </a14:m>
                <a:endParaRPr lang="es-MX" sz="2000" dirty="0">
                  <a:latin typeface="+mn-lt"/>
                  <a:ea typeface="Roboto" panose="02000000000000000000" pitchFamily="2" charset="0"/>
                </a:endParaRPr>
              </a:p>
              <a:p>
                <a:r>
                  <a:rPr lang="es-MX" sz="2000" b="1" dirty="0">
                    <a:latin typeface="+mn-lt"/>
                    <a:ea typeface="Roboto" panose="02000000000000000000" pitchFamily="2" charset="0"/>
                  </a:rPr>
                  <a:t>Relación</a:t>
                </a:r>
                <a:r>
                  <a:rPr lang="es-MX" sz="2000" dirty="0">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m:t>
                            </m:r>
                            <m:r>
                              <a:rPr lang="es-MX" sz="2000" b="0" i="1" smtClean="0">
                                <a:solidFill>
                                  <a:schemeClr val="tx1"/>
                                </a:solidFill>
                                <a:latin typeface="Cambria Math" panose="02040503050406030204" pitchFamily="18" charset="0"/>
                                <a:ea typeface="Roboto" panose="02000000000000000000" pitchFamily="2" charset="0"/>
                              </a:rPr>
                              <m:t>𝑎</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1,</m:t>
                            </m:r>
                            <m:r>
                              <a:rPr lang="es-MX" sz="2000" b="0" i="1" smtClean="0">
                                <a:solidFill>
                                  <a:schemeClr val="tx1"/>
                                </a:solidFill>
                                <a:latin typeface="Cambria Math" panose="02040503050406030204" pitchFamily="18" charset="0"/>
                                <a:ea typeface="Roboto" panose="02000000000000000000" pitchFamily="2" charset="0"/>
                              </a:rPr>
                              <m:t>𝑐</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4</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e>
                    </m:d>
                  </m:oMath>
                </a14:m>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Determine el dominio y el rango de la relación.</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1" y="1379231"/>
                <a:ext cx="11522440" cy="2146342"/>
              </a:xfrm>
              <a:prstGeom prst="rect">
                <a:avLst/>
              </a:prstGeom>
              <a:blipFill>
                <a:blip r:embed="rId3"/>
                <a:stretch>
                  <a:fillRect b="-2841"/>
                </a:stretch>
              </a:blipFill>
              <a:ln>
                <a:noFill/>
              </a:ln>
            </p:spPr>
            <p:txBody>
              <a:bodyPr/>
              <a:lstStyle/>
              <a:p>
                <a:r>
                  <a:rPr lang="es-CO">
                    <a:noFill/>
                  </a:rPr>
                  <a:t> </a:t>
                </a:r>
              </a:p>
            </p:txBody>
          </p:sp>
        </mc:Fallback>
      </mc:AlternateContent>
      <p:pic>
        <p:nvPicPr>
          <p:cNvPr id="5" name="Imagen 4">
            <a:extLst>
              <a:ext uri="{FF2B5EF4-FFF2-40B4-BE49-F238E27FC236}">
                <a16:creationId xmlns:a16="http://schemas.microsoft.com/office/drawing/2014/main" id="{159289A4-86D6-44DF-BE17-D680DAE8D114}"/>
              </a:ext>
            </a:extLst>
          </p:cNvPr>
          <p:cNvPicPr>
            <a:picLocks noChangeAspect="1"/>
          </p:cNvPicPr>
          <p:nvPr/>
        </p:nvPicPr>
        <p:blipFill>
          <a:blip r:embed="rId4"/>
          <a:stretch>
            <a:fillRect/>
          </a:stretch>
        </p:blipFill>
        <p:spPr>
          <a:xfrm>
            <a:off x="4361352" y="3950540"/>
            <a:ext cx="2413697" cy="2426674"/>
          </a:xfrm>
          <a:prstGeom prst="rect">
            <a:avLst/>
          </a:prstGeom>
        </p:spPr>
      </p:pic>
      <p:grpSp>
        <p:nvGrpSpPr>
          <p:cNvPr id="47" name="Grupo 46">
            <a:extLst>
              <a:ext uri="{FF2B5EF4-FFF2-40B4-BE49-F238E27FC236}">
                <a16:creationId xmlns:a16="http://schemas.microsoft.com/office/drawing/2014/main" id="{59C2E1D2-6C9B-40D2-A0A1-61DDC17FA41F}"/>
              </a:ext>
            </a:extLst>
          </p:cNvPr>
          <p:cNvGrpSpPr/>
          <p:nvPr/>
        </p:nvGrpSpPr>
        <p:grpSpPr>
          <a:xfrm>
            <a:off x="1137045" y="3772214"/>
            <a:ext cx="2616451" cy="2797017"/>
            <a:chOff x="1853571" y="3122895"/>
            <a:chExt cx="2616451" cy="2797017"/>
          </a:xfrm>
        </p:grpSpPr>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515E2538-6C6C-4EB4-8E76-5A1CFAA9A621}"/>
                    </a:ext>
                  </a:extLst>
                </p:cNvPr>
                <p:cNvSpPr txBox="1"/>
                <p:nvPr/>
              </p:nvSpPr>
              <p:spPr>
                <a:xfrm>
                  <a:off x="3650322" y="5519802"/>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tx1"/>
                            </a:solidFill>
                            <a:latin typeface="Cambria Math" panose="02040503050406030204" pitchFamily="18" charset="0"/>
                          </a:rPr>
                          <m:t>𝑩</m:t>
                        </m:r>
                      </m:oMath>
                    </m:oMathPara>
                  </a14:m>
                  <a:endParaRPr lang="es-CO" sz="1600" b="1" dirty="0">
                    <a:solidFill>
                      <a:schemeClr val="tx1"/>
                    </a:solidFill>
                  </a:endParaRPr>
                </a:p>
              </p:txBody>
            </p:sp>
          </mc:Choice>
          <mc:Fallback>
            <p:sp>
              <p:nvSpPr>
                <p:cNvPr id="16" name="CuadroTexto 15">
                  <a:extLst>
                    <a:ext uri="{FF2B5EF4-FFF2-40B4-BE49-F238E27FC236}">
                      <a16:creationId xmlns:a16="http://schemas.microsoft.com/office/drawing/2014/main" id="{515E2538-6C6C-4EB4-8E76-5A1CFAA9A621}"/>
                    </a:ext>
                  </a:extLst>
                </p:cNvPr>
                <p:cNvSpPr txBox="1">
                  <a:spLocks noRot="1" noChangeAspect="1" noMove="1" noResize="1" noEditPoints="1" noAdjustHandles="1" noChangeArrowheads="1" noChangeShapeType="1" noTextEdit="1"/>
                </p:cNvSpPr>
                <p:nvPr/>
              </p:nvSpPr>
              <p:spPr>
                <a:xfrm>
                  <a:off x="3650322" y="5519802"/>
                  <a:ext cx="703865" cy="400110"/>
                </a:xfrm>
                <a:prstGeom prst="rect">
                  <a:avLst/>
                </a:prstGeom>
                <a:blipFill>
                  <a:blip r:embed="rId5"/>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699CCFB1-A66D-413C-955F-AC7DDDDD2CBC}"/>
                    </a:ext>
                  </a:extLst>
                </p:cNvPr>
                <p:cNvSpPr txBox="1"/>
                <p:nvPr/>
              </p:nvSpPr>
              <p:spPr>
                <a:xfrm>
                  <a:off x="1969404" y="5458148"/>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tx1"/>
                            </a:solidFill>
                            <a:latin typeface="Cambria Math" panose="02040503050406030204" pitchFamily="18" charset="0"/>
                          </a:rPr>
                          <m:t>𝑨</m:t>
                        </m:r>
                      </m:oMath>
                    </m:oMathPara>
                  </a14:m>
                  <a:endParaRPr lang="es-CO" sz="1600" b="1" dirty="0">
                    <a:solidFill>
                      <a:schemeClr val="tx1"/>
                    </a:solidFill>
                  </a:endParaRPr>
                </a:p>
              </p:txBody>
            </p:sp>
          </mc:Choice>
          <mc:Fallback>
            <p:sp>
              <p:nvSpPr>
                <p:cNvPr id="18" name="CuadroTexto 17">
                  <a:extLst>
                    <a:ext uri="{FF2B5EF4-FFF2-40B4-BE49-F238E27FC236}">
                      <a16:creationId xmlns:a16="http://schemas.microsoft.com/office/drawing/2014/main" id="{699CCFB1-A66D-413C-955F-AC7DDDDD2CBC}"/>
                    </a:ext>
                  </a:extLst>
                </p:cNvPr>
                <p:cNvSpPr txBox="1">
                  <a:spLocks noRot="1" noChangeAspect="1" noMove="1" noResize="1" noEditPoints="1" noAdjustHandles="1" noChangeArrowheads="1" noChangeShapeType="1" noTextEdit="1"/>
                </p:cNvSpPr>
                <p:nvPr/>
              </p:nvSpPr>
              <p:spPr>
                <a:xfrm>
                  <a:off x="1969404" y="5458148"/>
                  <a:ext cx="703865" cy="400110"/>
                </a:xfrm>
                <a:prstGeom prst="rect">
                  <a:avLst/>
                </a:prstGeom>
                <a:blipFill>
                  <a:blip r:embed="rId6"/>
                  <a:stretch>
                    <a:fillRect/>
                  </a:stretch>
                </a:blipFill>
              </p:spPr>
              <p:txBody>
                <a:bodyPr/>
                <a:lstStyle/>
                <a:p>
                  <a:r>
                    <a:rPr lang="es-CO">
                      <a:noFill/>
                    </a:rPr>
                    <a:t> </a:t>
                  </a:r>
                </a:p>
              </p:txBody>
            </p:sp>
          </mc:Fallback>
        </mc:AlternateContent>
        <p:grpSp>
          <p:nvGrpSpPr>
            <p:cNvPr id="30" name="Grupo 29">
              <a:extLst>
                <a:ext uri="{FF2B5EF4-FFF2-40B4-BE49-F238E27FC236}">
                  <a16:creationId xmlns:a16="http://schemas.microsoft.com/office/drawing/2014/main" id="{696DC710-7FB4-442C-80C4-634CDD76C3B8}"/>
                </a:ext>
              </a:extLst>
            </p:cNvPr>
            <p:cNvGrpSpPr/>
            <p:nvPr/>
          </p:nvGrpSpPr>
          <p:grpSpPr>
            <a:xfrm>
              <a:off x="3534489" y="3122896"/>
              <a:ext cx="935533" cy="2313589"/>
              <a:chOff x="2371302" y="3160111"/>
              <a:chExt cx="935533" cy="2313589"/>
            </a:xfrm>
          </p:grpSpPr>
          <p:sp>
            <p:nvSpPr>
              <p:cNvPr id="15" name="Elipse 14">
                <a:extLst>
                  <a:ext uri="{FF2B5EF4-FFF2-40B4-BE49-F238E27FC236}">
                    <a16:creationId xmlns:a16="http://schemas.microsoft.com/office/drawing/2014/main" id="{20083016-1FF0-4C4E-A07C-E01ED69C14DE}"/>
                  </a:ext>
                </a:extLst>
              </p:cNvPr>
              <p:cNvSpPr/>
              <p:nvPr/>
            </p:nvSpPr>
            <p:spPr>
              <a:xfrm>
                <a:off x="2371302"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3AE09312-E477-4BA8-8876-691650083B2F}"/>
                      </a:ext>
                    </a:extLst>
                  </p:cNvPr>
                  <p:cNvSpPr txBox="1"/>
                  <p:nvPr/>
                </p:nvSpPr>
                <p:spPr>
                  <a:xfrm>
                    <a:off x="2608824" y="3373778"/>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𝒂</m:t>
                          </m:r>
                        </m:oMath>
                      </m:oMathPara>
                    </a14:m>
                    <a:endParaRPr lang="es-CO" sz="1600" b="1" dirty="0">
                      <a:solidFill>
                        <a:schemeClr val="tx1"/>
                      </a:solidFill>
                    </a:endParaRPr>
                  </a:p>
                </p:txBody>
              </p:sp>
            </mc:Choice>
            <mc:Fallback>
              <p:sp>
                <p:nvSpPr>
                  <p:cNvPr id="19" name="CuadroTexto 18">
                    <a:extLst>
                      <a:ext uri="{FF2B5EF4-FFF2-40B4-BE49-F238E27FC236}">
                        <a16:creationId xmlns:a16="http://schemas.microsoft.com/office/drawing/2014/main" id="{3AE09312-E477-4BA8-8876-691650083B2F}"/>
                      </a:ext>
                    </a:extLst>
                  </p:cNvPr>
                  <p:cNvSpPr txBox="1">
                    <a:spLocks noRot="1" noChangeAspect="1" noMove="1" noResize="1" noEditPoints="1" noAdjustHandles="1" noChangeArrowheads="1" noChangeShapeType="1" noTextEdit="1"/>
                  </p:cNvSpPr>
                  <p:nvPr/>
                </p:nvSpPr>
                <p:spPr>
                  <a:xfrm>
                    <a:off x="2608824" y="3373778"/>
                    <a:ext cx="403774" cy="400110"/>
                  </a:xfrm>
                  <a:prstGeom prst="rect">
                    <a:avLst/>
                  </a:prstGeom>
                  <a:blipFill>
                    <a:blip r:embed="rId7"/>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917496FB-EFF1-4940-9FA7-14EFE5F78C01}"/>
                      </a:ext>
                    </a:extLst>
                  </p:cNvPr>
                  <p:cNvSpPr txBox="1"/>
                  <p:nvPr/>
                </p:nvSpPr>
                <p:spPr>
                  <a:xfrm>
                    <a:off x="2605645" y="3879581"/>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𝒃</m:t>
                          </m:r>
                        </m:oMath>
                      </m:oMathPara>
                    </a14:m>
                    <a:endParaRPr lang="es-CO" sz="1600" b="1" dirty="0">
                      <a:solidFill>
                        <a:schemeClr val="tx1"/>
                      </a:solidFill>
                    </a:endParaRPr>
                  </a:p>
                </p:txBody>
              </p:sp>
            </mc:Choice>
            <mc:Fallback>
              <p:sp>
                <p:nvSpPr>
                  <p:cNvPr id="20" name="CuadroTexto 19">
                    <a:extLst>
                      <a:ext uri="{FF2B5EF4-FFF2-40B4-BE49-F238E27FC236}">
                        <a16:creationId xmlns:a16="http://schemas.microsoft.com/office/drawing/2014/main" id="{917496FB-EFF1-4940-9FA7-14EFE5F78C01}"/>
                      </a:ext>
                    </a:extLst>
                  </p:cNvPr>
                  <p:cNvSpPr txBox="1">
                    <a:spLocks noRot="1" noChangeAspect="1" noMove="1" noResize="1" noEditPoints="1" noAdjustHandles="1" noChangeArrowheads="1" noChangeShapeType="1" noTextEdit="1"/>
                  </p:cNvSpPr>
                  <p:nvPr/>
                </p:nvSpPr>
                <p:spPr>
                  <a:xfrm>
                    <a:off x="2605645" y="3879581"/>
                    <a:ext cx="403774" cy="400110"/>
                  </a:xfrm>
                  <a:prstGeom prst="rect">
                    <a:avLst/>
                  </a:prstGeom>
                  <a:blipFill>
                    <a:blip r:embed="rId8"/>
                    <a:stretch>
                      <a:fillRect l="-15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752C7202-E4BC-4FED-B725-3464D085BF58}"/>
                      </a:ext>
                    </a:extLst>
                  </p:cNvPr>
                  <p:cNvSpPr txBox="1"/>
                  <p:nvPr/>
                </p:nvSpPr>
                <p:spPr>
                  <a:xfrm>
                    <a:off x="2594379" y="4383512"/>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𝒄</m:t>
                          </m:r>
                        </m:oMath>
                      </m:oMathPara>
                    </a14:m>
                    <a:endParaRPr lang="es-CO" sz="1600" b="1" dirty="0">
                      <a:solidFill>
                        <a:schemeClr val="tx1"/>
                      </a:solidFill>
                    </a:endParaRPr>
                  </a:p>
                </p:txBody>
              </p:sp>
            </mc:Choice>
            <mc:Fallback>
              <p:sp>
                <p:nvSpPr>
                  <p:cNvPr id="21" name="CuadroTexto 20">
                    <a:extLst>
                      <a:ext uri="{FF2B5EF4-FFF2-40B4-BE49-F238E27FC236}">
                        <a16:creationId xmlns:a16="http://schemas.microsoft.com/office/drawing/2014/main" id="{752C7202-E4BC-4FED-B725-3464D085BF58}"/>
                      </a:ext>
                    </a:extLst>
                  </p:cNvPr>
                  <p:cNvSpPr txBox="1">
                    <a:spLocks noRot="1" noChangeAspect="1" noMove="1" noResize="1" noEditPoints="1" noAdjustHandles="1" noChangeArrowheads="1" noChangeShapeType="1" noTextEdit="1"/>
                  </p:cNvSpPr>
                  <p:nvPr/>
                </p:nvSpPr>
                <p:spPr>
                  <a:xfrm>
                    <a:off x="2594379" y="4383512"/>
                    <a:ext cx="403774" cy="400110"/>
                  </a:xfrm>
                  <a:prstGeom prst="rect">
                    <a:avLst/>
                  </a:prstGeom>
                  <a:blipFill>
                    <a:blip r:embed="rId9"/>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74293DCB-EB37-427C-83FD-221E132B07DC}"/>
                      </a:ext>
                    </a:extLst>
                  </p:cNvPr>
                  <p:cNvSpPr txBox="1"/>
                  <p:nvPr/>
                </p:nvSpPr>
                <p:spPr>
                  <a:xfrm>
                    <a:off x="2603417" y="4885740"/>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𝒅</m:t>
                          </m:r>
                        </m:oMath>
                      </m:oMathPara>
                    </a14:m>
                    <a:endParaRPr lang="es-CO" sz="1600" b="1" dirty="0">
                      <a:solidFill>
                        <a:schemeClr val="tx1"/>
                      </a:solidFill>
                    </a:endParaRPr>
                  </a:p>
                </p:txBody>
              </p:sp>
            </mc:Choice>
            <mc:Fallback>
              <p:sp>
                <p:nvSpPr>
                  <p:cNvPr id="24" name="CuadroTexto 23">
                    <a:extLst>
                      <a:ext uri="{FF2B5EF4-FFF2-40B4-BE49-F238E27FC236}">
                        <a16:creationId xmlns:a16="http://schemas.microsoft.com/office/drawing/2014/main" id="{74293DCB-EB37-427C-83FD-221E132B07DC}"/>
                      </a:ext>
                    </a:extLst>
                  </p:cNvPr>
                  <p:cNvSpPr txBox="1">
                    <a:spLocks noRot="1" noChangeAspect="1" noMove="1" noResize="1" noEditPoints="1" noAdjustHandles="1" noChangeArrowheads="1" noChangeShapeType="1" noTextEdit="1"/>
                  </p:cNvSpPr>
                  <p:nvPr/>
                </p:nvSpPr>
                <p:spPr>
                  <a:xfrm>
                    <a:off x="2603417" y="4885740"/>
                    <a:ext cx="403774" cy="400110"/>
                  </a:xfrm>
                  <a:prstGeom prst="rect">
                    <a:avLst/>
                  </a:prstGeom>
                  <a:blipFill>
                    <a:blip r:embed="rId10"/>
                    <a:stretch>
                      <a:fillRect/>
                    </a:stretch>
                  </a:blipFill>
                </p:spPr>
                <p:txBody>
                  <a:bodyPr/>
                  <a:lstStyle/>
                  <a:p>
                    <a:r>
                      <a:rPr lang="es-CO">
                        <a:noFill/>
                      </a:rPr>
                      <a:t> </a:t>
                    </a:r>
                  </a:p>
                </p:txBody>
              </p:sp>
            </mc:Fallback>
          </mc:AlternateContent>
        </p:grpSp>
        <p:grpSp>
          <p:nvGrpSpPr>
            <p:cNvPr id="6" name="Grupo 5">
              <a:extLst>
                <a:ext uri="{FF2B5EF4-FFF2-40B4-BE49-F238E27FC236}">
                  <a16:creationId xmlns:a16="http://schemas.microsoft.com/office/drawing/2014/main" id="{FDCCB6FB-A035-493B-ABD6-EE53C00EAC87}"/>
                </a:ext>
              </a:extLst>
            </p:cNvPr>
            <p:cNvGrpSpPr/>
            <p:nvPr/>
          </p:nvGrpSpPr>
          <p:grpSpPr>
            <a:xfrm>
              <a:off x="1853571" y="3122895"/>
              <a:ext cx="935533" cy="2313589"/>
              <a:chOff x="1204578" y="3160111"/>
              <a:chExt cx="935533" cy="2313589"/>
            </a:xfrm>
          </p:grpSpPr>
          <p:sp>
            <p:nvSpPr>
              <p:cNvPr id="25" name="Elipse 24">
                <a:extLst>
                  <a:ext uri="{FF2B5EF4-FFF2-40B4-BE49-F238E27FC236}">
                    <a16:creationId xmlns:a16="http://schemas.microsoft.com/office/drawing/2014/main" id="{9433B6A9-2FE1-4630-9A48-2D0F84CD2A5E}"/>
                  </a:ext>
                </a:extLst>
              </p:cNvPr>
              <p:cNvSpPr/>
              <p:nvPr/>
            </p:nvSpPr>
            <p:spPr>
              <a:xfrm>
                <a:off x="1204578"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6" name="CuadroTexto 25">
                    <a:extLst>
                      <a:ext uri="{FF2B5EF4-FFF2-40B4-BE49-F238E27FC236}">
                        <a16:creationId xmlns:a16="http://schemas.microsoft.com/office/drawing/2014/main" id="{0D207E18-0E79-4440-B010-CE71715E3C82}"/>
                      </a:ext>
                    </a:extLst>
                  </p:cNvPr>
                  <p:cNvSpPr txBox="1"/>
                  <p:nvPr/>
                </p:nvSpPr>
                <p:spPr>
                  <a:xfrm>
                    <a:off x="1442100" y="3373778"/>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𝟏</m:t>
                          </m:r>
                        </m:oMath>
                      </m:oMathPara>
                    </a14:m>
                    <a:endParaRPr lang="es-CO" sz="1600" b="1" dirty="0">
                      <a:solidFill>
                        <a:schemeClr val="tx1"/>
                      </a:solidFill>
                    </a:endParaRPr>
                  </a:p>
                </p:txBody>
              </p:sp>
            </mc:Choice>
            <mc:Fallback>
              <p:sp>
                <p:nvSpPr>
                  <p:cNvPr id="26" name="CuadroTexto 25">
                    <a:extLst>
                      <a:ext uri="{FF2B5EF4-FFF2-40B4-BE49-F238E27FC236}">
                        <a16:creationId xmlns:a16="http://schemas.microsoft.com/office/drawing/2014/main" id="{0D207E18-0E79-4440-B010-CE71715E3C82}"/>
                      </a:ext>
                    </a:extLst>
                  </p:cNvPr>
                  <p:cNvSpPr txBox="1">
                    <a:spLocks noRot="1" noChangeAspect="1" noMove="1" noResize="1" noEditPoints="1" noAdjustHandles="1" noChangeArrowheads="1" noChangeShapeType="1" noTextEdit="1"/>
                  </p:cNvSpPr>
                  <p:nvPr/>
                </p:nvSpPr>
                <p:spPr>
                  <a:xfrm>
                    <a:off x="1442100" y="3373778"/>
                    <a:ext cx="403774" cy="400110"/>
                  </a:xfrm>
                  <a:prstGeom prst="rect">
                    <a:avLst/>
                  </a:prstGeom>
                  <a:blipFill>
                    <a:blip r:embed="rId11"/>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7" name="CuadroTexto 26">
                    <a:extLst>
                      <a:ext uri="{FF2B5EF4-FFF2-40B4-BE49-F238E27FC236}">
                        <a16:creationId xmlns:a16="http://schemas.microsoft.com/office/drawing/2014/main" id="{1356A0E6-145E-4CE2-85D1-D38B1BB45091}"/>
                      </a:ext>
                    </a:extLst>
                  </p:cNvPr>
                  <p:cNvSpPr txBox="1"/>
                  <p:nvPr/>
                </p:nvSpPr>
                <p:spPr>
                  <a:xfrm>
                    <a:off x="1438921" y="3879581"/>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𝟐</m:t>
                          </m:r>
                        </m:oMath>
                      </m:oMathPara>
                    </a14:m>
                    <a:endParaRPr lang="es-CO" sz="1600" b="1" dirty="0">
                      <a:solidFill>
                        <a:schemeClr val="tx1"/>
                      </a:solidFill>
                    </a:endParaRPr>
                  </a:p>
                </p:txBody>
              </p:sp>
            </mc:Choice>
            <mc:Fallback>
              <p:sp>
                <p:nvSpPr>
                  <p:cNvPr id="27" name="CuadroTexto 26">
                    <a:extLst>
                      <a:ext uri="{FF2B5EF4-FFF2-40B4-BE49-F238E27FC236}">
                        <a16:creationId xmlns:a16="http://schemas.microsoft.com/office/drawing/2014/main" id="{1356A0E6-145E-4CE2-85D1-D38B1BB45091}"/>
                      </a:ext>
                    </a:extLst>
                  </p:cNvPr>
                  <p:cNvSpPr txBox="1">
                    <a:spLocks noRot="1" noChangeAspect="1" noMove="1" noResize="1" noEditPoints="1" noAdjustHandles="1" noChangeArrowheads="1" noChangeShapeType="1" noTextEdit="1"/>
                  </p:cNvSpPr>
                  <p:nvPr/>
                </p:nvSpPr>
                <p:spPr>
                  <a:xfrm>
                    <a:off x="1438921" y="3879581"/>
                    <a:ext cx="403774" cy="400110"/>
                  </a:xfrm>
                  <a:prstGeom prst="rect">
                    <a:avLst/>
                  </a:prstGeom>
                  <a:blipFill>
                    <a:blip r:embed="rId12"/>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0080B24D-4644-42A9-8CC0-1F755792940B}"/>
                      </a:ext>
                    </a:extLst>
                  </p:cNvPr>
                  <p:cNvSpPr txBox="1"/>
                  <p:nvPr/>
                </p:nvSpPr>
                <p:spPr>
                  <a:xfrm>
                    <a:off x="1427655" y="4383512"/>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𝟑</m:t>
                          </m:r>
                        </m:oMath>
                      </m:oMathPara>
                    </a14:m>
                    <a:endParaRPr lang="es-CO" sz="1600" b="1" dirty="0">
                      <a:solidFill>
                        <a:schemeClr val="tx1"/>
                      </a:solidFill>
                    </a:endParaRPr>
                  </a:p>
                </p:txBody>
              </p:sp>
            </mc:Choice>
            <mc:Fallback>
              <p:sp>
                <p:nvSpPr>
                  <p:cNvPr id="28" name="CuadroTexto 27">
                    <a:extLst>
                      <a:ext uri="{FF2B5EF4-FFF2-40B4-BE49-F238E27FC236}">
                        <a16:creationId xmlns:a16="http://schemas.microsoft.com/office/drawing/2014/main" id="{0080B24D-4644-42A9-8CC0-1F755792940B}"/>
                      </a:ext>
                    </a:extLst>
                  </p:cNvPr>
                  <p:cNvSpPr txBox="1">
                    <a:spLocks noRot="1" noChangeAspect="1" noMove="1" noResize="1" noEditPoints="1" noAdjustHandles="1" noChangeArrowheads="1" noChangeShapeType="1" noTextEdit="1"/>
                  </p:cNvSpPr>
                  <p:nvPr/>
                </p:nvSpPr>
                <p:spPr>
                  <a:xfrm>
                    <a:off x="1427655" y="4383512"/>
                    <a:ext cx="403774" cy="400110"/>
                  </a:xfrm>
                  <a:prstGeom prst="rect">
                    <a:avLst/>
                  </a:prstGeom>
                  <a:blipFill>
                    <a:blip r:embed="rId13"/>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99DC82F9-877F-4F55-AE13-171B8B8411B2}"/>
                      </a:ext>
                    </a:extLst>
                  </p:cNvPr>
                  <p:cNvSpPr txBox="1"/>
                  <p:nvPr/>
                </p:nvSpPr>
                <p:spPr>
                  <a:xfrm>
                    <a:off x="1436693" y="4885740"/>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𝟒</m:t>
                          </m:r>
                        </m:oMath>
                      </m:oMathPara>
                    </a14:m>
                    <a:endParaRPr lang="es-CO" sz="1600" b="1" dirty="0">
                      <a:solidFill>
                        <a:schemeClr val="tx1"/>
                      </a:solidFill>
                    </a:endParaRPr>
                  </a:p>
                </p:txBody>
              </p:sp>
            </mc:Choice>
            <mc:Fallback>
              <p:sp>
                <p:nvSpPr>
                  <p:cNvPr id="29" name="CuadroTexto 28">
                    <a:extLst>
                      <a:ext uri="{FF2B5EF4-FFF2-40B4-BE49-F238E27FC236}">
                        <a16:creationId xmlns:a16="http://schemas.microsoft.com/office/drawing/2014/main" id="{99DC82F9-877F-4F55-AE13-171B8B8411B2}"/>
                      </a:ext>
                    </a:extLst>
                  </p:cNvPr>
                  <p:cNvSpPr txBox="1">
                    <a:spLocks noRot="1" noChangeAspect="1" noMove="1" noResize="1" noEditPoints="1" noAdjustHandles="1" noChangeArrowheads="1" noChangeShapeType="1" noTextEdit="1"/>
                  </p:cNvSpPr>
                  <p:nvPr/>
                </p:nvSpPr>
                <p:spPr>
                  <a:xfrm>
                    <a:off x="1436693" y="4885740"/>
                    <a:ext cx="403774" cy="400110"/>
                  </a:xfrm>
                  <a:prstGeom prst="rect">
                    <a:avLst/>
                  </a:prstGeom>
                  <a:blipFill>
                    <a:blip r:embed="rId14"/>
                    <a:stretch>
                      <a:fillRect/>
                    </a:stretch>
                  </a:blipFill>
                </p:spPr>
                <p:txBody>
                  <a:bodyPr/>
                  <a:lstStyle/>
                  <a:p>
                    <a:r>
                      <a:rPr lang="es-CO">
                        <a:noFill/>
                      </a:rPr>
                      <a:t> </a:t>
                    </a:r>
                  </a:p>
                </p:txBody>
              </p:sp>
            </mc:Fallback>
          </mc:AlternateContent>
        </p:grpSp>
        <p:cxnSp>
          <p:nvCxnSpPr>
            <p:cNvPr id="36" name="Conector recto de flecha 35">
              <a:extLst>
                <a:ext uri="{FF2B5EF4-FFF2-40B4-BE49-F238E27FC236}">
                  <a16:creationId xmlns:a16="http://schemas.microsoft.com/office/drawing/2014/main" id="{48E554BD-12E0-4E1C-9B2F-A7269E6C25EE}"/>
                </a:ext>
              </a:extLst>
            </p:cNvPr>
            <p:cNvCxnSpPr>
              <a:cxnSpLocks/>
              <a:endCxn id="19" idx="1"/>
            </p:cNvCxnSpPr>
            <p:nvPr/>
          </p:nvCxnSpPr>
          <p:spPr>
            <a:xfrm>
              <a:off x="2494867" y="3536617"/>
              <a:ext cx="1277144" cy="1"/>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recto de flecha 37">
              <a:extLst>
                <a:ext uri="{FF2B5EF4-FFF2-40B4-BE49-F238E27FC236}">
                  <a16:creationId xmlns:a16="http://schemas.microsoft.com/office/drawing/2014/main" id="{DEE25EDD-432F-4429-9ADD-9AD47E42A939}"/>
                </a:ext>
              </a:extLst>
            </p:cNvPr>
            <p:cNvCxnSpPr>
              <a:cxnSpLocks/>
              <a:endCxn id="21" idx="1"/>
            </p:cNvCxnSpPr>
            <p:nvPr/>
          </p:nvCxnSpPr>
          <p:spPr>
            <a:xfrm>
              <a:off x="2501900" y="3600450"/>
              <a:ext cx="1255666" cy="945902"/>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ector recto de flecha 42">
              <a:extLst>
                <a:ext uri="{FF2B5EF4-FFF2-40B4-BE49-F238E27FC236}">
                  <a16:creationId xmlns:a16="http://schemas.microsoft.com/office/drawing/2014/main" id="{948E16F5-7CA8-494C-8502-27C1FE9E07C4}"/>
                </a:ext>
              </a:extLst>
            </p:cNvPr>
            <p:cNvCxnSpPr>
              <a:cxnSpLocks/>
            </p:cNvCxnSpPr>
            <p:nvPr/>
          </p:nvCxnSpPr>
          <p:spPr>
            <a:xfrm>
              <a:off x="2491688" y="4042420"/>
              <a:ext cx="1277144"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recto de flecha 43">
              <a:extLst>
                <a:ext uri="{FF2B5EF4-FFF2-40B4-BE49-F238E27FC236}">
                  <a16:creationId xmlns:a16="http://schemas.microsoft.com/office/drawing/2014/main" id="{2FF0AD29-8AAD-4C97-B93B-9DE008450D35}"/>
                </a:ext>
              </a:extLst>
            </p:cNvPr>
            <p:cNvCxnSpPr>
              <a:cxnSpLocks/>
              <a:stCxn id="29" idx="3"/>
            </p:cNvCxnSpPr>
            <p:nvPr/>
          </p:nvCxnSpPr>
          <p:spPr>
            <a:xfrm flipV="1">
              <a:off x="2489460" y="4108450"/>
              <a:ext cx="1282440" cy="940129"/>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49" name="CuadroTexto 48">
                <a:extLst>
                  <a:ext uri="{FF2B5EF4-FFF2-40B4-BE49-F238E27FC236}">
                    <a16:creationId xmlns:a16="http://schemas.microsoft.com/office/drawing/2014/main" id="{082CDDE1-12F4-4AC8-AE28-200E4CA4F051}"/>
                  </a:ext>
                </a:extLst>
              </p:cNvPr>
              <p:cNvSpPr txBox="1"/>
              <p:nvPr/>
            </p:nvSpPr>
            <p:spPr>
              <a:xfrm>
                <a:off x="6176068" y="2076080"/>
                <a:ext cx="5591211" cy="460639"/>
              </a:xfrm>
              <a:prstGeom prst="rect">
                <a:avLst/>
              </a:prstGeom>
              <a:solidFill>
                <a:schemeClr val="bg1">
                  <a:lumMod val="95000"/>
                </a:schemeClr>
              </a:solidFill>
            </p:spPr>
            <p:txBody>
              <a:bodyPr wrap="none" lIns="0" tIns="0" rIns="0" bIns="0" rtlCol="0">
                <a:spAutoFit/>
              </a:bodyPr>
              <a:lstStyle/>
              <a:p>
                <a14:m>
                  <m:oMath xmlns:m="http://schemas.openxmlformats.org/officeDocument/2006/math">
                    <m:r>
                      <m:rPr>
                        <m:sty m:val="p"/>
                      </m:rPr>
                      <a:rPr lang="es-MX" sz="2000" b="0" i="0" smtClean="0">
                        <a:solidFill>
                          <a:schemeClr val="tx1"/>
                        </a:solidFill>
                        <a:latin typeface="Cambria Math" panose="02040503050406030204" pitchFamily="18" charset="0"/>
                      </a:rPr>
                      <m:t>dom</m:t>
                    </m:r>
                    <m:d>
                      <m:dPr>
                        <m:ctrlPr>
                          <a:rPr lang="es-MX" sz="2000" b="0" i="1" smtClean="0">
                            <a:solidFill>
                              <a:schemeClr val="tx1"/>
                            </a:solidFill>
                            <a:latin typeface="Cambria Math" panose="02040503050406030204" pitchFamily="18" charset="0"/>
                          </a:rPr>
                        </m:ctrlPr>
                      </m:dPr>
                      <m:e>
                        <m:r>
                          <a:rPr lang="es-MX" sz="2000" b="0" i="1" smtClean="0">
                            <a:solidFill>
                              <a:schemeClr val="tx1"/>
                            </a:solidFill>
                            <a:latin typeface="Cambria Math" panose="02040503050406030204" pitchFamily="18" charset="0"/>
                          </a:rPr>
                          <m:t>𝑅</m:t>
                        </m:r>
                      </m:e>
                    </m:d>
                    <m:r>
                      <a:rPr lang="es-MX" sz="2000" b="0" i="1" smtClean="0">
                        <a:solidFill>
                          <a:schemeClr val="tx1"/>
                        </a:solidFill>
                        <a:latin typeface="Cambria Math" panose="02040503050406030204" pitchFamily="18" charset="0"/>
                      </a:rPr>
                      <m:t>=</m:t>
                    </m:r>
                    <m:d>
                      <m:dPr>
                        <m:begChr m:val="{"/>
                        <m:endChr m:val="}"/>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e>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𝑥</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𝐴</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𝑦</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𝑦</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𝐵</m:t>
                            </m:r>
                            <m:r>
                              <a:rPr lang="es-MX" sz="2000" i="1">
                                <a:latin typeface="Cambria Math" panose="02040503050406030204" pitchFamily="18" charset="0"/>
                                <a:ea typeface="Cambria Math" panose="02040503050406030204" pitchFamily="18" charset="0"/>
                              </a:rPr>
                              <m:t>∧</m:t>
                            </m:r>
                            <m:d>
                              <m:dPr>
                                <m:ctrlPr>
                                  <a:rPr lang="es-MX" sz="2000" i="1">
                                    <a:latin typeface="Cambria Math" panose="02040503050406030204" pitchFamily="18" charset="0"/>
                                    <a:ea typeface="Cambria Math" panose="02040503050406030204" pitchFamily="18" charset="0"/>
                                  </a:rPr>
                                </m:ctrlPr>
                              </m:dPr>
                              <m:e>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𝑦</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𝑅</m:t>
                                </m:r>
                              </m:e>
                            </m:d>
                          </m:e>
                        </m:d>
                      </m:e>
                    </m:d>
                  </m:oMath>
                </a14:m>
                <a:r>
                  <a:rPr lang="es-CO" sz="2000" dirty="0">
                    <a:solidFill>
                      <a:schemeClr val="tx1"/>
                    </a:solidFill>
                  </a:rPr>
                  <a:t> </a:t>
                </a:r>
              </a:p>
            </p:txBody>
          </p:sp>
        </mc:Choice>
        <mc:Fallback>
          <p:sp>
            <p:nvSpPr>
              <p:cNvPr id="49" name="CuadroTexto 48">
                <a:extLst>
                  <a:ext uri="{FF2B5EF4-FFF2-40B4-BE49-F238E27FC236}">
                    <a16:creationId xmlns:a16="http://schemas.microsoft.com/office/drawing/2014/main" id="{082CDDE1-12F4-4AC8-AE28-200E4CA4F051}"/>
                  </a:ext>
                </a:extLst>
              </p:cNvPr>
              <p:cNvSpPr txBox="1">
                <a:spLocks noRot="1" noChangeAspect="1" noMove="1" noResize="1" noEditPoints="1" noAdjustHandles="1" noChangeArrowheads="1" noChangeShapeType="1" noTextEdit="1"/>
              </p:cNvSpPr>
              <p:nvPr/>
            </p:nvSpPr>
            <p:spPr>
              <a:xfrm>
                <a:off x="6176068" y="2076080"/>
                <a:ext cx="5591211" cy="460639"/>
              </a:xfrm>
              <a:prstGeom prst="rect">
                <a:avLst/>
              </a:prstGeom>
              <a:blipFill>
                <a:blip r:embed="rId15"/>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2" name="CuadroTexto 51">
                <a:extLst>
                  <a:ext uri="{FF2B5EF4-FFF2-40B4-BE49-F238E27FC236}">
                    <a16:creationId xmlns:a16="http://schemas.microsoft.com/office/drawing/2014/main" id="{D509034D-3D60-4C23-A068-ACBF1F46C796}"/>
                  </a:ext>
                </a:extLst>
              </p:cNvPr>
              <p:cNvSpPr txBox="1"/>
              <p:nvPr/>
            </p:nvSpPr>
            <p:spPr>
              <a:xfrm>
                <a:off x="6176068" y="2812694"/>
                <a:ext cx="5472588" cy="460639"/>
              </a:xfrm>
              <a:prstGeom prst="rect">
                <a:avLst/>
              </a:prstGeom>
              <a:solidFill>
                <a:schemeClr val="bg1">
                  <a:lumMod val="95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b="0" i="0" smtClean="0">
                          <a:solidFill>
                            <a:schemeClr val="tx1"/>
                          </a:solidFill>
                          <a:latin typeface="Cambria Math" panose="02040503050406030204" pitchFamily="18" charset="0"/>
                        </a:rPr>
                        <m:t>ran</m:t>
                      </m:r>
                      <m:d>
                        <m:dPr>
                          <m:ctrlPr>
                            <a:rPr lang="es-MX" sz="2000" b="0" i="1" smtClean="0">
                              <a:solidFill>
                                <a:schemeClr val="tx1"/>
                              </a:solidFill>
                              <a:latin typeface="Cambria Math" panose="02040503050406030204" pitchFamily="18" charset="0"/>
                            </a:rPr>
                          </m:ctrlPr>
                        </m:dPr>
                        <m:e>
                          <m:r>
                            <a:rPr lang="es-MX" sz="2000" b="0" i="1" smtClean="0">
                              <a:solidFill>
                                <a:schemeClr val="tx1"/>
                              </a:solidFill>
                              <a:latin typeface="Cambria Math" panose="02040503050406030204" pitchFamily="18" charset="0"/>
                            </a:rPr>
                            <m:t>𝑅</m:t>
                          </m:r>
                        </m:e>
                      </m:d>
                      <m:r>
                        <a:rPr lang="es-MX" sz="2000" b="0" i="1" smtClean="0">
                          <a:solidFill>
                            <a:schemeClr val="tx1"/>
                          </a:solidFill>
                          <a:latin typeface="Cambria Math" panose="02040503050406030204" pitchFamily="18" charset="0"/>
                        </a:rPr>
                        <m:t>=</m:t>
                      </m:r>
                      <m:d>
                        <m:dPr>
                          <m:begChr m:val="{"/>
                          <m:endChr m:val="}"/>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𝑦</m:t>
                          </m:r>
                        </m:e>
                        <m:e>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𝑦</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𝐵</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r>
                                <a:rPr lang="es-MX" sz="2000" i="1">
                                  <a:latin typeface="Cambria Math" panose="02040503050406030204" pitchFamily="18" charset="0"/>
                                  <a:ea typeface="Cambria Math" panose="02040503050406030204" pitchFamily="18" charset="0"/>
                                </a:rPr>
                                <m:t>∧</m:t>
                              </m:r>
                              <m:d>
                                <m:dPr>
                                  <m:ctrlPr>
                                    <a:rPr lang="es-MX" sz="2000" i="1">
                                      <a:latin typeface="Cambria Math" panose="02040503050406030204" pitchFamily="18" charset="0"/>
                                      <a:ea typeface="Cambria Math" panose="02040503050406030204" pitchFamily="18" charset="0"/>
                                    </a:rPr>
                                  </m:ctrlPr>
                                </m:dPr>
                                <m:e>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𝑦</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𝑅</m:t>
                                  </m:r>
                                </m:e>
                              </m:d>
                            </m:e>
                          </m:d>
                        </m:e>
                      </m:d>
                    </m:oMath>
                  </m:oMathPara>
                </a14:m>
                <a:endParaRPr lang="es-CO" sz="2000" dirty="0"/>
              </a:p>
            </p:txBody>
          </p:sp>
        </mc:Choice>
        <mc:Fallback>
          <p:sp>
            <p:nvSpPr>
              <p:cNvPr id="52" name="CuadroTexto 51">
                <a:extLst>
                  <a:ext uri="{FF2B5EF4-FFF2-40B4-BE49-F238E27FC236}">
                    <a16:creationId xmlns:a16="http://schemas.microsoft.com/office/drawing/2014/main" id="{D509034D-3D60-4C23-A068-ACBF1F46C796}"/>
                  </a:ext>
                </a:extLst>
              </p:cNvPr>
              <p:cNvSpPr txBox="1">
                <a:spLocks noRot="1" noChangeAspect="1" noMove="1" noResize="1" noEditPoints="1" noAdjustHandles="1" noChangeArrowheads="1" noChangeShapeType="1" noTextEdit="1"/>
              </p:cNvSpPr>
              <p:nvPr/>
            </p:nvSpPr>
            <p:spPr>
              <a:xfrm>
                <a:off x="6176068" y="2812694"/>
                <a:ext cx="5472588" cy="460639"/>
              </a:xfrm>
              <a:prstGeom prst="rect">
                <a:avLst/>
              </a:prstGeom>
              <a:blipFill>
                <a:blip r:embed="rId16"/>
                <a:stretch>
                  <a:fillRect/>
                </a:stretch>
              </a:blipFill>
            </p:spPr>
            <p:txBody>
              <a:bodyPr/>
              <a:lstStyle/>
              <a:p>
                <a:r>
                  <a:rPr lang="es-CO">
                    <a:noFill/>
                  </a:rPr>
                  <a:t> </a:t>
                </a:r>
              </a:p>
            </p:txBody>
          </p:sp>
        </mc:Fallback>
      </mc:AlternateContent>
      <p:grpSp>
        <p:nvGrpSpPr>
          <p:cNvPr id="3" name="Grupo 2">
            <a:extLst>
              <a:ext uri="{FF2B5EF4-FFF2-40B4-BE49-F238E27FC236}">
                <a16:creationId xmlns:a16="http://schemas.microsoft.com/office/drawing/2014/main" id="{09BE0BBD-441D-4F3A-8147-5BB330C739EA}"/>
              </a:ext>
            </a:extLst>
          </p:cNvPr>
          <p:cNvGrpSpPr/>
          <p:nvPr/>
        </p:nvGrpSpPr>
        <p:grpSpPr>
          <a:xfrm>
            <a:off x="7327669" y="3972324"/>
            <a:ext cx="4188561" cy="964016"/>
            <a:chOff x="6979111" y="3901092"/>
            <a:chExt cx="4483078" cy="964016"/>
          </a:xfrm>
        </p:grpSpPr>
        <p:sp>
          <p:nvSpPr>
            <p:cNvPr id="50" name="CuadroTexto 49">
              <a:extLst>
                <a:ext uri="{FF2B5EF4-FFF2-40B4-BE49-F238E27FC236}">
                  <a16:creationId xmlns:a16="http://schemas.microsoft.com/office/drawing/2014/main" id="{F8182197-253F-4320-B2A3-60D37852EC52}"/>
                </a:ext>
              </a:extLst>
            </p:cNvPr>
            <p:cNvSpPr txBox="1"/>
            <p:nvPr/>
          </p:nvSpPr>
          <p:spPr>
            <a:xfrm>
              <a:off x="6979111" y="3901092"/>
              <a:ext cx="4483078"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Dominio</a:t>
              </a:r>
              <a:r>
                <a:rPr lang="es-MX" sz="2000" dirty="0">
                  <a:latin typeface="Roboto" panose="02000000000000000000" pitchFamily="2" charset="0"/>
                  <a:ea typeface="Roboto" panose="02000000000000000000" pitchFamily="2" charset="0"/>
                </a:rPr>
                <a:t>:</a:t>
              </a:r>
              <a:endParaRPr lang="es-CO" sz="2000" dirty="0">
                <a:latin typeface="Roboto" panose="02000000000000000000" pitchFamily="2" charset="0"/>
                <a:ea typeface="Roboto" panose="02000000000000000000" pitchFamily="2" charset="0"/>
              </a:endParaRPr>
            </a:p>
          </p:txBody>
        </p:sp>
        <mc:AlternateContent xmlns:mc="http://schemas.openxmlformats.org/markup-compatibility/2006">
          <mc:Choice xmlns:a14="http://schemas.microsoft.com/office/drawing/2010/main" Requires="a14">
            <p:sp>
              <p:nvSpPr>
                <p:cNvPr id="53" name="CuadroTexto 52">
                  <a:extLst>
                    <a:ext uri="{FF2B5EF4-FFF2-40B4-BE49-F238E27FC236}">
                      <a16:creationId xmlns:a16="http://schemas.microsoft.com/office/drawing/2014/main" id="{BE5C64C8-197F-40F9-B52F-8CEFF0819196}"/>
                    </a:ext>
                  </a:extLst>
                </p:cNvPr>
                <p:cNvSpPr txBox="1"/>
                <p:nvPr/>
              </p:nvSpPr>
              <p:spPr>
                <a:xfrm>
                  <a:off x="8140814" y="4557331"/>
                  <a:ext cx="214169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b="0" i="0" smtClean="0">
                            <a:solidFill>
                              <a:schemeClr val="tx1"/>
                            </a:solidFill>
                            <a:latin typeface="Cambria Math" panose="02040503050406030204" pitchFamily="18" charset="0"/>
                          </a:rPr>
                          <m:t>dom</m:t>
                        </m:r>
                        <m:d>
                          <m:dPr>
                            <m:ctrlPr>
                              <a:rPr lang="es-MX" sz="2000" b="0" i="1" smtClean="0">
                                <a:solidFill>
                                  <a:schemeClr val="tx1"/>
                                </a:solidFill>
                                <a:latin typeface="Cambria Math" panose="02040503050406030204" pitchFamily="18" charset="0"/>
                              </a:rPr>
                            </m:ctrlPr>
                          </m:dPr>
                          <m:e>
                            <m:r>
                              <a:rPr lang="es-MX" sz="2000" b="0" i="1" smtClean="0">
                                <a:solidFill>
                                  <a:schemeClr val="tx1"/>
                                </a:solidFill>
                                <a:latin typeface="Cambria Math" panose="02040503050406030204" pitchFamily="18" charset="0"/>
                              </a:rPr>
                              <m:t>𝑅</m:t>
                            </m:r>
                          </m:e>
                        </m:d>
                        <m:r>
                          <a:rPr lang="es-MX" sz="2000" b="0" i="1" smtClean="0">
                            <a:solidFill>
                              <a:schemeClr val="tx1"/>
                            </a:solidFill>
                            <a:latin typeface="Cambria Math" panose="02040503050406030204" pitchFamily="18" charset="0"/>
                          </a:rPr>
                          <m:t>=</m:t>
                        </m:r>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1,2,4</m:t>
                            </m:r>
                          </m:e>
                        </m:d>
                      </m:oMath>
                    </m:oMathPara>
                  </a14:m>
                  <a:endParaRPr lang="es-CO" sz="2000" dirty="0">
                    <a:solidFill>
                      <a:schemeClr val="tx1"/>
                    </a:solidFill>
                  </a:endParaRPr>
                </a:p>
              </p:txBody>
            </p:sp>
          </mc:Choice>
          <mc:Fallback>
            <p:sp>
              <p:nvSpPr>
                <p:cNvPr id="53" name="CuadroTexto 52">
                  <a:extLst>
                    <a:ext uri="{FF2B5EF4-FFF2-40B4-BE49-F238E27FC236}">
                      <a16:creationId xmlns:a16="http://schemas.microsoft.com/office/drawing/2014/main" id="{BE5C64C8-197F-40F9-B52F-8CEFF0819196}"/>
                    </a:ext>
                  </a:extLst>
                </p:cNvPr>
                <p:cNvSpPr txBox="1">
                  <a:spLocks noRot="1" noChangeAspect="1" noMove="1" noResize="1" noEditPoints="1" noAdjustHandles="1" noChangeArrowheads="1" noChangeShapeType="1" noTextEdit="1"/>
                </p:cNvSpPr>
                <p:nvPr/>
              </p:nvSpPr>
              <p:spPr>
                <a:xfrm>
                  <a:off x="8140814" y="4557331"/>
                  <a:ext cx="2141696" cy="307777"/>
                </a:xfrm>
                <a:prstGeom prst="rect">
                  <a:avLst/>
                </a:prstGeom>
                <a:blipFill>
                  <a:blip r:embed="rId17"/>
                  <a:stretch>
                    <a:fillRect l="-2744" b="-5882"/>
                  </a:stretch>
                </a:blipFill>
              </p:spPr>
              <p:txBody>
                <a:bodyPr/>
                <a:lstStyle/>
                <a:p>
                  <a:r>
                    <a:rPr lang="es-CO">
                      <a:noFill/>
                    </a:rPr>
                    <a:t> </a:t>
                  </a:r>
                </a:p>
              </p:txBody>
            </p:sp>
          </mc:Fallback>
        </mc:AlternateContent>
      </p:grpSp>
      <p:grpSp>
        <p:nvGrpSpPr>
          <p:cNvPr id="2" name="Grupo 1">
            <a:extLst>
              <a:ext uri="{FF2B5EF4-FFF2-40B4-BE49-F238E27FC236}">
                <a16:creationId xmlns:a16="http://schemas.microsoft.com/office/drawing/2014/main" id="{B4BA6D09-1CD4-424E-A244-89CD24093D77}"/>
              </a:ext>
            </a:extLst>
          </p:cNvPr>
          <p:cNvGrpSpPr/>
          <p:nvPr/>
        </p:nvGrpSpPr>
        <p:grpSpPr>
          <a:xfrm>
            <a:off x="7395519" y="5324701"/>
            <a:ext cx="4296239" cy="960858"/>
            <a:chOff x="6979111" y="5098553"/>
            <a:chExt cx="4483078" cy="960858"/>
          </a:xfrm>
        </p:grpSpPr>
        <p:sp>
          <p:nvSpPr>
            <p:cNvPr id="51" name="CuadroTexto 50">
              <a:extLst>
                <a:ext uri="{FF2B5EF4-FFF2-40B4-BE49-F238E27FC236}">
                  <a16:creationId xmlns:a16="http://schemas.microsoft.com/office/drawing/2014/main" id="{CE500D50-739C-494A-9066-1BFFB1742D31}"/>
                </a:ext>
              </a:extLst>
            </p:cNvPr>
            <p:cNvSpPr txBox="1"/>
            <p:nvPr/>
          </p:nvSpPr>
          <p:spPr>
            <a:xfrm>
              <a:off x="6979111" y="5098553"/>
              <a:ext cx="4483078"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Rango</a:t>
              </a:r>
              <a:r>
                <a:rPr lang="es-MX" sz="2000" dirty="0">
                  <a:latin typeface="Roboto" panose="02000000000000000000" pitchFamily="2" charset="0"/>
                  <a:ea typeface="Roboto" panose="02000000000000000000" pitchFamily="2" charset="0"/>
                </a:rPr>
                <a:t>:</a:t>
              </a:r>
              <a:endParaRPr lang="es-CO" sz="2000" dirty="0">
                <a:latin typeface="Roboto" panose="02000000000000000000" pitchFamily="2" charset="0"/>
                <a:ea typeface="Roboto" panose="02000000000000000000" pitchFamily="2" charset="0"/>
              </a:endParaRPr>
            </a:p>
          </p:txBody>
        </p:sp>
        <mc:AlternateContent xmlns:mc="http://schemas.openxmlformats.org/markup-compatibility/2006">
          <mc:Choice xmlns:a14="http://schemas.microsoft.com/office/drawing/2010/main" Requires="a14">
            <p:sp>
              <p:nvSpPr>
                <p:cNvPr id="54" name="CuadroTexto 53">
                  <a:extLst>
                    <a:ext uri="{FF2B5EF4-FFF2-40B4-BE49-F238E27FC236}">
                      <a16:creationId xmlns:a16="http://schemas.microsoft.com/office/drawing/2014/main" id="{AD2C17B7-1C7D-4A57-8129-144E85B9ED1A}"/>
                    </a:ext>
                  </a:extLst>
                </p:cNvPr>
                <p:cNvSpPr txBox="1"/>
                <p:nvPr/>
              </p:nvSpPr>
              <p:spPr>
                <a:xfrm>
                  <a:off x="8153545" y="5751634"/>
                  <a:ext cx="2044326"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b="0" i="0" smtClean="0">
                            <a:solidFill>
                              <a:schemeClr val="tx1"/>
                            </a:solidFill>
                            <a:latin typeface="Cambria Math" panose="02040503050406030204" pitchFamily="18" charset="0"/>
                          </a:rPr>
                          <m:t>ran</m:t>
                        </m:r>
                        <m:d>
                          <m:dPr>
                            <m:ctrlPr>
                              <a:rPr lang="es-MX" sz="2000" b="0" i="1" smtClean="0">
                                <a:solidFill>
                                  <a:schemeClr val="tx1"/>
                                </a:solidFill>
                                <a:latin typeface="Cambria Math" panose="02040503050406030204" pitchFamily="18" charset="0"/>
                              </a:rPr>
                            </m:ctrlPr>
                          </m:dPr>
                          <m:e>
                            <m:r>
                              <a:rPr lang="es-MX" sz="2000" b="0" i="1" smtClean="0">
                                <a:solidFill>
                                  <a:schemeClr val="tx1"/>
                                </a:solidFill>
                                <a:latin typeface="Cambria Math" panose="02040503050406030204" pitchFamily="18" charset="0"/>
                              </a:rPr>
                              <m:t>𝑅</m:t>
                            </m:r>
                          </m:e>
                        </m:d>
                        <m:r>
                          <a:rPr lang="es-MX" sz="2000" b="0" i="1" smtClean="0">
                            <a:solidFill>
                              <a:schemeClr val="tx1"/>
                            </a:solidFill>
                            <a:latin typeface="Cambria Math" panose="02040503050406030204" pitchFamily="18" charset="0"/>
                          </a:rPr>
                          <m:t>=</m:t>
                        </m:r>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𝑐</m:t>
                            </m:r>
                          </m:e>
                        </m:d>
                      </m:oMath>
                    </m:oMathPara>
                  </a14:m>
                  <a:endParaRPr lang="es-CO" sz="2000" dirty="0">
                    <a:solidFill>
                      <a:schemeClr val="tx1"/>
                    </a:solidFill>
                  </a:endParaRPr>
                </a:p>
              </p:txBody>
            </p:sp>
          </mc:Choice>
          <mc:Fallback>
            <p:sp>
              <p:nvSpPr>
                <p:cNvPr id="54" name="CuadroTexto 53">
                  <a:extLst>
                    <a:ext uri="{FF2B5EF4-FFF2-40B4-BE49-F238E27FC236}">
                      <a16:creationId xmlns:a16="http://schemas.microsoft.com/office/drawing/2014/main" id="{AD2C17B7-1C7D-4A57-8129-144E85B9ED1A}"/>
                    </a:ext>
                  </a:extLst>
                </p:cNvPr>
                <p:cNvSpPr txBox="1">
                  <a:spLocks noRot="1" noChangeAspect="1" noMove="1" noResize="1" noEditPoints="1" noAdjustHandles="1" noChangeArrowheads="1" noChangeShapeType="1" noTextEdit="1"/>
                </p:cNvSpPr>
                <p:nvPr/>
              </p:nvSpPr>
              <p:spPr>
                <a:xfrm>
                  <a:off x="8153545" y="5751634"/>
                  <a:ext cx="2044326" cy="307777"/>
                </a:xfrm>
                <a:prstGeom prst="rect">
                  <a:avLst/>
                </a:prstGeom>
                <a:blipFill>
                  <a:blip r:embed="rId18"/>
                  <a:stretch>
                    <a:fillRect l="-1558" b="-8000"/>
                  </a:stretch>
                </a:blipFill>
              </p:spPr>
              <p:txBody>
                <a:bodyPr/>
                <a:lstStyle/>
                <a:p>
                  <a:r>
                    <a:rPr lang="es-CO">
                      <a:noFill/>
                    </a:rPr>
                    <a:t> </a:t>
                  </a:r>
                </a:p>
              </p:txBody>
            </p:sp>
          </mc:Fallback>
        </mc:AlternateContent>
      </p:grpSp>
    </p:spTree>
    <p:extLst>
      <p:ext uri="{BB962C8B-B14F-4D97-AF65-F5344CB8AC3E}">
        <p14:creationId xmlns:p14="http://schemas.microsoft.com/office/powerpoint/2010/main" val="1642567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361383" y="168182"/>
            <a:ext cx="11112861"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342276" y="1045538"/>
            <a:ext cx="10850629"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sz="2400" b="1" dirty="0">
                <a:solidFill>
                  <a:schemeClr val="tx1"/>
                </a:solidFill>
                <a:latin typeface="+mn-lt"/>
              </a:rPr>
              <a:t>Inversa de una relación</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8" name="Google Shape;310;p34">
                <a:extLst>
                  <a:ext uri="{FF2B5EF4-FFF2-40B4-BE49-F238E27FC236}">
                    <a16:creationId xmlns:a16="http://schemas.microsoft.com/office/drawing/2014/main" id="{FA035FCB-35A1-4C97-9F92-3E0C37527396}"/>
                  </a:ext>
                </a:extLst>
              </p:cNvPr>
              <p:cNvSpPr txBox="1">
                <a:spLocks/>
              </p:cNvSpPr>
              <p:nvPr/>
            </p:nvSpPr>
            <p:spPr>
              <a:xfrm>
                <a:off x="259829" y="1576480"/>
                <a:ext cx="11787028" cy="4938374"/>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La inversión de una función, consiste esencialmente en "dar la vuelta" o "revertir" la dirección de todas las conexiones de la relación original.  </a:t>
                </a:r>
              </a:p>
              <a:p>
                <a:pPr marL="127000" indent="0">
                  <a:buNone/>
                </a:pPr>
                <a:r>
                  <a:rPr lang="es-MX" sz="2000" b="1" dirty="0">
                    <a:latin typeface="+mn-lt"/>
                    <a:ea typeface="Roboto" panose="02000000000000000000" pitchFamily="2" charset="0"/>
                  </a:rPr>
                  <a:t>Definición formal</a:t>
                </a:r>
                <a:r>
                  <a:rPr lang="es-MX" sz="2000" dirty="0">
                    <a:latin typeface="+mn-lt"/>
                    <a:ea typeface="Roboto" panose="02000000000000000000" pitchFamily="2" charset="0"/>
                  </a:rPr>
                  <a:t>: Sea </a:t>
                </a:r>
                <a14:m>
                  <m:oMath xmlns:m="http://schemas.openxmlformats.org/officeDocument/2006/math">
                    <m:r>
                      <a:rPr lang="es-MX" sz="2000" b="0" i="1" smtClean="0">
                        <a:latin typeface="+mn-lt"/>
                        <a:ea typeface="Roboto" panose="02000000000000000000" pitchFamily="2" charset="0"/>
                      </a:rPr>
                      <m:t>𝑅</m:t>
                    </m:r>
                    <m:r>
                      <a:rPr lang="es-MX" sz="2000" b="0" i="1" smtClean="0">
                        <a:latin typeface="+mn-lt"/>
                        <a:ea typeface="Cambria Math" panose="02040503050406030204" pitchFamily="18" charset="0"/>
                      </a:rPr>
                      <m:t>⊆</m:t>
                    </m:r>
                    <m:r>
                      <a:rPr lang="es-MX" sz="2000" b="0" i="1" smtClean="0">
                        <a:latin typeface="+mn-lt"/>
                        <a:ea typeface="Cambria Math" panose="02040503050406030204" pitchFamily="18" charset="0"/>
                      </a:rPr>
                      <m:t>𝐴</m:t>
                    </m:r>
                    <m:r>
                      <a:rPr lang="es-MX" sz="2000" b="0" i="1" smtClean="0">
                        <a:latin typeface="+mn-lt"/>
                        <a:ea typeface="Cambria Math" panose="02040503050406030204" pitchFamily="18" charset="0"/>
                      </a:rPr>
                      <m:t>×</m:t>
                    </m:r>
                    <m:r>
                      <a:rPr lang="es-MX" sz="2000" b="0" i="1" smtClean="0">
                        <a:latin typeface="+mn-lt"/>
                        <a:ea typeface="Cambria Math" panose="02040503050406030204" pitchFamily="18" charset="0"/>
                      </a:rPr>
                      <m:t>𝐵</m:t>
                    </m:r>
                  </m:oMath>
                </a14:m>
                <a:r>
                  <a:rPr lang="es-MX" sz="2000" dirty="0">
                    <a:latin typeface="+mn-lt"/>
                    <a:ea typeface="Roboto" panose="02000000000000000000" pitchFamily="2" charset="0"/>
                  </a:rPr>
                  <a:t> una relación entre los conjuntos </a:t>
                </a:r>
                <a14:m>
                  <m:oMath xmlns:m="http://schemas.openxmlformats.org/officeDocument/2006/math">
                    <m:r>
                      <a:rPr lang="es-MX" sz="2000" i="1">
                        <a:latin typeface="+mn-lt"/>
                        <a:ea typeface="Cambria Math" panose="02040503050406030204" pitchFamily="18" charset="0"/>
                      </a:rPr>
                      <m:t>𝐴</m:t>
                    </m:r>
                  </m:oMath>
                </a14:m>
                <a:r>
                  <a:rPr lang="es-MX" sz="2000" dirty="0">
                    <a:latin typeface="+mn-lt"/>
                    <a:ea typeface="Roboto" panose="02000000000000000000" pitchFamily="2" charset="0"/>
                  </a:rPr>
                  <a:t> y </a:t>
                </a:r>
                <a14:m>
                  <m:oMath xmlns:m="http://schemas.openxmlformats.org/officeDocument/2006/math">
                    <m:r>
                      <a:rPr lang="es-MX" sz="2000" b="0" i="1" smtClean="0">
                        <a:latin typeface="+mn-lt"/>
                        <a:ea typeface="Cambria Math" panose="02040503050406030204" pitchFamily="18" charset="0"/>
                      </a:rPr>
                      <m:t>𝐵</m:t>
                    </m:r>
                  </m:oMath>
                </a14:m>
                <a:r>
                  <a:rPr lang="es-MX" sz="2000" dirty="0">
                    <a:latin typeface="+mn-lt"/>
                    <a:ea typeface="Roboto" panose="02000000000000000000" pitchFamily="2" charset="0"/>
                  </a:rPr>
                  <a:t>. La relación inversa de </a:t>
                </a:r>
                <a14:m>
                  <m:oMath xmlns:m="http://schemas.openxmlformats.org/officeDocument/2006/math">
                    <m:r>
                      <a:rPr lang="es-MX" sz="2000" i="1">
                        <a:latin typeface="+mn-lt"/>
                        <a:ea typeface="Roboto" panose="02000000000000000000" pitchFamily="2" charset="0"/>
                      </a:rPr>
                      <m:t>𝑅</m:t>
                    </m:r>
                  </m:oMath>
                </a14:m>
                <a:r>
                  <a:rPr lang="es-MX" sz="2000" dirty="0">
                    <a:latin typeface="+mn-lt"/>
                    <a:ea typeface="Roboto" panose="02000000000000000000" pitchFamily="2" charset="0"/>
                  </a:rPr>
                  <a:t>, denotada como </a:t>
                </a:r>
                <a14:m>
                  <m:oMath xmlns:m="http://schemas.openxmlformats.org/officeDocument/2006/math">
                    <m:sSup>
                      <m:sSupPr>
                        <m:ctrlPr>
                          <a:rPr lang="es-MX" sz="2000" b="0" i="1" smtClean="0">
                            <a:latin typeface="+mn-lt"/>
                            <a:ea typeface="Roboto" panose="02000000000000000000" pitchFamily="2" charset="0"/>
                          </a:rPr>
                        </m:ctrlPr>
                      </m:sSupPr>
                      <m:e>
                        <m:r>
                          <a:rPr lang="es-MX" sz="2000" i="1">
                            <a:latin typeface="+mn-lt"/>
                            <a:ea typeface="Roboto" panose="02000000000000000000" pitchFamily="2" charset="0"/>
                          </a:rPr>
                          <m:t>𝑅</m:t>
                        </m:r>
                      </m:e>
                      <m:sup>
                        <m:r>
                          <a:rPr lang="es-MX" sz="2000" b="0" i="1" smtClean="0">
                            <a:latin typeface="+mn-lt"/>
                            <a:ea typeface="Roboto" panose="02000000000000000000" pitchFamily="2" charset="0"/>
                          </a:rPr>
                          <m:t>−1</m:t>
                        </m:r>
                      </m:sup>
                    </m:sSup>
                  </m:oMath>
                </a14:m>
                <a:r>
                  <a:rPr lang="es-MX" sz="2000" dirty="0">
                    <a:latin typeface="+mn-lt"/>
                    <a:ea typeface="Roboto" panose="02000000000000000000" pitchFamily="2" charset="0"/>
                  </a:rPr>
                  <a:t> invierte el orden de todos los pares ordenados de </a:t>
                </a:r>
                <a14:m>
                  <m:oMath xmlns:m="http://schemas.openxmlformats.org/officeDocument/2006/math">
                    <m:r>
                      <a:rPr lang="es-MX" sz="2000" i="1">
                        <a:latin typeface="+mn-lt"/>
                        <a:ea typeface="Roboto" panose="02000000000000000000" pitchFamily="2" charset="0"/>
                      </a:rPr>
                      <m:t>𝑅</m:t>
                    </m:r>
                  </m:oMath>
                </a14:m>
                <a:r>
                  <a:rPr lang="es-MX" sz="2000" dirty="0">
                    <a:latin typeface="+mn-lt"/>
                    <a:ea typeface="Roboto" panose="02000000000000000000" pitchFamily="2" charset="0"/>
                  </a:rPr>
                  <a:t>, esto es:</a:t>
                </a: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b="1" dirty="0">
                    <a:latin typeface="+mn-lt"/>
                    <a:ea typeface="Roboto" panose="02000000000000000000" pitchFamily="2" charset="0"/>
                  </a:rPr>
                  <a:t>Propiedades útiles</a:t>
                </a:r>
              </a:p>
              <a:p>
                <a:pPr marL="584200" indent="-457200">
                  <a:buFont typeface="+mj-lt"/>
                  <a:buAutoNum type="arabicPeriod"/>
                </a:pPr>
                <a:r>
                  <a:rPr lang="es-MX" sz="2000" dirty="0">
                    <a:latin typeface="+mn-lt"/>
                    <a:ea typeface="Roboto" panose="02000000000000000000" pitchFamily="2" charset="0"/>
                  </a:rPr>
                  <a:t>Doble inversa: </a:t>
                </a:r>
                <a14:m>
                  <m:oMath xmlns:m="http://schemas.openxmlformats.org/officeDocument/2006/math">
                    <m:sSup>
                      <m:sSupPr>
                        <m:ctrlPr>
                          <a:rPr lang="es-MX" sz="2000" b="0" i="1" smtClean="0">
                            <a:latin typeface="+mn-lt"/>
                            <a:ea typeface="Roboto" panose="02000000000000000000" pitchFamily="2" charset="0"/>
                          </a:rPr>
                        </m:ctrlPr>
                      </m:sSupPr>
                      <m:e>
                        <m:d>
                          <m:dPr>
                            <m:ctrlPr>
                              <a:rPr lang="es-MX" sz="2000" b="0" i="1" smtClean="0">
                                <a:latin typeface="+mn-lt"/>
                                <a:ea typeface="Roboto" panose="02000000000000000000" pitchFamily="2" charset="0"/>
                              </a:rPr>
                            </m:ctrlPr>
                          </m:dPr>
                          <m:e>
                            <m:sSup>
                              <m:sSupPr>
                                <m:ctrlPr>
                                  <a:rPr lang="es-MX" sz="2000" b="0" i="1" smtClean="0">
                                    <a:latin typeface="+mn-lt"/>
                                    <a:ea typeface="Roboto" panose="02000000000000000000" pitchFamily="2" charset="0"/>
                                  </a:rPr>
                                </m:ctrlPr>
                              </m:sSupPr>
                              <m:e>
                                <m:r>
                                  <a:rPr lang="es-MX" sz="2000" b="0" i="1" smtClean="0">
                                    <a:latin typeface="+mn-lt"/>
                                    <a:ea typeface="Roboto" panose="02000000000000000000" pitchFamily="2" charset="0"/>
                                  </a:rPr>
                                  <m:t>𝑅</m:t>
                                </m:r>
                              </m:e>
                              <m:sup>
                                <m:r>
                                  <a:rPr lang="es-MX" sz="2000" b="0" i="1" smtClean="0">
                                    <a:latin typeface="+mn-lt"/>
                                    <a:ea typeface="Roboto" panose="02000000000000000000" pitchFamily="2" charset="0"/>
                                  </a:rPr>
                                  <m:t>−1</m:t>
                                </m:r>
                              </m:sup>
                            </m:sSup>
                          </m:e>
                        </m:d>
                      </m:e>
                      <m:sup>
                        <m:r>
                          <a:rPr lang="es-MX" sz="2000" b="0" i="1" smtClean="0">
                            <a:latin typeface="+mn-lt"/>
                            <a:ea typeface="Roboto" panose="02000000000000000000" pitchFamily="2" charset="0"/>
                          </a:rPr>
                          <m:t>−1</m:t>
                        </m:r>
                      </m:sup>
                    </m:sSup>
                    <m:r>
                      <a:rPr lang="es-MX" sz="2000" b="0" i="1" smtClean="0">
                        <a:latin typeface="+mn-lt"/>
                        <a:ea typeface="Roboto" panose="02000000000000000000" pitchFamily="2" charset="0"/>
                      </a:rPr>
                      <m:t>=</m:t>
                    </m:r>
                    <m:r>
                      <a:rPr lang="es-MX" sz="2000" b="0" i="1" smtClean="0">
                        <a:latin typeface="+mn-lt"/>
                        <a:ea typeface="Roboto" panose="02000000000000000000" pitchFamily="2" charset="0"/>
                      </a:rPr>
                      <m:t>𝑅</m:t>
                    </m:r>
                  </m:oMath>
                </a14:m>
                <a:endParaRPr lang="es-CO" sz="2000" dirty="0">
                  <a:latin typeface="+mn-lt"/>
                </a:endParaRPr>
              </a:p>
              <a:p>
                <a:pPr marL="584200" indent="-457200">
                  <a:buFont typeface="+mj-lt"/>
                  <a:buAutoNum type="arabicPeriod"/>
                </a:pPr>
                <a:r>
                  <a:rPr lang="es-MX" sz="2000" dirty="0">
                    <a:latin typeface="+mn-lt"/>
                    <a:ea typeface="Roboto" panose="02000000000000000000" pitchFamily="2" charset="0"/>
                  </a:rPr>
                  <a:t>Intercambio del dominio y rango:</a:t>
                </a:r>
              </a:p>
              <a:p>
                <a:pPr marL="584200" indent="-457200">
                  <a:buFont typeface="+mj-lt"/>
                  <a:buAutoNum type="arabicPeriod"/>
                </a:pPr>
                <a:endParaRPr lang="es-MX" sz="2000" dirty="0">
                  <a:latin typeface="+mn-lt"/>
                  <a:ea typeface="Roboto" panose="02000000000000000000" pitchFamily="2" charset="0"/>
                </a:endParaRPr>
              </a:p>
              <a:p>
                <a:pPr marL="584200" indent="-457200">
                  <a:buFont typeface="+mj-lt"/>
                  <a:buAutoNum type="arabicPeriod"/>
                </a:pPr>
                <a:endParaRPr lang="es-MX" sz="2000" dirty="0">
                  <a:latin typeface="+mn-lt"/>
                  <a:ea typeface="Roboto" panose="02000000000000000000" pitchFamily="2" charset="0"/>
                </a:endParaRPr>
              </a:p>
              <a:p>
                <a:pPr marL="584200" indent="-457200">
                  <a:buFont typeface="+mj-lt"/>
                  <a:buAutoNum type="arabicPeriod"/>
                </a:pPr>
                <a:r>
                  <a:rPr lang="es-MX" sz="2000" dirty="0">
                    <a:latin typeface="+mn-lt"/>
                    <a:ea typeface="Roboto" panose="02000000000000000000" pitchFamily="2" charset="0"/>
                  </a:rPr>
                  <a:t>Si </a:t>
                </a:r>
                <a14:m>
                  <m:oMath xmlns:m="http://schemas.openxmlformats.org/officeDocument/2006/math">
                    <m:r>
                      <a:rPr lang="es-MX" sz="2000" b="0" i="1" smtClean="0">
                        <a:latin typeface="+mn-lt"/>
                        <a:ea typeface="Roboto" panose="02000000000000000000" pitchFamily="2" charset="0"/>
                      </a:rPr>
                      <m:t>𝑅</m:t>
                    </m:r>
                  </m:oMath>
                </a14:m>
                <a:r>
                  <a:rPr lang="es-MX" sz="2000" dirty="0">
                    <a:latin typeface="+mn-lt"/>
                    <a:ea typeface="Roboto" panose="02000000000000000000" pitchFamily="2" charset="0"/>
                  </a:rPr>
                  <a:t> es una relación sobre un mismo conjunto </a:t>
                </a:r>
                <a14:m>
                  <m:oMath xmlns:m="http://schemas.openxmlformats.org/officeDocument/2006/math">
                    <m:r>
                      <a:rPr lang="es-MX" sz="2000" b="0" i="1" smtClean="0">
                        <a:latin typeface="+mn-lt"/>
                        <a:ea typeface="Roboto" panose="02000000000000000000" pitchFamily="2" charset="0"/>
                      </a:rPr>
                      <m:t>𝐴</m:t>
                    </m:r>
                  </m:oMath>
                </a14:m>
                <a:r>
                  <a:rPr lang="es-MX" sz="2000" dirty="0">
                    <a:latin typeface="+mn-lt"/>
                    <a:ea typeface="Roboto" panose="02000000000000000000" pitchFamily="2" charset="0"/>
                  </a:rPr>
                  <a:t>, entonces </a:t>
                </a:r>
                <a14:m>
                  <m:oMath xmlns:m="http://schemas.openxmlformats.org/officeDocument/2006/math">
                    <m:sSup>
                      <m:sSupPr>
                        <m:ctrlPr>
                          <a:rPr lang="es-MX" sz="2000" i="1">
                            <a:latin typeface="+mn-lt"/>
                            <a:ea typeface="Roboto" panose="02000000000000000000" pitchFamily="2" charset="0"/>
                          </a:rPr>
                        </m:ctrlPr>
                      </m:sSupPr>
                      <m:e>
                        <m:r>
                          <a:rPr lang="es-MX" sz="2000" i="1">
                            <a:latin typeface="+mn-lt"/>
                            <a:ea typeface="Roboto" panose="02000000000000000000" pitchFamily="2" charset="0"/>
                          </a:rPr>
                          <m:t>𝑅</m:t>
                        </m:r>
                      </m:e>
                      <m:sup>
                        <m:r>
                          <a:rPr lang="es-MX" sz="2000" i="1">
                            <a:latin typeface="+mn-lt"/>
                            <a:ea typeface="Roboto" panose="02000000000000000000" pitchFamily="2" charset="0"/>
                          </a:rPr>
                          <m:t>−1</m:t>
                        </m:r>
                      </m:sup>
                    </m:sSup>
                    <m:r>
                      <a:rPr lang="es-MX" sz="2000" b="0" i="1" smtClean="0">
                        <a:latin typeface="+mn-lt"/>
                        <a:ea typeface="Cambria Math" panose="02040503050406030204" pitchFamily="18" charset="0"/>
                      </a:rPr>
                      <m:t>⊆</m:t>
                    </m:r>
                    <m:r>
                      <a:rPr lang="es-MX" sz="2000" b="0" i="1" smtClean="0">
                        <a:latin typeface="+mn-lt"/>
                        <a:ea typeface="Roboto" panose="02000000000000000000" pitchFamily="2" charset="0"/>
                      </a:rPr>
                      <m:t>𝐴</m:t>
                    </m:r>
                    <m:r>
                      <a:rPr lang="es-MX" sz="2000" b="0" i="1" smtClean="0">
                        <a:latin typeface="+mn-lt"/>
                        <a:ea typeface="Roboto" panose="02000000000000000000" pitchFamily="2" charset="0"/>
                      </a:rPr>
                      <m:t>×</m:t>
                    </m:r>
                    <m:r>
                      <a:rPr lang="es-MX" sz="2000" b="0" i="1" smtClean="0">
                        <a:latin typeface="+mn-lt"/>
                        <a:ea typeface="Roboto" panose="02000000000000000000" pitchFamily="2" charset="0"/>
                      </a:rPr>
                      <m:t>𝐴</m:t>
                    </m:r>
                  </m:oMath>
                </a14:m>
                <a:r>
                  <a:rPr lang="es-MX" sz="2000" dirty="0">
                    <a:latin typeface="+mn-lt"/>
                    <a:ea typeface="Roboto" panose="02000000000000000000" pitchFamily="2" charset="0"/>
                  </a:rPr>
                  <a:t>,  también es una relación sobre </a:t>
                </a:r>
                <a14:m>
                  <m:oMath xmlns:m="http://schemas.openxmlformats.org/officeDocument/2006/math">
                    <m:r>
                      <a:rPr lang="es-MX" sz="2000" i="1">
                        <a:latin typeface="+mn-lt"/>
                        <a:ea typeface="Roboto" panose="02000000000000000000" pitchFamily="2" charset="0"/>
                      </a:rPr>
                      <m:t>𝐴</m:t>
                    </m:r>
                  </m:oMath>
                </a14:m>
                <a:endParaRPr lang="es-MX" sz="2000" dirty="0">
                  <a:latin typeface="+mn-lt"/>
                  <a:ea typeface="Roboto" panose="02000000000000000000" pitchFamily="2" charset="0"/>
                </a:endParaRPr>
              </a:p>
            </p:txBody>
          </p:sp>
        </mc:Choice>
        <mc:Fallback>
          <p:sp>
            <p:nvSpPr>
              <p:cNvPr id="8" name="Google Shape;310;p34">
                <a:extLst>
                  <a:ext uri="{FF2B5EF4-FFF2-40B4-BE49-F238E27FC236}">
                    <a16:creationId xmlns:a16="http://schemas.microsoft.com/office/drawing/2014/main" id="{FA035FCB-35A1-4C97-9F92-3E0C37527396}"/>
                  </a:ext>
                </a:extLst>
              </p:cNvPr>
              <p:cNvSpPr txBox="1">
                <a:spLocks noRot="1" noChangeAspect="1" noMove="1" noResize="1" noEditPoints="1" noAdjustHandles="1" noChangeArrowheads="1" noChangeShapeType="1" noTextEdit="1"/>
              </p:cNvSpPr>
              <p:nvPr/>
            </p:nvSpPr>
            <p:spPr>
              <a:xfrm>
                <a:off x="259829" y="1576480"/>
                <a:ext cx="11787028" cy="4938374"/>
              </a:xfrm>
              <a:prstGeom prst="rect">
                <a:avLst/>
              </a:prstGeom>
              <a:blipFill>
                <a:blip r:embed="rId3"/>
                <a:stretch>
                  <a:fillRect/>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FAC35029-31BE-4BFC-9516-05BEBCD2DBC3}"/>
                  </a:ext>
                </a:extLst>
              </p:cNvPr>
              <p:cNvSpPr txBox="1"/>
              <p:nvPr/>
            </p:nvSpPr>
            <p:spPr>
              <a:xfrm>
                <a:off x="4241794" y="3219774"/>
                <a:ext cx="2773836" cy="3147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𝑅</m:t>
                          </m:r>
                        </m:e>
                        <m:sup>
                          <m:r>
                            <a:rPr lang="es-MX" sz="2000" b="0" i="1" smtClean="0">
                              <a:latin typeface="Cambria Math" panose="02040503050406030204" pitchFamily="18" charset="0"/>
                              <a:ea typeface="Roboto" panose="02000000000000000000" pitchFamily="2" charset="0"/>
                            </a:rPr>
                            <m:t>−1</m:t>
                          </m:r>
                        </m:sup>
                      </m:sSup>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e>
                          </m:d>
                        </m:e>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𝑅</m:t>
                          </m:r>
                        </m:e>
                      </m:d>
                    </m:oMath>
                  </m:oMathPara>
                </a14:m>
                <a:endParaRPr lang="es-CO" sz="2000" dirty="0">
                  <a:latin typeface="+mj-lt"/>
                </a:endParaRPr>
              </a:p>
            </p:txBody>
          </p:sp>
        </mc:Choice>
        <mc:Fallback xmlns="">
          <p:sp>
            <p:nvSpPr>
              <p:cNvPr id="3" name="CuadroTexto 2">
                <a:extLst>
                  <a:ext uri="{FF2B5EF4-FFF2-40B4-BE49-F238E27FC236}">
                    <a16:creationId xmlns:a16="http://schemas.microsoft.com/office/drawing/2014/main" id="{FAC35029-31BE-4BFC-9516-05BEBCD2DBC3}"/>
                  </a:ext>
                </a:extLst>
              </p:cNvPr>
              <p:cNvSpPr txBox="1">
                <a:spLocks noRot="1" noChangeAspect="1" noMove="1" noResize="1" noEditPoints="1" noAdjustHandles="1" noChangeArrowheads="1" noChangeShapeType="1" noTextEdit="1"/>
              </p:cNvSpPr>
              <p:nvPr/>
            </p:nvSpPr>
            <p:spPr>
              <a:xfrm>
                <a:off x="4241794" y="3219774"/>
                <a:ext cx="2773836" cy="314766"/>
              </a:xfrm>
              <a:prstGeom prst="rect">
                <a:avLst/>
              </a:prstGeom>
              <a:blipFill>
                <a:blip r:embed="rId4"/>
                <a:stretch>
                  <a:fillRect l="-1758" t="-1923" b="-25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7DCD8CCC-5952-4640-A1FB-2DF1629DE5C9}"/>
                  </a:ext>
                </a:extLst>
              </p:cNvPr>
              <p:cNvSpPr txBox="1"/>
              <p:nvPr/>
            </p:nvSpPr>
            <p:spPr>
              <a:xfrm>
                <a:off x="3461561" y="5407003"/>
                <a:ext cx="518404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s-MX" sz="2000" b="0" i="0" smtClean="0">
                          <a:latin typeface="Cambria Math" panose="02040503050406030204" pitchFamily="18" charset="0"/>
                          <a:ea typeface="Roboto" panose="02000000000000000000" pitchFamily="2" charset="0"/>
                        </a:rPr>
                        <m:t>dom</m:t>
                      </m:r>
                      <m:d>
                        <m:dPr>
                          <m:ctrlPr>
                            <a:rPr lang="es-MX" sz="2000" b="0" i="1" smtClean="0">
                              <a:latin typeface="Cambria Math" panose="02040503050406030204" pitchFamily="18" charset="0"/>
                              <a:ea typeface="Roboto" panose="02000000000000000000" pitchFamily="2" charset="0"/>
                            </a:rPr>
                          </m:ctrlPr>
                        </m:dPr>
                        <m:e>
                          <m:sSup>
                            <m:sSupPr>
                              <m:ctrlPr>
                                <a:rPr lang="es-MX" sz="2000" i="1" smtClean="0">
                                  <a:latin typeface="Cambria Math" panose="02040503050406030204" pitchFamily="18" charset="0"/>
                                  <a:ea typeface="Roboto" panose="02000000000000000000" pitchFamily="2" charset="0"/>
                                </a:rPr>
                              </m:ctrlPr>
                            </m:sSupPr>
                            <m:e>
                              <m:r>
                                <a:rPr lang="es-MX" sz="2000" i="1">
                                  <a:latin typeface="Cambria Math" panose="02040503050406030204" pitchFamily="18" charset="0"/>
                                  <a:ea typeface="Roboto" panose="02000000000000000000" pitchFamily="2" charset="0"/>
                                </a:rPr>
                                <m:t>𝑅</m:t>
                              </m:r>
                            </m:e>
                            <m:sup>
                              <m:r>
                                <a:rPr lang="es-MX" sz="2000" i="1">
                                  <a:latin typeface="Cambria Math" panose="02040503050406030204" pitchFamily="18" charset="0"/>
                                  <a:ea typeface="Roboto" panose="02000000000000000000" pitchFamily="2" charset="0"/>
                                </a:rPr>
                                <m:t>−1</m:t>
                              </m:r>
                            </m:sup>
                          </m:sSup>
                        </m:e>
                      </m:d>
                      <m:r>
                        <a:rPr lang="es-MX" sz="2000" b="0" i="1" smtClean="0">
                          <a:latin typeface="Cambria Math" panose="02040503050406030204" pitchFamily="18" charset="0"/>
                          <a:ea typeface="Roboto" panose="02000000000000000000" pitchFamily="2" charset="0"/>
                        </a:rPr>
                        <m:t>=</m:t>
                      </m:r>
                      <m:r>
                        <m:rPr>
                          <m:sty m:val="p"/>
                        </m:rPr>
                        <a:rPr lang="es-MX" sz="2000" b="0" i="0" smtClean="0">
                          <a:latin typeface="Cambria Math" panose="02040503050406030204" pitchFamily="18" charset="0"/>
                          <a:ea typeface="Roboto" panose="02000000000000000000" pitchFamily="2" charset="0"/>
                        </a:rPr>
                        <m:t>ran</m:t>
                      </m:r>
                      <m:d>
                        <m:dPr>
                          <m:ctrlPr>
                            <a:rPr lang="es-MX" sz="2000" i="1">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𝑅</m:t>
                          </m:r>
                        </m:e>
                      </m:d>
                      <m:r>
                        <a:rPr lang="es-MX" sz="2000" b="0" i="1" smtClean="0">
                          <a:latin typeface="Cambria Math" panose="02040503050406030204" pitchFamily="18" charset="0"/>
                          <a:ea typeface="Roboto" panose="02000000000000000000" pitchFamily="2" charset="0"/>
                        </a:rPr>
                        <m:t>,</m:t>
                      </m:r>
                      <m:r>
                        <m:rPr>
                          <m:lit/>
                        </m:rPr>
                        <a:rPr lang="es-MX" sz="2000" b="0" i="1" smtClean="0">
                          <a:latin typeface="Cambria Math" panose="02040503050406030204" pitchFamily="18" charset="0"/>
                          <a:ea typeface="Roboto" panose="02000000000000000000" pitchFamily="2" charset="0"/>
                        </a:rPr>
                        <m:t>  </m:t>
                      </m:r>
                      <m:r>
                        <m:rPr>
                          <m:sty m:val="p"/>
                        </m:rPr>
                        <a:rPr lang="es-MX" sz="2000" b="0" i="0" smtClean="0">
                          <a:latin typeface="Cambria Math" panose="02040503050406030204" pitchFamily="18" charset="0"/>
                          <a:ea typeface="Roboto" panose="02000000000000000000" pitchFamily="2" charset="0"/>
                        </a:rPr>
                        <m:t>ran</m:t>
                      </m:r>
                      <m:d>
                        <m:dPr>
                          <m:ctrlPr>
                            <a:rPr lang="es-MX" sz="2000" i="1">
                              <a:latin typeface="Cambria Math" panose="02040503050406030204" pitchFamily="18" charset="0"/>
                              <a:ea typeface="Roboto" panose="02000000000000000000" pitchFamily="2" charset="0"/>
                            </a:rPr>
                          </m:ctrlPr>
                        </m:dPr>
                        <m:e>
                          <m:sSup>
                            <m:sSupPr>
                              <m:ctrlPr>
                                <a:rPr lang="es-MX" sz="2000" i="1">
                                  <a:latin typeface="Cambria Math" panose="02040503050406030204" pitchFamily="18" charset="0"/>
                                  <a:ea typeface="Roboto" panose="02000000000000000000" pitchFamily="2" charset="0"/>
                                </a:rPr>
                              </m:ctrlPr>
                            </m:sSupPr>
                            <m:e>
                              <m:r>
                                <a:rPr lang="es-MX" sz="2000" i="1">
                                  <a:latin typeface="Cambria Math" panose="02040503050406030204" pitchFamily="18" charset="0"/>
                                  <a:ea typeface="Roboto" panose="02000000000000000000" pitchFamily="2" charset="0"/>
                                </a:rPr>
                                <m:t>𝑅</m:t>
                              </m:r>
                            </m:e>
                            <m:sup>
                              <m:r>
                                <a:rPr lang="es-MX" sz="2000" i="1">
                                  <a:latin typeface="Cambria Math" panose="02040503050406030204" pitchFamily="18" charset="0"/>
                                  <a:ea typeface="Roboto" panose="02000000000000000000" pitchFamily="2" charset="0"/>
                                </a:rPr>
                                <m:t>−1</m:t>
                              </m:r>
                            </m:sup>
                          </m:sSup>
                        </m:e>
                      </m:d>
                      <m:r>
                        <a:rPr lang="es-MX" sz="2000" i="1">
                          <a:latin typeface="Cambria Math" panose="02040503050406030204" pitchFamily="18" charset="0"/>
                          <a:ea typeface="Roboto" panose="02000000000000000000" pitchFamily="2" charset="0"/>
                        </a:rPr>
                        <m:t>=</m:t>
                      </m:r>
                      <m:r>
                        <m:rPr>
                          <m:sty m:val="p"/>
                        </m:rPr>
                        <a:rPr lang="es-MX" sz="2000" b="0" i="0" smtClean="0">
                          <a:latin typeface="Cambria Math" panose="02040503050406030204" pitchFamily="18" charset="0"/>
                          <a:ea typeface="Roboto" panose="02000000000000000000" pitchFamily="2" charset="0"/>
                        </a:rPr>
                        <m:t>dom</m:t>
                      </m:r>
                      <m:d>
                        <m:dPr>
                          <m:ctrlPr>
                            <a:rPr lang="es-MX" sz="2000" i="1">
                              <a:latin typeface="Cambria Math" panose="02040503050406030204" pitchFamily="18" charset="0"/>
                              <a:ea typeface="Roboto" panose="02000000000000000000" pitchFamily="2" charset="0"/>
                            </a:rPr>
                          </m:ctrlPr>
                        </m:dPr>
                        <m:e>
                          <m:r>
                            <a:rPr lang="es-MX" sz="2000" i="1">
                              <a:latin typeface="Cambria Math" panose="02040503050406030204" pitchFamily="18" charset="0"/>
                              <a:ea typeface="Roboto" panose="02000000000000000000" pitchFamily="2" charset="0"/>
                            </a:rPr>
                            <m:t>𝑅</m:t>
                          </m:r>
                        </m:e>
                      </m:d>
                    </m:oMath>
                  </m:oMathPara>
                </a14:m>
                <a:endParaRPr lang="es-CO" sz="2000" dirty="0">
                  <a:latin typeface="+mj-lt"/>
                </a:endParaRPr>
              </a:p>
            </p:txBody>
          </p:sp>
        </mc:Choice>
        <mc:Fallback>
          <p:sp>
            <p:nvSpPr>
              <p:cNvPr id="10" name="CuadroTexto 9">
                <a:extLst>
                  <a:ext uri="{FF2B5EF4-FFF2-40B4-BE49-F238E27FC236}">
                    <a16:creationId xmlns:a16="http://schemas.microsoft.com/office/drawing/2014/main" id="{7DCD8CCC-5952-4640-A1FB-2DF1629DE5C9}"/>
                  </a:ext>
                </a:extLst>
              </p:cNvPr>
              <p:cNvSpPr txBox="1">
                <a:spLocks noRot="1" noChangeAspect="1" noMove="1" noResize="1" noEditPoints="1" noAdjustHandles="1" noChangeArrowheads="1" noChangeShapeType="1" noTextEdit="1"/>
              </p:cNvSpPr>
              <p:nvPr/>
            </p:nvSpPr>
            <p:spPr>
              <a:xfrm>
                <a:off x="3461561" y="5407003"/>
                <a:ext cx="5184048" cy="307777"/>
              </a:xfrm>
              <a:prstGeom prst="rect">
                <a:avLst/>
              </a:prstGeom>
              <a:blipFill>
                <a:blip r:embed="rId5"/>
                <a:stretch>
                  <a:fillRect l="-706" b="-8000"/>
                </a:stretch>
              </a:blipFill>
            </p:spPr>
            <p:txBody>
              <a:bodyPr/>
              <a:lstStyle/>
              <a:p>
                <a:r>
                  <a:rPr lang="es-CO">
                    <a:noFill/>
                  </a:rPr>
                  <a:t> </a:t>
                </a:r>
              </a:p>
            </p:txBody>
          </p:sp>
        </mc:Fallback>
      </mc:AlternateContent>
    </p:spTree>
    <p:extLst>
      <p:ext uri="{BB962C8B-B14F-4D97-AF65-F5344CB8AC3E}">
        <p14:creationId xmlns:p14="http://schemas.microsoft.com/office/powerpoint/2010/main" val="4399671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18847" y="154796"/>
            <a:ext cx="8645463" cy="750723"/>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75187" y="868425"/>
            <a:ext cx="11192092"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7</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1" y="1301870"/>
                <a:ext cx="11552650" cy="213303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Suponga que tiene los siguientes conjuntos y la relación </a:t>
                </a:r>
                <a14:m>
                  <m:oMath xmlns:m="http://schemas.openxmlformats.org/officeDocument/2006/math">
                    <m:r>
                      <a:rPr lang="es-MX" sz="2000" b="0" i="1" smtClean="0">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dada por:</a:t>
                </a:r>
              </a:p>
              <a:p>
                <a:r>
                  <a:rPr lang="es-MX" sz="2000" b="1" dirty="0">
                    <a:solidFill>
                      <a:schemeClr val="tx1"/>
                    </a:solidFill>
                    <a:latin typeface="+mn-lt"/>
                    <a:ea typeface="Roboto" panose="02000000000000000000" pitchFamily="2" charset="0"/>
                  </a:rPr>
                  <a:t>Conjunto de partida</a:t>
                </a:r>
                <a:r>
                  <a:rPr lang="es-MX" sz="2000" b="0" dirty="0">
                    <a:solidFill>
                      <a:schemeClr val="tx1"/>
                    </a:solidFill>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1,2,3,4</m:t>
                        </m:r>
                      </m:e>
                    </m:d>
                  </m:oMath>
                </a14:m>
                <a:endParaRPr lang="es-MX" sz="2000" dirty="0">
                  <a:latin typeface="+mn-lt"/>
                  <a:ea typeface="Roboto" panose="02000000000000000000" pitchFamily="2" charset="0"/>
                </a:endParaRPr>
              </a:p>
              <a:p>
                <a:r>
                  <a:rPr lang="es-MX" sz="2000" b="1" dirty="0">
                    <a:solidFill>
                      <a:schemeClr val="tx1"/>
                    </a:solidFill>
                    <a:latin typeface="+mn-lt"/>
                    <a:ea typeface="Roboto" panose="02000000000000000000" pitchFamily="2" charset="0"/>
                  </a:rPr>
                  <a:t>Conjunto de llegada</a:t>
                </a:r>
                <a:r>
                  <a:rPr lang="es-MX" sz="2000" dirty="0">
                    <a:solidFill>
                      <a:schemeClr val="tx1"/>
                    </a:solidFill>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𝑐</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𝑑</m:t>
                        </m:r>
                      </m:e>
                    </m:d>
                  </m:oMath>
                </a14:m>
                <a:endParaRPr lang="es-MX" sz="2000" dirty="0">
                  <a:latin typeface="+mn-lt"/>
                  <a:ea typeface="Roboto" panose="02000000000000000000" pitchFamily="2" charset="0"/>
                </a:endParaRPr>
              </a:p>
              <a:p>
                <a:r>
                  <a:rPr lang="es-MX" sz="2000" b="1" dirty="0">
                    <a:latin typeface="+mn-lt"/>
                    <a:ea typeface="Roboto" panose="02000000000000000000" pitchFamily="2" charset="0"/>
                  </a:rPr>
                  <a:t>Relación</a:t>
                </a:r>
                <a:r>
                  <a:rPr lang="es-MX" sz="2000" dirty="0">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d>
                          <m:dPr>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m:t>
                            </m:r>
                            <m:r>
                              <a:rPr lang="es-MX" sz="2000" b="0" i="1" smtClean="0">
                                <a:solidFill>
                                  <a:schemeClr val="tx1"/>
                                </a:solidFill>
                                <a:latin typeface="Cambria Math" panose="02040503050406030204" pitchFamily="18" charset="0"/>
                                <a:ea typeface="Roboto" panose="02000000000000000000" pitchFamily="2" charset="0"/>
                              </a:rPr>
                              <m:t>𝑎</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1,</m:t>
                            </m:r>
                            <m:r>
                              <a:rPr lang="es-MX" sz="2000" b="0" i="1" smtClean="0">
                                <a:solidFill>
                                  <a:schemeClr val="tx1"/>
                                </a:solidFill>
                                <a:latin typeface="Cambria Math" panose="02040503050406030204" pitchFamily="18" charset="0"/>
                                <a:ea typeface="Roboto" panose="02000000000000000000" pitchFamily="2" charset="0"/>
                              </a:rPr>
                              <m:t>𝑐</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r>
                          <a:rPr lang="es-MX" sz="2000" b="0" i="1" smtClean="0">
                            <a:solidFill>
                              <a:schemeClr val="tx1"/>
                            </a:solidFill>
                            <a:latin typeface="Cambria Math" panose="02040503050406030204" pitchFamily="18" charset="0"/>
                            <a:ea typeface="Roboto" panose="02000000000000000000" pitchFamily="2" charset="0"/>
                          </a:rPr>
                          <m:t>,</m:t>
                        </m:r>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4</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e>
                        </m:d>
                      </m:e>
                    </m:d>
                  </m:oMath>
                </a14:m>
                <a:endParaRPr lang="es-MX" sz="2000" dirty="0">
                  <a:latin typeface="+mn-lt"/>
                  <a:ea typeface="Roboto" panose="02000000000000000000" pitchFamily="2" charset="0"/>
                </a:endParaRPr>
              </a:p>
              <a:p>
                <a:pPr marL="127000" indent="0">
                  <a:buNone/>
                </a:pPr>
                <a:r>
                  <a:rPr lang="es-MX" sz="2000" dirty="0">
                    <a:latin typeface="+mn-lt"/>
                    <a:ea typeface="Roboto" panose="02000000000000000000" pitchFamily="2" charset="0"/>
                  </a:rPr>
                  <a:t>Determine la relación inversa y obtenga el dominio y rango de esta:</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1" y="1301870"/>
                <a:ext cx="11552650" cy="2133032"/>
              </a:xfrm>
              <a:prstGeom prst="rect">
                <a:avLst/>
              </a:prstGeom>
              <a:blipFill>
                <a:blip r:embed="rId3"/>
                <a:stretch>
                  <a:fillRect b="-3725"/>
                </a:stretch>
              </a:blipFill>
              <a:ln>
                <a:noFill/>
              </a:ln>
            </p:spPr>
            <p:txBody>
              <a:bodyPr/>
              <a:lstStyle/>
              <a:p>
                <a:r>
                  <a:rPr lang="es-CO">
                    <a:noFill/>
                  </a:rPr>
                  <a:t> </a:t>
                </a:r>
              </a:p>
            </p:txBody>
          </p:sp>
        </mc:Fallback>
      </mc:AlternateContent>
      <p:pic>
        <p:nvPicPr>
          <p:cNvPr id="5" name="Imagen 4">
            <a:extLst>
              <a:ext uri="{FF2B5EF4-FFF2-40B4-BE49-F238E27FC236}">
                <a16:creationId xmlns:a16="http://schemas.microsoft.com/office/drawing/2014/main" id="{159289A4-86D6-44DF-BE17-D680DAE8D114}"/>
              </a:ext>
            </a:extLst>
          </p:cNvPr>
          <p:cNvPicPr>
            <a:picLocks noChangeAspect="1"/>
          </p:cNvPicPr>
          <p:nvPr/>
        </p:nvPicPr>
        <p:blipFill>
          <a:blip r:embed="rId4"/>
          <a:stretch>
            <a:fillRect/>
          </a:stretch>
        </p:blipFill>
        <p:spPr>
          <a:xfrm>
            <a:off x="3895978" y="3665268"/>
            <a:ext cx="2413697" cy="2426674"/>
          </a:xfrm>
          <a:prstGeom prst="rect">
            <a:avLst/>
          </a:prstGeom>
        </p:spPr>
      </p:pic>
      <mc:AlternateContent xmlns:mc="http://schemas.openxmlformats.org/markup-compatibility/2006" xmlns:a14="http://schemas.microsoft.com/office/drawing/2010/main">
        <mc:Choice Requires="a14">
          <p:sp>
            <p:nvSpPr>
              <p:cNvPr id="50" name="CuadroTexto 49">
                <a:extLst>
                  <a:ext uri="{FF2B5EF4-FFF2-40B4-BE49-F238E27FC236}">
                    <a16:creationId xmlns:a16="http://schemas.microsoft.com/office/drawing/2014/main" id="{F8182197-253F-4320-B2A3-60D37852EC52}"/>
                  </a:ext>
                </a:extLst>
              </p:cNvPr>
              <p:cNvSpPr txBox="1"/>
              <p:nvPr/>
            </p:nvSpPr>
            <p:spPr>
              <a:xfrm>
                <a:off x="1320031" y="6374394"/>
                <a:ext cx="470541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sty m:val="p"/>
                        </m:rPr>
                        <a:rPr lang="es-MX" sz="1800" b="0" i="0" smtClean="0">
                          <a:solidFill>
                            <a:schemeClr val="tx1"/>
                          </a:solidFill>
                          <a:latin typeface="Cambria Math" panose="02040503050406030204" pitchFamily="18" charset="0"/>
                        </a:rPr>
                        <m:t>dom</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𝑅</m:t>
                          </m:r>
                        </m:e>
                      </m:d>
                      <m:r>
                        <a:rPr lang="es-MX" sz="1800" b="0" i="1" smtClean="0">
                          <a:solidFill>
                            <a:schemeClr val="tx1"/>
                          </a:solidFill>
                          <a:latin typeface="Cambria Math" panose="02040503050406030204" pitchFamily="18"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1,2,4</m:t>
                          </m:r>
                        </m:e>
                      </m:d>
                      <m:r>
                        <a:rPr lang="es-MX" sz="1800" b="0" i="1" smtClean="0">
                          <a:latin typeface="Cambria Math" panose="02040503050406030204" pitchFamily="18" charset="0"/>
                          <a:ea typeface="Roboto" panose="02000000000000000000" pitchFamily="2" charset="0"/>
                        </a:rPr>
                        <m:t>,</m:t>
                      </m:r>
                      <m:r>
                        <m:rPr>
                          <m:lit/>
                        </m:rPr>
                        <a:rPr lang="es-MX" sz="1800" b="0" i="0" smtClean="0">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rPr>
                        <m:t>ran</m:t>
                      </m:r>
                      <m:d>
                        <m:dPr>
                          <m:ctrlPr>
                            <a:rPr lang="es-MX" sz="1800" i="1">
                              <a:solidFill>
                                <a:schemeClr val="tx1"/>
                              </a:solidFill>
                              <a:latin typeface="Cambria Math" panose="02040503050406030204" pitchFamily="18" charset="0"/>
                            </a:rPr>
                          </m:ctrlPr>
                        </m:dPr>
                        <m:e>
                          <m:r>
                            <a:rPr lang="es-MX" sz="1800" i="1">
                              <a:solidFill>
                                <a:schemeClr val="tx1"/>
                              </a:solidFill>
                              <a:latin typeface="Cambria Math" panose="02040503050406030204" pitchFamily="18" charset="0"/>
                            </a:rPr>
                            <m:t>𝑅</m:t>
                          </m:r>
                        </m:e>
                      </m:d>
                      <m:r>
                        <a:rPr lang="es-MX" sz="1800" i="1">
                          <a:solidFill>
                            <a:schemeClr val="tx1"/>
                          </a:solidFill>
                          <a:latin typeface="Cambria Math" panose="02040503050406030204" pitchFamily="18" charset="0"/>
                        </a:rPr>
                        <m:t>=</m:t>
                      </m:r>
                      <m:d>
                        <m:dPr>
                          <m:begChr m:val="{"/>
                          <m:endChr m:val="}"/>
                          <m:ctrlPr>
                            <a:rPr lang="es-MX" sz="1800" i="1">
                              <a:latin typeface="Cambria Math" panose="02040503050406030204" pitchFamily="18" charset="0"/>
                              <a:ea typeface="Roboto" panose="02000000000000000000" pitchFamily="2" charset="0"/>
                            </a:rPr>
                          </m:ctrlPr>
                        </m:dPr>
                        <m:e>
                          <m:r>
                            <a:rPr lang="es-MX" sz="1800" i="1">
                              <a:latin typeface="Cambria Math" panose="02040503050406030204" pitchFamily="18" charset="0"/>
                              <a:ea typeface="Roboto" panose="02000000000000000000" pitchFamily="2" charset="0"/>
                            </a:rPr>
                            <m:t>𝑎</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𝑏</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𝑐</m:t>
                          </m:r>
                        </m:e>
                      </m:d>
                    </m:oMath>
                  </m:oMathPara>
                </a14:m>
                <a:endParaRPr lang="es-CO" sz="1800" dirty="0">
                  <a:solidFill>
                    <a:schemeClr val="tx1"/>
                  </a:solidFill>
                </a:endParaRPr>
              </a:p>
            </p:txBody>
          </p:sp>
        </mc:Choice>
        <mc:Fallback xmlns="">
          <p:sp>
            <p:nvSpPr>
              <p:cNvPr id="50" name="CuadroTexto 49">
                <a:extLst>
                  <a:ext uri="{FF2B5EF4-FFF2-40B4-BE49-F238E27FC236}">
                    <a16:creationId xmlns:a16="http://schemas.microsoft.com/office/drawing/2014/main" id="{F8182197-253F-4320-B2A3-60D37852EC52}"/>
                  </a:ext>
                </a:extLst>
              </p:cNvPr>
              <p:cNvSpPr txBox="1">
                <a:spLocks noRot="1" noChangeAspect="1" noMove="1" noResize="1" noEditPoints="1" noAdjustHandles="1" noChangeArrowheads="1" noChangeShapeType="1" noTextEdit="1"/>
              </p:cNvSpPr>
              <p:nvPr/>
            </p:nvSpPr>
            <p:spPr>
              <a:xfrm>
                <a:off x="1320031" y="6374394"/>
                <a:ext cx="4705410" cy="369332"/>
              </a:xfrm>
              <a:prstGeom prst="rect">
                <a:avLst/>
              </a:prstGeom>
              <a:blipFill>
                <a:blip r:embed="rId5"/>
                <a:stretch>
                  <a:fillRect/>
                </a:stretch>
              </a:blipFill>
            </p:spPr>
            <p:txBody>
              <a:bodyPr/>
              <a:lstStyle/>
              <a:p>
                <a:r>
                  <a:rPr lang="es-CO">
                    <a:noFill/>
                  </a:rPr>
                  <a:t> </a:t>
                </a:r>
              </a:p>
            </p:txBody>
          </p:sp>
        </mc:Fallback>
      </mc:AlternateContent>
      <p:pic>
        <p:nvPicPr>
          <p:cNvPr id="11" name="Imagen 10">
            <a:extLst>
              <a:ext uri="{FF2B5EF4-FFF2-40B4-BE49-F238E27FC236}">
                <a16:creationId xmlns:a16="http://schemas.microsoft.com/office/drawing/2014/main" id="{D08C274A-1B0F-40B8-A7EA-9AF7C72273A2}"/>
              </a:ext>
            </a:extLst>
          </p:cNvPr>
          <p:cNvPicPr>
            <a:picLocks noChangeAspect="1"/>
          </p:cNvPicPr>
          <p:nvPr/>
        </p:nvPicPr>
        <p:blipFill>
          <a:blip r:embed="rId6"/>
          <a:stretch>
            <a:fillRect/>
          </a:stretch>
        </p:blipFill>
        <p:spPr>
          <a:xfrm>
            <a:off x="9643088" y="3691974"/>
            <a:ext cx="2310129" cy="2272464"/>
          </a:xfrm>
          <a:prstGeom prst="rect">
            <a:avLst/>
          </a:prstGeom>
        </p:spPr>
      </p:pic>
      <mc:AlternateContent xmlns:mc="http://schemas.openxmlformats.org/markup-compatibility/2006" xmlns:a14="http://schemas.microsoft.com/office/drawing/2010/main">
        <mc:Choice Requires="a14">
          <p:sp>
            <p:nvSpPr>
              <p:cNvPr id="65" name="CuadroTexto 64">
                <a:extLst>
                  <a:ext uri="{FF2B5EF4-FFF2-40B4-BE49-F238E27FC236}">
                    <a16:creationId xmlns:a16="http://schemas.microsoft.com/office/drawing/2014/main" id="{19EBEB7F-0E07-4D9D-8065-2528548DE95B}"/>
                  </a:ext>
                </a:extLst>
              </p:cNvPr>
              <p:cNvSpPr txBox="1"/>
              <p:nvPr/>
            </p:nvSpPr>
            <p:spPr>
              <a:xfrm>
                <a:off x="6446948" y="6374374"/>
                <a:ext cx="5329696" cy="369332"/>
              </a:xfrm>
              <a:prstGeom prst="rect">
                <a:avLst/>
              </a:prstGeom>
              <a:solidFill>
                <a:schemeClr val="bg1"/>
              </a:solidFill>
            </p:spPr>
            <p:txBody>
              <a:bodyPr wrap="square" rtlCol="0">
                <a:spAutoFit/>
              </a:bodyPr>
              <a:lstStyle/>
              <a:p>
                <a:pPr/>
                <a14:m>
                  <m:oMathPara xmlns:m="http://schemas.openxmlformats.org/officeDocument/2006/math">
                    <m:oMathParaPr>
                      <m:jc m:val="center"/>
                    </m:oMathParaPr>
                    <m:oMath xmlns:m="http://schemas.openxmlformats.org/officeDocument/2006/math">
                      <m:r>
                        <m:rPr>
                          <m:sty m:val="p"/>
                        </m:rPr>
                        <a:rPr lang="es-MX" sz="1800" b="0" i="0" smtClean="0">
                          <a:solidFill>
                            <a:schemeClr val="tx1"/>
                          </a:solidFill>
                          <a:latin typeface="Cambria Math" panose="02040503050406030204" pitchFamily="18" charset="0"/>
                        </a:rPr>
                        <m:t>dom</m:t>
                      </m:r>
                      <m:d>
                        <m:dPr>
                          <m:ctrlPr>
                            <a:rPr lang="es-MX" sz="1800" b="0" i="1" smtClean="0">
                              <a:solidFill>
                                <a:schemeClr val="tx1"/>
                              </a:solidFill>
                              <a:latin typeface="Cambria Math" panose="02040503050406030204" pitchFamily="18" charset="0"/>
                            </a:rPr>
                          </m:ctrlPr>
                        </m:dPr>
                        <m:e>
                          <m:sSup>
                            <m:sSupPr>
                              <m:ctrlPr>
                                <a:rPr lang="es-MX" sz="1800" b="0" i="1" smtClean="0">
                                  <a:solidFill>
                                    <a:schemeClr val="tx1"/>
                                  </a:solidFill>
                                  <a:latin typeface="Cambria Math" panose="02040503050406030204" pitchFamily="18" charset="0"/>
                                </a:rPr>
                              </m:ctrlPr>
                            </m:sSupPr>
                            <m:e>
                              <m:r>
                                <a:rPr lang="es-MX" sz="1800" b="0" i="1" smtClean="0">
                                  <a:solidFill>
                                    <a:schemeClr val="tx1"/>
                                  </a:solidFill>
                                  <a:latin typeface="Cambria Math" panose="02040503050406030204" pitchFamily="18" charset="0"/>
                                </a:rPr>
                                <m:t>𝑅</m:t>
                              </m:r>
                            </m:e>
                            <m:sup>
                              <m:r>
                                <a:rPr lang="es-MX" sz="1800" b="0" i="1" smtClean="0">
                                  <a:solidFill>
                                    <a:schemeClr val="tx1"/>
                                  </a:solidFill>
                                  <a:latin typeface="Cambria Math" panose="02040503050406030204" pitchFamily="18" charset="0"/>
                                </a:rPr>
                                <m:t>−1</m:t>
                              </m:r>
                            </m:sup>
                          </m:sSup>
                        </m:e>
                      </m:d>
                      <m:r>
                        <a:rPr lang="es-MX" sz="1800" b="0" i="1" smtClean="0">
                          <a:solidFill>
                            <a:schemeClr val="tx1"/>
                          </a:solidFill>
                          <a:latin typeface="Cambria Math" panose="02040503050406030204" pitchFamily="18" charset="0"/>
                        </a:rPr>
                        <m:t>=</m:t>
                      </m:r>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𝑎</m:t>
                          </m:r>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𝑏</m:t>
                          </m:r>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𝑐</m:t>
                          </m:r>
                        </m:e>
                      </m:d>
                      <m:r>
                        <a:rPr lang="es-MX" sz="1800" b="0" i="1" smtClean="0">
                          <a:latin typeface="Cambria Math" panose="02040503050406030204" pitchFamily="18" charset="0"/>
                          <a:ea typeface="Roboto" panose="02000000000000000000" pitchFamily="2" charset="0"/>
                        </a:rPr>
                        <m:t>,</m:t>
                      </m:r>
                      <m:r>
                        <m:rPr>
                          <m:lit/>
                        </m:rPr>
                        <a:rPr lang="es-MX" sz="1800" b="0" i="0" smtClean="0">
                          <a:latin typeface="Cambria Math" panose="02040503050406030204" pitchFamily="18" charset="0"/>
                          <a:ea typeface="Roboto" panose="02000000000000000000" pitchFamily="2" charset="0"/>
                        </a:rPr>
                        <m:t>  </m:t>
                      </m:r>
                      <m:r>
                        <m:rPr>
                          <m:sty m:val="p"/>
                        </m:rPr>
                        <a:rPr lang="es-MX" sz="1800" b="0" i="0" smtClean="0">
                          <a:solidFill>
                            <a:schemeClr val="tx1"/>
                          </a:solidFill>
                          <a:latin typeface="Cambria Math" panose="02040503050406030204" pitchFamily="18" charset="0"/>
                        </a:rPr>
                        <m:t>ran</m:t>
                      </m:r>
                      <m:d>
                        <m:dPr>
                          <m:ctrlPr>
                            <a:rPr lang="es-MX" sz="1800" i="1">
                              <a:solidFill>
                                <a:schemeClr val="tx1"/>
                              </a:solidFill>
                              <a:latin typeface="Cambria Math" panose="02040503050406030204" pitchFamily="18" charset="0"/>
                            </a:rPr>
                          </m:ctrlPr>
                        </m:dPr>
                        <m:e>
                          <m:sSup>
                            <m:sSupPr>
                              <m:ctrlPr>
                                <a:rPr lang="es-MX" sz="1800" b="0" i="1" smtClean="0">
                                  <a:solidFill>
                                    <a:schemeClr val="tx1"/>
                                  </a:solidFill>
                                  <a:latin typeface="Cambria Math" panose="02040503050406030204" pitchFamily="18" charset="0"/>
                                </a:rPr>
                              </m:ctrlPr>
                            </m:sSupPr>
                            <m:e>
                              <m:r>
                                <a:rPr lang="es-MX" sz="1800" i="1">
                                  <a:solidFill>
                                    <a:schemeClr val="tx1"/>
                                  </a:solidFill>
                                  <a:latin typeface="Cambria Math" panose="02040503050406030204" pitchFamily="18" charset="0"/>
                                </a:rPr>
                                <m:t>𝑅</m:t>
                              </m:r>
                            </m:e>
                            <m:sup>
                              <m:r>
                                <a:rPr lang="es-MX" sz="1800" b="0" i="1" smtClean="0">
                                  <a:solidFill>
                                    <a:schemeClr val="tx1"/>
                                  </a:solidFill>
                                  <a:latin typeface="Cambria Math" panose="02040503050406030204" pitchFamily="18" charset="0"/>
                                </a:rPr>
                                <m:t>−1</m:t>
                              </m:r>
                            </m:sup>
                          </m:sSup>
                        </m:e>
                      </m:d>
                      <m:r>
                        <a:rPr lang="es-MX" sz="1800" i="1">
                          <a:solidFill>
                            <a:schemeClr val="tx1"/>
                          </a:solidFill>
                          <a:latin typeface="Cambria Math" panose="02040503050406030204" pitchFamily="18" charset="0"/>
                        </a:rPr>
                        <m:t>=</m:t>
                      </m:r>
                      <m:d>
                        <m:dPr>
                          <m:begChr m:val="{"/>
                          <m:endChr m:val="}"/>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1</m:t>
                          </m:r>
                          <m:r>
                            <a:rPr lang="es-MX" sz="1800" i="1">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2</m:t>
                          </m:r>
                          <m:r>
                            <a:rPr lang="es-MX" sz="1800" i="1">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4</m:t>
                          </m:r>
                        </m:e>
                      </m:d>
                    </m:oMath>
                  </m:oMathPara>
                </a14:m>
                <a:endParaRPr lang="es-CO" sz="1800" dirty="0">
                  <a:solidFill>
                    <a:schemeClr val="tx1"/>
                  </a:solidFill>
                </a:endParaRPr>
              </a:p>
            </p:txBody>
          </p:sp>
        </mc:Choice>
        <mc:Fallback xmlns="">
          <p:sp>
            <p:nvSpPr>
              <p:cNvPr id="65" name="CuadroTexto 64">
                <a:extLst>
                  <a:ext uri="{FF2B5EF4-FFF2-40B4-BE49-F238E27FC236}">
                    <a16:creationId xmlns:a16="http://schemas.microsoft.com/office/drawing/2014/main" id="{19EBEB7F-0E07-4D9D-8065-2528548DE95B}"/>
                  </a:ext>
                </a:extLst>
              </p:cNvPr>
              <p:cNvSpPr txBox="1">
                <a:spLocks noRot="1" noChangeAspect="1" noMove="1" noResize="1" noEditPoints="1" noAdjustHandles="1" noChangeArrowheads="1" noChangeShapeType="1" noTextEdit="1"/>
              </p:cNvSpPr>
              <p:nvPr/>
            </p:nvSpPr>
            <p:spPr>
              <a:xfrm>
                <a:off x="6446948" y="6374374"/>
                <a:ext cx="5329696" cy="369332"/>
              </a:xfrm>
              <a:prstGeom prst="rect">
                <a:avLst/>
              </a:prstGeom>
              <a:blipFill>
                <a:blip r:embed="rId7"/>
                <a:stretch>
                  <a:fillRect/>
                </a:stretch>
              </a:blipFill>
            </p:spPr>
            <p:txBody>
              <a:bodyPr/>
              <a:lstStyle/>
              <a:p>
                <a:r>
                  <a:rPr lang="es-CO">
                    <a:noFill/>
                  </a:rPr>
                  <a:t> </a:t>
                </a:r>
              </a:p>
            </p:txBody>
          </p:sp>
        </mc:Fallback>
      </mc:AlternateContent>
      <p:grpSp>
        <p:nvGrpSpPr>
          <p:cNvPr id="17" name="Grupo 16">
            <a:extLst>
              <a:ext uri="{FF2B5EF4-FFF2-40B4-BE49-F238E27FC236}">
                <a16:creationId xmlns:a16="http://schemas.microsoft.com/office/drawing/2014/main" id="{10FB09B2-094A-4723-8565-3D26F683247C}"/>
              </a:ext>
            </a:extLst>
          </p:cNvPr>
          <p:cNvGrpSpPr/>
          <p:nvPr/>
        </p:nvGrpSpPr>
        <p:grpSpPr>
          <a:xfrm>
            <a:off x="1069050" y="3422735"/>
            <a:ext cx="2616451" cy="3059822"/>
            <a:chOff x="1069050" y="3403685"/>
            <a:chExt cx="2616451" cy="3059822"/>
          </a:xfrm>
        </p:grpSpPr>
        <p:grpSp>
          <p:nvGrpSpPr>
            <p:cNvPr id="35" name="Grupo 34">
              <a:extLst>
                <a:ext uri="{FF2B5EF4-FFF2-40B4-BE49-F238E27FC236}">
                  <a16:creationId xmlns:a16="http://schemas.microsoft.com/office/drawing/2014/main" id="{168564B5-4A60-40C4-BA45-8FE889CFFAE6}"/>
                </a:ext>
              </a:extLst>
            </p:cNvPr>
            <p:cNvGrpSpPr/>
            <p:nvPr/>
          </p:nvGrpSpPr>
          <p:grpSpPr>
            <a:xfrm>
              <a:off x="1069050" y="3666490"/>
              <a:ext cx="2616451" cy="2797017"/>
              <a:chOff x="1853571" y="3122895"/>
              <a:chExt cx="2616451" cy="2797017"/>
            </a:xfrm>
          </p:grpSpPr>
          <mc:AlternateContent xmlns:mc="http://schemas.openxmlformats.org/markup-compatibility/2006" xmlns:a14="http://schemas.microsoft.com/office/drawing/2010/main">
            <mc:Choice Requires="a14">
              <p:sp>
                <p:nvSpPr>
                  <p:cNvPr id="37" name="CuadroTexto 36">
                    <a:extLst>
                      <a:ext uri="{FF2B5EF4-FFF2-40B4-BE49-F238E27FC236}">
                        <a16:creationId xmlns:a16="http://schemas.microsoft.com/office/drawing/2014/main" id="{5954CF97-1216-43BA-8B5A-4B80B9E03886}"/>
                      </a:ext>
                    </a:extLst>
                  </p:cNvPr>
                  <p:cNvSpPr txBox="1"/>
                  <p:nvPr/>
                </p:nvSpPr>
                <p:spPr>
                  <a:xfrm>
                    <a:off x="3650322" y="5519802"/>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𝑩</m:t>
                          </m:r>
                        </m:oMath>
                      </m:oMathPara>
                    </a14:m>
                    <a:endParaRPr lang="es-CO" sz="1600" b="1" dirty="0"/>
                  </a:p>
                </p:txBody>
              </p:sp>
            </mc:Choice>
            <mc:Fallback xmlns="">
              <p:sp>
                <p:nvSpPr>
                  <p:cNvPr id="37" name="CuadroTexto 36">
                    <a:extLst>
                      <a:ext uri="{FF2B5EF4-FFF2-40B4-BE49-F238E27FC236}">
                        <a16:creationId xmlns:a16="http://schemas.microsoft.com/office/drawing/2014/main" id="{5954CF97-1216-43BA-8B5A-4B80B9E03886}"/>
                      </a:ext>
                    </a:extLst>
                  </p:cNvPr>
                  <p:cNvSpPr txBox="1">
                    <a:spLocks noRot="1" noChangeAspect="1" noMove="1" noResize="1" noEditPoints="1" noAdjustHandles="1" noChangeArrowheads="1" noChangeShapeType="1" noTextEdit="1"/>
                  </p:cNvSpPr>
                  <p:nvPr/>
                </p:nvSpPr>
                <p:spPr>
                  <a:xfrm>
                    <a:off x="3650322" y="5519802"/>
                    <a:ext cx="703865" cy="400110"/>
                  </a:xfrm>
                  <a:prstGeom prst="rect">
                    <a:avLst/>
                  </a:prstGeom>
                  <a:blipFill>
                    <a:blip r:embed="rId8"/>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5E81E7F9-51EA-45C7-A66C-00E45C8DC528}"/>
                      </a:ext>
                    </a:extLst>
                  </p:cNvPr>
                  <p:cNvSpPr txBox="1"/>
                  <p:nvPr/>
                </p:nvSpPr>
                <p:spPr>
                  <a:xfrm>
                    <a:off x="1969404" y="5458148"/>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𝑨</m:t>
                          </m:r>
                        </m:oMath>
                      </m:oMathPara>
                    </a14:m>
                    <a:endParaRPr lang="es-CO" sz="1600" b="1" dirty="0"/>
                  </a:p>
                </p:txBody>
              </p:sp>
            </mc:Choice>
            <mc:Fallback xmlns="">
              <p:sp>
                <p:nvSpPr>
                  <p:cNvPr id="39" name="CuadroTexto 38">
                    <a:extLst>
                      <a:ext uri="{FF2B5EF4-FFF2-40B4-BE49-F238E27FC236}">
                        <a16:creationId xmlns:a16="http://schemas.microsoft.com/office/drawing/2014/main" id="{5E81E7F9-51EA-45C7-A66C-00E45C8DC528}"/>
                      </a:ext>
                    </a:extLst>
                  </p:cNvPr>
                  <p:cNvSpPr txBox="1">
                    <a:spLocks noRot="1" noChangeAspect="1" noMove="1" noResize="1" noEditPoints="1" noAdjustHandles="1" noChangeArrowheads="1" noChangeShapeType="1" noTextEdit="1"/>
                  </p:cNvSpPr>
                  <p:nvPr/>
                </p:nvSpPr>
                <p:spPr>
                  <a:xfrm>
                    <a:off x="1969404" y="5458148"/>
                    <a:ext cx="703865" cy="400110"/>
                  </a:xfrm>
                  <a:prstGeom prst="rect">
                    <a:avLst/>
                  </a:prstGeom>
                  <a:blipFill>
                    <a:blip r:embed="rId9"/>
                    <a:stretch>
                      <a:fillRect/>
                    </a:stretch>
                  </a:blipFill>
                </p:spPr>
                <p:txBody>
                  <a:bodyPr/>
                  <a:lstStyle/>
                  <a:p>
                    <a:r>
                      <a:rPr lang="es-CO">
                        <a:noFill/>
                      </a:rPr>
                      <a:t> </a:t>
                    </a:r>
                  </a:p>
                </p:txBody>
              </p:sp>
            </mc:Fallback>
          </mc:AlternateContent>
          <p:grpSp>
            <p:nvGrpSpPr>
              <p:cNvPr id="40" name="Grupo 39">
                <a:extLst>
                  <a:ext uri="{FF2B5EF4-FFF2-40B4-BE49-F238E27FC236}">
                    <a16:creationId xmlns:a16="http://schemas.microsoft.com/office/drawing/2014/main" id="{6213467F-ED78-4BB2-8BC2-06D1F61684FF}"/>
                  </a:ext>
                </a:extLst>
              </p:cNvPr>
              <p:cNvGrpSpPr/>
              <p:nvPr/>
            </p:nvGrpSpPr>
            <p:grpSpPr>
              <a:xfrm>
                <a:off x="3534489" y="3122896"/>
                <a:ext cx="935533" cy="2313589"/>
                <a:chOff x="2371302" y="3160111"/>
                <a:chExt cx="935533" cy="2313589"/>
              </a:xfrm>
            </p:grpSpPr>
            <p:sp>
              <p:nvSpPr>
                <p:cNvPr id="60" name="Elipse 59">
                  <a:extLst>
                    <a:ext uri="{FF2B5EF4-FFF2-40B4-BE49-F238E27FC236}">
                      <a16:creationId xmlns:a16="http://schemas.microsoft.com/office/drawing/2014/main" id="{03C1BD9A-A798-4B1C-A7EC-539B7442E48A}"/>
                    </a:ext>
                  </a:extLst>
                </p:cNvPr>
                <p:cNvSpPr/>
                <p:nvPr/>
              </p:nvSpPr>
              <p:spPr>
                <a:xfrm>
                  <a:off x="2371302"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61" name="CuadroTexto 60">
                      <a:extLst>
                        <a:ext uri="{FF2B5EF4-FFF2-40B4-BE49-F238E27FC236}">
                          <a16:creationId xmlns:a16="http://schemas.microsoft.com/office/drawing/2014/main" id="{EA485442-A2D9-447C-AB26-42CEB9D26DCA}"/>
                        </a:ext>
                      </a:extLst>
                    </p:cNvPr>
                    <p:cNvSpPr txBox="1"/>
                    <p:nvPr/>
                  </p:nvSpPr>
                  <p:spPr>
                    <a:xfrm>
                      <a:off x="2608824" y="3373778"/>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𝒂</m:t>
                            </m:r>
                          </m:oMath>
                        </m:oMathPara>
                      </a14:m>
                      <a:endParaRPr lang="es-CO" sz="1600" b="1" dirty="0">
                        <a:solidFill>
                          <a:schemeClr val="tx1"/>
                        </a:solidFill>
                      </a:endParaRPr>
                    </a:p>
                  </p:txBody>
                </p:sp>
              </mc:Choice>
              <mc:Fallback>
                <p:sp>
                  <p:nvSpPr>
                    <p:cNvPr id="61" name="CuadroTexto 60">
                      <a:extLst>
                        <a:ext uri="{FF2B5EF4-FFF2-40B4-BE49-F238E27FC236}">
                          <a16:creationId xmlns:a16="http://schemas.microsoft.com/office/drawing/2014/main" id="{EA485442-A2D9-447C-AB26-42CEB9D26DCA}"/>
                        </a:ext>
                      </a:extLst>
                    </p:cNvPr>
                    <p:cNvSpPr txBox="1">
                      <a:spLocks noRot="1" noChangeAspect="1" noMove="1" noResize="1" noEditPoints="1" noAdjustHandles="1" noChangeArrowheads="1" noChangeShapeType="1" noTextEdit="1"/>
                    </p:cNvSpPr>
                    <p:nvPr/>
                  </p:nvSpPr>
                  <p:spPr>
                    <a:xfrm>
                      <a:off x="2608824" y="3373778"/>
                      <a:ext cx="403774" cy="400110"/>
                    </a:xfrm>
                    <a:prstGeom prst="rect">
                      <a:avLst/>
                    </a:prstGeom>
                    <a:blipFill>
                      <a:blip r:embed="rId10"/>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2" name="CuadroTexto 61">
                      <a:extLst>
                        <a:ext uri="{FF2B5EF4-FFF2-40B4-BE49-F238E27FC236}">
                          <a16:creationId xmlns:a16="http://schemas.microsoft.com/office/drawing/2014/main" id="{1199F27B-C97B-4817-AD92-53AF2AC80842}"/>
                        </a:ext>
                      </a:extLst>
                    </p:cNvPr>
                    <p:cNvSpPr txBox="1"/>
                    <p:nvPr/>
                  </p:nvSpPr>
                  <p:spPr>
                    <a:xfrm>
                      <a:off x="2605645" y="3879581"/>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𝒃</m:t>
                            </m:r>
                          </m:oMath>
                        </m:oMathPara>
                      </a14:m>
                      <a:endParaRPr lang="es-CO" sz="1600" b="1" dirty="0">
                        <a:solidFill>
                          <a:schemeClr val="tx1"/>
                        </a:solidFill>
                      </a:endParaRPr>
                    </a:p>
                  </p:txBody>
                </p:sp>
              </mc:Choice>
              <mc:Fallback>
                <p:sp>
                  <p:nvSpPr>
                    <p:cNvPr id="62" name="CuadroTexto 61">
                      <a:extLst>
                        <a:ext uri="{FF2B5EF4-FFF2-40B4-BE49-F238E27FC236}">
                          <a16:creationId xmlns:a16="http://schemas.microsoft.com/office/drawing/2014/main" id="{1199F27B-C97B-4817-AD92-53AF2AC80842}"/>
                        </a:ext>
                      </a:extLst>
                    </p:cNvPr>
                    <p:cNvSpPr txBox="1">
                      <a:spLocks noRot="1" noChangeAspect="1" noMove="1" noResize="1" noEditPoints="1" noAdjustHandles="1" noChangeArrowheads="1" noChangeShapeType="1" noTextEdit="1"/>
                    </p:cNvSpPr>
                    <p:nvPr/>
                  </p:nvSpPr>
                  <p:spPr>
                    <a:xfrm>
                      <a:off x="2605645" y="3879581"/>
                      <a:ext cx="403774" cy="400110"/>
                    </a:xfrm>
                    <a:prstGeom prst="rect">
                      <a:avLst/>
                    </a:prstGeom>
                    <a:blipFill>
                      <a:blip r:embed="rId11"/>
                      <a:stretch>
                        <a:fillRect l="-15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3" name="CuadroTexto 62">
                      <a:extLst>
                        <a:ext uri="{FF2B5EF4-FFF2-40B4-BE49-F238E27FC236}">
                          <a16:creationId xmlns:a16="http://schemas.microsoft.com/office/drawing/2014/main" id="{16E70488-277B-4AB7-8C8A-F593260779E5}"/>
                        </a:ext>
                      </a:extLst>
                    </p:cNvPr>
                    <p:cNvSpPr txBox="1"/>
                    <p:nvPr/>
                  </p:nvSpPr>
                  <p:spPr>
                    <a:xfrm>
                      <a:off x="2594379" y="4383512"/>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𝒄</m:t>
                            </m:r>
                          </m:oMath>
                        </m:oMathPara>
                      </a14:m>
                      <a:endParaRPr lang="es-CO" sz="1600" b="1" dirty="0">
                        <a:solidFill>
                          <a:schemeClr val="tx1"/>
                        </a:solidFill>
                      </a:endParaRPr>
                    </a:p>
                  </p:txBody>
                </p:sp>
              </mc:Choice>
              <mc:Fallback>
                <p:sp>
                  <p:nvSpPr>
                    <p:cNvPr id="63" name="CuadroTexto 62">
                      <a:extLst>
                        <a:ext uri="{FF2B5EF4-FFF2-40B4-BE49-F238E27FC236}">
                          <a16:creationId xmlns:a16="http://schemas.microsoft.com/office/drawing/2014/main" id="{16E70488-277B-4AB7-8C8A-F593260779E5}"/>
                        </a:ext>
                      </a:extLst>
                    </p:cNvPr>
                    <p:cNvSpPr txBox="1">
                      <a:spLocks noRot="1" noChangeAspect="1" noMove="1" noResize="1" noEditPoints="1" noAdjustHandles="1" noChangeArrowheads="1" noChangeShapeType="1" noTextEdit="1"/>
                    </p:cNvSpPr>
                    <p:nvPr/>
                  </p:nvSpPr>
                  <p:spPr>
                    <a:xfrm>
                      <a:off x="2594379" y="4383512"/>
                      <a:ext cx="403774" cy="400110"/>
                    </a:xfrm>
                    <a:prstGeom prst="rect">
                      <a:avLst/>
                    </a:prstGeom>
                    <a:blipFill>
                      <a:blip r:embed="rId12"/>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4" name="CuadroTexto 63">
                      <a:extLst>
                        <a:ext uri="{FF2B5EF4-FFF2-40B4-BE49-F238E27FC236}">
                          <a16:creationId xmlns:a16="http://schemas.microsoft.com/office/drawing/2014/main" id="{0A7A6C35-F077-4577-B3A4-571E854D8A78}"/>
                        </a:ext>
                      </a:extLst>
                    </p:cNvPr>
                    <p:cNvSpPr txBox="1"/>
                    <p:nvPr/>
                  </p:nvSpPr>
                  <p:spPr>
                    <a:xfrm>
                      <a:off x="2603417" y="4885740"/>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𝒅</m:t>
                            </m:r>
                          </m:oMath>
                        </m:oMathPara>
                      </a14:m>
                      <a:endParaRPr lang="es-CO" sz="1600" b="1" dirty="0">
                        <a:solidFill>
                          <a:schemeClr val="tx1"/>
                        </a:solidFill>
                      </a:endParaRPr>
                    </a:p>
                  </p:txBody>
                </p:sp>
              </mc:Choice>
              <mc:Fallback>
                <p:sp>
                  <p:nvSpPr>
                    <p:cNvPr id="64" name="CuadroTexto 63">
                      <a:extLst>
                        <a:ext uri="{FF2B5EF4-FFF2-40B4-BE49-F238E27FC236}">
                          <a16:creationId xmlns:a16="http://schemas.microsoft.com/office/drawing/2014/main" id="{0A7A6C35-F077-4577-B3A4-571E854D8A78}"/>
                        </a:ext>
                      </a:extLst>
                    </p:cNvPr>
                    <p:cNvSpPr txBox="1">
                      <a:spLocks noRot="1" noChangeAspect="1" noMove="1" noResize="1" noEditPoints="1" noAdjustHandles="1" noChangeArrowheads="1" noChangeShapeType="1" noTextEdit="1"/>
                    </p:cNvSpPr>
                    <p:nvPr/>
                  </p:nvSpPr>
                  <p:spPr>
                    <a:xfrm>
                      <a:off x="2603417" y="4885740"/>
                      <a:ext cx="403774" cy="400110"/>
                    </a:xfrm>
                    <a:prstGeom prst="rect">
                      <a:avLst/>
                    </a:prstGeom>
                    <a:blipFill>
                      <a:blip r:embed="rId13"/>
                      <a:stretch>
                        <a:fillRect/>
                      </a:stretch>
                    </a:blipFill>
                  </p:spPr>
                  <p:txBody>
                    <a:bodyPr/>
                    <a:lstStyle/>
                    <a:p>
                      <a:r>
                        <a:rPr lang="es-CO">
                          <a:noFill/>
                        </a:rPr>
                        <a:t> </a:t>
                      </a:r>
                    </a:p>
                  </p:txBody>
                </p:sp>
              </mc:Fallback>
            </mc:AlternateContent>
          </p:grpSp>
          <p:grpSp>
            <p:nvGrpSpPr>
              <p:cNvPr id="41" name="Grupo 40">
                <a:extLst>
                  <a:ext uri="{FF2B5EF4-FFF2-40B4-BE49-F238E27FC236}">
                    <a16:creationId xmlns:a16="http://schemas.microsoft.com/office/drawing/2014/main" id="{B11E30E4-1EEC-4FF3-9C29-307947B322CE}"/>
                  </a:ext>
                </a:extLst>
              </p:cNvPr>
              <p:cNvGrpSpPr/>
              <p:nvPr/>
            </p:nvGrpSpPr>
            <p:grpSpPr>
              <a:xfrm>
                <a:off x="1853571" y="3122895"/>
                <a:ext cx="935533" cy="2313589"/>
                <a:chOff x="1204578" y="3160111"/>
                <a:chExt cx="935533" cy="2313589"/>
              </a:xfrm>
            </p:grpSpPr>
            <p:sp>
              <p:nvSpPr>
                <p:cNvPr id="55" name="Elipse 54">
                  <a:extLst>
                    <a:ext uri="{FF2B5EF4-FFF2-40B4-BE49-F238E27FC236}">
                      <a16:creationId xmlns:a16="http://schemas.microsoft.com/office/drawing/2014/main" id="{40172DC1-62B5-4157-9CC2-E068565C5E63}"/>
                    </a:ext>
                  </a:extLst>
                </p:cNvPr>
                <p:cNvSpPr/>
                <p:nvPr/>
              </p:nvSpPr>
              <p:spPr>
                <a:xfrm>
                  <a:off x="1204578"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56" name="CuadroTexto 55">
                      <a:extLst>
                        <a:ext uri="{FF2B5EF4-FFF2-40B4-BE49-F238E27FC236}">
                          <a16:creationId xmlns:a16="http://schemas.microsoft.com/office/drawing/2014/main" id="{621FAFC5-55C0-41B6-9E82-1883B7349289}"/>
                        </a:ext>
                      </a:extLst>
                    </p:cNvPr>
                    <p:cNvSpPr txBox="1"/>
                    <p:nvPr/>
                  </p:nvSpPr>
                  <p:spPr>
                    <a:xfrm>
                      <a:off x="1442100" y="3373778"/>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𝟏</m:t>
                            </m:r>
                          </m:oMath>
                        </m:oMathPara>
                      </a14:m>
                      <a:endParaRPr lang="es-CO" sz="1600" b="1" dirty="0">
                        <a:solidFill>
                          <a:schemeClr val="tx1"/>
                        </a:solidFill>
                      </a:endParaRPr>
                    </a:p>
                  </p:txBody>
                </p:sp>
              </mc:Choice>
              <mc:Fallback>
                <p:sp>
                  <p:nvSpPr>
                    <p:cNvPr id="56" name="CuadroTexto 55">
                      <a:extLst>
                        <a:ext uri="{FF2B5EF4-FFF2-40B4-BE49-F238E27FC236}">
                          <a16:creationId xmlns:a16="http://schemas.microsoft.com/office/drawing/2014/main" id="{621FAFC5-55C0-41B6-9E82-1883B7349289}"/>
                        </a:ext>
                      </a:extLst>
                    </p:cNvPr>
                    <p:cNvSpPr txBox="1">
                      <a:spLocks noRot="1" noChangeAspect="1" noMove="1" noResize="1" noEditPoints="1" noAdjustHandles="1" noChangeArrowheads="1" noChangeShapeType="1" noTextEdit="1"/>
                    </p:cNvSpPr>
                    <p:nvPr/>
                  </p:nvSpPr>
                  <p:spPr>
                    <a:xfrm>
                      <a:off x="1442100" y="3373778"/>
                      <a:ext cx="403774" cy="400110"/>
                    </a:xfrm>
                    <a:prstGeom prst="rect">
                      <a:avLst/>
                    </a:prstGeom>
                    <a:blipFill>
                      <a:blip r:embed="rId14"/>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7" name="CuadroTexto 56">
                      <a:extLst>
                        <a:ext uri="{FF2B5EF4-FFF2-40B4-BE49-F238E27FC236}">
                          <a16:creationId xmlns:a16="http://schemas.microsoft.com/office/drawing/2014/main" id="{64B90D1A-B938-4B3D-AE78-F52BF9A91F3B}"/>
                        </a:ext>
                      </a:extLst>
                    </p:cNvPr>
                    <p:cNvSpPr txBox="1"/>
                    <p:nvPr/>
                  </p:nvSpPr>
                  <p:spPr>
                    <a:xfrm>
                      <a:off x="1438921" y="3879581"/>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𝟐</m:t>
                            </m:r>
                          </m:oMath>
                        </m:oMathPara>
                      </a14:m>
                      <a:endParaRPr lang="es-CO" sz="1600" b="1" dirty="0">
                        <a:solidFill>
                          <a:schemeClr val="tx1"/>
                        </a:solidFill>
                      </a:endParaRPr>
                    </a:p>
                  </p:txBody>
                </p:sp>
              </mc:Choice>
              <mc:Fallback>
                <p:sp>
                  <p:nvSpPr>
                    <p:cNvPr id="57" name="CuadroTexto 56">
                      <a:extLst>
                        <a:ext uri="{FF2B5EF4-FFF2-40B4-BE49-F238E27FC236}">
                          <a16:creationId xmlns:a16="http://schemas.microsoft.com/office/drawing/2014/main" id="{64B90D1A-B938-4B3D-AE78-F52BF9A91F3B}"/>
                        </a:ext>
                      </a:extLst>
                    </p:cNvPr>
                    <p:cNvSpPr txBox="1">
                      <a:spLocks noRot="1" noChangeAspect="1" noMove="1" noResize="1" noEditPoints="1" noAdjustHandles="1" noChangeArrowheads="1" noChangeShapeType="1" noTextEdit="1"/>
                    </p:cNvSpPr>
                    <p:nvPr/>
                  </p:nvSpPr>
                  <p:spPr>
                    <a:xfrm>
                      <a:off x="1438921" y="3879581"/>
                      <a:ext cx="403774" cy="400110"/>
                    </a:xfrm>
                    <a:prstGeom prst="rect">
                      <a:avLst/>
                    </a:prstGeom>
                    <a:blipFill>
                      <a:blip r:embed="rId15"/>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8" name="CuadroTexto 57">
                      <a:extLst>
                        <a:ext uri="{FF2B5EF4-FFF2-40B4-BE49-F238E27FC236}">
                          <a16:creationId xmlns:a16="http://schemas.microsoft.com/office/drawing/2014/main" id="{DFB0E83A-227F-4202-8AC5-05B2BED35D63}"/>
                        </a:ext>
                      </a:extLst>
                    </p:cNvPr>
                    <p:cNvSpPr txBox="1"/>
                    <p:nvPr/>
                  </p:nvSpPr>
                  <p:spPr>
                    <a:xfrm>
                      <a:off x="1427655" y="4383512"/>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𝟑</m:t>
                            </m:r>
                          </m:oMath>
                        </m:oMathPara>
                      </a14:m>
                      <a:endParaRPr lang="es-CO" sz="1600" b="1" dirty="0">
                        <a:solidFill>
                          <a:schemeClr val="tx1"/>
                        </a:solidFill>
                      </a:endParaRPr>
                    </a:p>
                  </p:txBody>
                </p:sp>
              </mc:Choice>
              <mc:Fallback>
                <p:sp>
                  <p:nvSpPr>
                    <p:cNvPr id="58" name="CuadroTexto 57">
                      <a:extLst>
                        <a:ext uri="{FF2B5EF4-FFF2-40B4-BE49-F238E27FC236}">
                          <a16:creationId xmlns:a16="http://schemas.microsoft.com/office/drawing/2014/main" id="{DFB0E83A-227F-4202-8AC5-05B2BED35D63}"/>
                        </a:ext>
                      </a:extLst>
                    </p:cNvPr>
                    <p:cNvSpPr txBox="1">
                      <a:spLocks noRot="1" noChangeAspect="1" noMove="1" noResize="1" noEditPoints="1" noAdjustHandles="1" noChangeArrowheads="1" noChangeShapeType="1" noTextEdit="1"/>
                    </p:cNvSpPr>
                    <p:nvPr/>
                  </p:nvSpPr>
                  <p:spPr>
                    <a:xfrm>
                      <a:off x="1427655" y="4383512"/>
                      <a:ext cx="403774" cy="400110"/>
                    </a:xfrm>
                    <a:prstGeom prst="rect">
                      <a:avLst/>
                    </a:prstGeom>
                    <a:blipFill>
                      <a:blip r:embed="rId16"/>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9" name="CuadroTexto 58">
                      <a:extLst>
                        <a:ext uri="{FF2B5EF4-FFF2-40B4-BE49-F238E27FC236}">
                          <a16:creationId xmlns:a16="http://schemas.microsoft.com/office/drawing/2014/main" id="{201034CE-99CF-4209-9D7F-2A07237689AD}"/>
                        </a:ext>
                      </a:extLst>
                    </p:cNvPr>
                    <p:cNvSpPr txBox="1"/>
                    <p:nvPr/>
                  </p:nvSpPr>
                  <p:spPr>
                    <a:xfrm>
                      <a:off x="1436693" y="4885740"/>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𝟒</m:t>
                            </m:r>
                          </m:oMath>
                        </m:oMathPara>
                      </a14:m>
                      <a:endParaRPr lang="es-CO" sz="1600" b="1" dirty="0">
                        <a:solidFill>
                          <a:schemeClr val="tx1"/>
                        </a:solidFill>
                      </a:endParaRPr>
                    </a:p>
                  </p:txBody>
                </p:sp>
              </mc:Choice>
              <mc:Fallback>
                <p:sp>
                  <p:nvSpPr>
                    <p:cNvPr id="59" name="CuadroTexto 58">
                      <a:extLst>
                        <a:ext uri="{FF2B5EF4-FFF2-40B4-BE49-F238E27FC236}">
                          <a16:creationId xmlns:a16="http://schemas.microsoft.com/office/drawing/2014/main" id="{201034CE-99CF-4209-9D7F-2A07237689AD}"/>
                        </a:ext>
                      </a:extLst>
                    </p:cNvPr>
                    <p:cNvSpPr txBox="1">
                      <a:spLocks noRot="1" noChangeAspect="1" noMove="1" noResize="1" noEditPoints="1" noAdjustHandles="1" noChangeArrowheads="1" noChangeShapeType="1" noTextEdit="1"/>
                    </p:cNvSpPr>
                    <p:nvPr/>
                  </p:nvSpPr>
                  <p:spPr>
                    <a:xfrm>
                      <a:off x="1436693" y="4885740"/>
                      <a:ext cx="403774" cy="400110"/>
                    </a:xfrm>
                    <a:prstGeom prst="rect">
                      <a:avLst/>
                    </a:prstGeom>
                    <a:blipFill>
                      <a:blip r:embed="rId17"/>
                      <a:stretch>
                        <a:fillRect/>
                      </a:stretch>
                    </a:blipFill>
                  </p:spPr>
                  <p:txBody>
                    <a:bodyPr/>
                    <a:lstStyle/>
                    <a:p>
                      <a:r>
                        <a:rPr lang="es-CO">
                          <a:noFill/>
                        </a:rPr>
                        <a:t> </a:t>
                      </a:r>
                    </a:p>
                  </p:txBody>
                </p:sp>
              </mc:Fallback>
            </mc:AlternateContent>
          </p:grpSp>
          <p:cxnSp>
            <p:nvCxnSpPr>
              <p:cNvPr id="42" name="Conector recto de flecha 41">
                <a:extLst>
                  <a:ext uri="{FF2B5EF4-FFF2-40B4-BE49-F238E27FC236}">
                    <a16:creationId xmlns:a16="http://schemas.microsoft.com/office/drawing/2014/main" id="{27B7AE5D-CB62-4282-9CC8-E20BD7989EB2}"/>
                  </a:ext>
                </a:extLst>
              </p:cNvPr>
              <p:cNvCxnSpPr>
                <a:cxnSpLocks/>
                <a:endCxn id="61" idx="1"/>
              </p:cNvCxnSpPr>
              <p:nvPr/>
            </p:nvCxnSpPr>
            <p:spPr>
              <a:xfrm>
                <a:off x="2494867" y="3536617"/>
                <a:ext cx="1277144" cy="1"/>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recto de flecha 44">
                <a:extLst>
                  <a:ext uri="{FF2B5EF4-FFF2-40B4-BE49-F238E27FC236}">
                    <a16:creationId xmlns:a16="http://schemas.microsoft.com/office/drawing/2014/main" id="{0A7F4B23-D580-4F9F-B1AF-F24AEC24C793}"/>
                  </a:ext>
                </a:extLst>
              </p:cNvPr>
              <p:cNvCxnSpPr>
                <a:cxnSpLocks/>
                <a:endCxn id="63" idx="1"/>
              </p:cNvCxnSpPr>
              <p:nvPr/>
            </p:nvCxnSpPr>
            <p:spPr>
              <a:xfrm>
                <a:off x="2501900" y="3600450"/>
                <a:ext cx="1255666" cy="945902"/>
              </a:xfrm>
              <a:prstGeom prst="straightConnector1">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recto de flecha 45">
                <a:extLst>
                  <a:ext uri="{FF2B5EF4-FFF2-40B4-BE49-F238E27FC236}">
                    <a16:creationId xmlns:a16="http://schemas.microsoft.com/office/drawing/2014/main" id="{3555477B-DE26-446E-97BB-D145EC51EF29}"/>
                  </a:ext>
                </a:extLst>
              </p:cNvPr>
              <p:cNvCxnSpPr>
                <a:cxnSpLocks/>
              </p:cNvCxnSpPr>
              <p:nvPr/>
            </p:nvCxnSpPr>
            <p:spPr>
              <a:xfrm>
                <a:off x="2491688" y="4042420"/>
                <a:ext cx="1277144" cy="1"/>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onector recto de flecha 47">
                <a:extLst>
                  <a:ext uri="{FF2B5EF4-FFF2-40B4-BE49-F238E27FC236}">
                    <a16:creationId xmlns:a16="http://schemas.microsoft.com/office/drawing/2014/main" id="{9045F14A-FD04-46A6-B3D7-E3E732B3F6FF}"/>
                  </a:ext>
                </a:extLst>
              </p:cNvPr>
              <p:cNvCxnSpPr>
                <a:cxnSpLocks/>
                <a:stCxn id="59" idx="3"/>
              </p:cNvCxnSpPr>
              <p:nvPr/>
            </p:nvCxnSpPr>
            <p:spPr>
              <a:xfrm flipV="1">
                <a:off x="2489460" y="4108450"/>
                <a:ext cx="1282440" cy="94012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upo 12">
              <a:extLst>
                <a:ext uri="{FF2B5EF4-FFF2-40B4-BE49-F238E27FC236}">
                  <a16:creationId xmlns:a16="http://schemas.microsoft.com/office/drawing/2014/main" id="{C8584F0B-0ED1-4734-A15A-0B34AE5E0CB5}"/>
                </a:ext>
              </a:extLst>
            </p:cNvPr>
            <p:cNvGrpSpPr/>
            <p:nvPr/>
          </p:nvGrpSpPr>
          <p:grpSpPr>
            <a:xfrm>
              <a:off x="2031227" y="3403685"/>
              <a:ext cx="656306" cy="978928"/>
              <a:chOff x="2031227" y="3403685"/>
              <a:chExt cx="656306" cy="978928"/>
            </a:xfrm>
          </p:grpSpPr>
          <p:sp>
            <p:nvSpPr>
              <p:cNvPr id="12" name="Arco 11">
                <a:extLst>
                  <a:ext uri="{FF2B5EF4-FFF2-40B4-BE49-F238E27FC236}">
                    <a16:creationId xmlns:a16="http://schemas.microsoft.com/office/drawing/2014/main" id="{E09B0946-3D76-478F-9885-F418E12EFBEC}"/>
                  </a:ext>
                </a:extLst>
              </p:cNvPr>
              <p:cNvSpPr/>
              <p:nvPr/>
            </p:nvSpPr>
            <p:spPr>
              <a:xfrm rot="19737687">
                <a:off x="2031227" y="3793519"/>
                <a:ext cx="656306" cy="589094"/>
              </a:xfrm>
              <a:prstGeom prst="arc">
                <a:avLst>
                  <a:gd name="adj1" fmla="val 15245008"/>
                  <a:gd name="adj2" fmla="val 0"/>
                </a:avLst>
              </a:prstGeom>
              <a:ln w="381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B3961F8E-8D4C-402B-B6F7-9737A04AD183}"/>
                      </a:ext>
                    </a:extLst>
                  </p:cNvPr>
                  <p:cNvSpPr txBox="1"/>
                  <p:nvPr/>
                </p:nvSpPr>
                <p:spPr>
                  <a:xfrm>
                    <a:off x="2196615" y="3403685"/>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𝑹</m:t>
                          </m:r>
                        </m:oMath>
                      </m:oMathPara>
                    </a14:m>
                    <a:endParaRPr lang="es-CO" sz="1600" b="1" dirty="0">
                      <a:solidFill>
                        <a:schemeClr val="tx1"/>
                      </a:solidFill>
                    </a:endParaRPr>
                  </a:p>
                </p:txBody>
              </p:sp>
            </mc:Choice>
            <mc:Fallback>
              <p:sp>
                <p:nvSpPr>
                  <p:cNvPr id="67" name="CuadroTexto 66">
                    <a:extLst>
                      <a:ext uri="{FF2B5EF4-FFF2-40B4-BE49-F238E27FC236}">
                        <a16:creationId xmlns:a16="http://schemas.microsoft.com/office/drawing/2014/main" id="{B3961F8E-8D4C-402B-B6F7-9737A04AD183}"/>
                      </a:ext>
                    </a:extLst>
                  </p:cNvPr>
                  <p:cNvSpPr txBox="1">
                    <a:spLocks noRot="1" noChangeAspect="1" noMove="1" noResize="1" noEditPoints="1" noAdjustHandles="1" noChangeArrowheads="1" noChangeShapeType="1" noTextEdit="1"/>
                  </p:cNvSpPr>
                  <p:nvPr/>
                </p:nvSpPr>
                <p:spPr>
                  <a:xfrm>
                    <a:off x="2196615" y="3403685"/>
                    <a:ext cx="403774" cy="400110"/>
                  </a:xfrm>
                  <a:prstGeom prst="rect">
                    <a:avLst/>
                  </a:prstGeom>
                  <a:blipFill>
                    <a:blip r:embed="rId18"/>
                    <a:stretch>
                      <a:fillRect/>
                    </a:stretch>
                  </a:blipFill>
                </p:spPr>
                <p:txBody>
                  <a:bodyPr/>
                  <a:lstStyle/>
                  <a:p>
                    <a:r>
                      <a:rPr lang="es-CO">
                        <a:noFill/>
                      </a:rPr>
                      <a:t> </a:t>
                    </a:r>
                  </a:p>
                </p:txBody>
              </p:sp>
            </mc:Fallback>
          </mc:AlternateContent>
        </p:grpSp>
      </p:grpSp>
      <p:grpSp>
        <p:nvGrpSpPr>
          <p:cNvPr id="22" name="Grupo 21">
            <a:extLst>
              <a:ext uri="{FF2B5EF4-FFF2-40B4-BE49-F238E27FC236}">
                <a16:creationId xmlns:a16="http://schemas.microsoft.com/office/drawing/2014/main" id="{2C40070C-291F-4394-92AB-0EB6D3E3DA86}"/>
              </a:ext>
            </a:extLst>
          </p:cNvPr>
          <p:cNvGrpSpPr/>
          <p:nvPr/>
        </p:nvGrpSpPr>
        <p:grpSpPr>
          <a:xfrm>
            <a:off x="6794989" y="3381889"/>
            <a:ext cx="2616451" cy="3091113"/>
            <a:chOff x="6794989" y="3362839"/>
            <a:chExt cx="2616451" cy="3091113"/>
          </a:xfrm>
        </p:grpSpPr>
        <p:grpSp>
          <p:nvGrpSpPr>
            <p:cNvPr id="47" name="Grupo 46">
              <a:extLst>
                <a:ext uri="{FF2B5EF4-FFF2-40B4-BE49-F238E27FC236}">
                  <a16:creationId xmlns:a16="http://schemas.microsoft.com/office/drawing/2014/main" id="{59C2E1D2-6C9B-40D2-A0A1-61DDC17FA41F}"/>
                </a:ext>
              </a:extLst>
            </p:cNvPr>
            <p:cNvGrpSpPr/>
            <p:nvPr/>
          </p:nvGrpSpPr>
          <p:grpSpPr>
            <a:xfrm>
              <a:off x="6794989" y="3656935"/>
              <a:ext cx="2616451" cy="2797017"/>
              <a:chOff x="1853571" y="3122895"/>
              <a:chExt cx="2616451" cy="2797017"/>
            </a:xfrm>
          </p:grpSpPr>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515E2538-6C6C-4EB4-8E76-5A1CFAA9A621}"/>
                      </a:ext>
                    </a:extLst>
                  </p:cNvPr>
                  <p:cNvSpPr txBox="1"/>
                  <p:nvPr/>
                </p:nvSpPr>
                <p:spPr>
                  <a:xfrm>
                    <a:off x="3650322" y="5519802"/>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𝑩</m:t>
                          </m:r>
                        </m:oMath>
                      </m:oMathPara>
                    </a14:m>
                    <a:endParaRPr lang="es-CO" sz="1600" b="1" dirty="0"/>
                  </a:p>
                </p:txBody>
              </p:sp>
            </mc:Choice>
            <mc:Fallback xmlns="">
              <p:sp>
                <p:nvSpPr>
                  <p:cNvPr id="16" name="CuadroTexto 15">
                    <a:extLst>
                      <a:ext uri="{FF2B5EF4-FFF2-40B4-BE49-F238E27FC236}">
                        <a16:creationId xmlns:a16="http://schemas.microsoft.com/office/drawing/2014/main" id="{515E2538-6C6C-4EB4-8E76-5A1CFAA9A621}"/>
                      </a:ext>
                    </a:extLst>
                  </p:cNvPr>
                  <p:cNvSpPr txBox="1">
                    <a:spLocks noRot="1" noChangeAspect="1" noMove="1" noResize="1" noEditPoints="1" noAdjustHandles="1" noChangeArrowheads="1" noChangeShapeType="1" noTextEdit="1"/>
                  </p:cNvSpPr>
                  <p:nvPr/>
                </p:nvSpPr>
                <p:spPr>
                  <a:xfrm>
                    <a:off x="3650322" y="5519802"/>
                    <a:ext cx="703865" cy="400110"/>
                  </a:xfrm>
                  <a:prstGeom prst="rect">
                    <a:avLst/>
                  </a:prstGeom>
                  <a:blipFill>
                    <a:blip r:embed="rId19"/>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699CCFB1-A66D-413C-955F-AC7DDDDD2CBC}"/>
                      </a:ext>
                    </a:extLst>
                  </p:cNvPr>
                  <p:cNvSpPr txBox="1"/>
                  <p:nvPr/>
                </p:nvSpPr>
                <p:spPr>
                  <a:xfrm>
                    <a:off x="1969404" y="5458148"/>
                    <a:ext cx="70386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2000" b="1" i="1" smtClean="0">
                              <a:solidFill>
                                <a:schemeClr val="accent5"/>
                              </a:solidFill>
                              <a:latin typeface="Cambria Math" panose="02040503050406030204" pitchFamily="18" charset="0"/>
                            </a:rPr>
                            <m:t>𝑨</m:t>
                          </m:r>
                        </m:oMath>
                      </m:oMathPara>
                    </a14:m>
                    <a:endParaRPr lang="es-CO" sz="1600" b="1" dirty="0"/>
                  </a:p>
                </p:txBody>
              </p:sp>
            </mc:Choice>
            <mc:Fallback xmlns="">
              <p:sp>
                <p:nvSpPr>
                  <p:cNvPr id="18" name="CuadroTexto 17">
                    <a:extLst>
                      <a:ext uri="{FF2B5EF4-FFF2-40B4-BE49-F238E27FC236}">
                        <a16:creationId xmlns:a16="http://schemas.microsoft.com/office/drawing/2014/main" id="{699CCFB1-A66D-413C-955F-AC7DDDDD2CBC}"/>
                      </a:ext>
                    </a:extLst>
                  </p:cNvPr>
                  <p:cNvSpPr txBox="1">
                    <a:spLocks noRot="1" noChangeAspect="1" noMove="1" noResize="1" noEditPoints="1" noAdjustHandles="1" noChangeArrowheads="1" noChangeShapeType="1" noTextEdit="1"/>
                  </p:cNvSpPr>
                  <p:nvPr/>
                </p:nvSpPr>
                <p:spPr>
                  <a:xfrm>
                    <a:off x="1969404" y="5458148"/>
                    <a:ext cx="703865" cy="400110"/>
                  </a:xfrm>
                  <a:prstGeom prst="rect">
                    <a:avLst/>
                  </a:prstGeom>
                  <a:blipFill>
                    <a:blip r:embed="rId20"/>
                    <a:stretch>
                      <a:fillRect/>
                    </a:stretch>
                  </a:blipFill>
                </p:spPr>
                <p:txBody>
                  <a:bodyPr/>
                  <a:lstStyle/>
                  <a:p>
                    <a:r>
                      <a:rPr lang="es-CO">
                        <a:noFill/>
                      </a:rPr>
                      <a:t> </a:t>
                    </a:r>
                  </a:p>
                </p:txBody>
              </p:sp>
            </mc:Fallback>
          </mc:AlternateContent>
          <p:grpSp>
            <p:nvGrpSpPr>
              <p:cNvPr id="30" name="Grupo 29">
                <a:extLst>
                  <a:ext uri="{FF2B5EF4-FFF2-40B4-BE49-F238E27FC236}">
                    <a16:creationId xmlns:a16="http://schemas.microsoft.com/office/drawing/2014/main" id="{696DC710-7FB4-442C-80C4-634CDD76C3B8}"/>
                  </a:ext>
                </a:extLst>
              </p:cNvPr>
              <p:cNvGrpSpPr/>
              <p:nvPr/>
            </p:nvGrpSpPr>
            <p:grpSpPr>
              <a:xfrm>
                <a:off x="3534489" y="3122896"/>
                <a:ext cx="935533" cy="2313589"/>
                <a:chOff x="2371302" y="3160111"/>
                <a:chExt cx="935533" cy="2313589"/>
              </a:xfrm>
            </p:grpSpPr>
            <p:sp>
              <p:nvSpPr>
                <p:cNvPr id="15" name="Elipse 14">
                  <a:extLst>
                    <a:ext uri="{FF2B5EF4-FFF2-40B4-BE49-F238E27FC236}">
                      <a16:creationId xmlns:a16="http://schemas.microsoft.com/office/drawing/2014/main" id="{20083016-1FF0-4C4E-A07C-E01ED69C14DE}"/>
                    </a:ext>
                  </a:extLst>
                </p:cNvPr>
                <p:cNvSpPr/>
                <p:nvPr/>
              </p:nvSpPr>
              <p:spPr>
                <a:xfrm>
                  <a:off x="2371302"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3AE09312-E477-4BA8-8876-691650083B2F}"/>
                        </a:ext>
                      </a:extLst>
                    </p:cNvPr>
                    <p:cNvSpPr txBox="1"/>
                    <p:nvPr/>
                  </p:nvSpPr>
                  <p:spPr>
                    <a:xfrm>
                      <a:off x="2608824" y="3373778"/>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𝒂</m:t>
                            </m:r>
                          </m:oMath>
                        </m:oMathPara>
                      </a14:m>
                      <a:endParaRPr lang="es-CO" sz="1600" b="1" dirty="0">
                        <a:solidFill>
                          <a:schemeClr val="tx1"/>
                        </a:solidFill>
                      </a:endParaRPr>
                    </a:p>
                  </p:txBody>
                </p:sp>
              </mc:Choice>
              <mc:Fallback>
                <p:sp>
                  <p:nvSpPr>
                    <p:cNvPr id="19" name="CuadroTexto 18">
                      <a:extLst>
                        <a:ext uri="{FF2B5EF4-FFF2-40B4-BE49-F238E27FC236}">
                          <a16:creationId xmlns:a16="http://schemas.microsoft.com/office/drawing/2014/main" id="{3AE09312-E477-4BA8-8876-691650083B2F}"/>
                        </a:ext>
                      </a:extLst>
                    </p:cNvPr>
                    <p:cNvSpPr txBox="1">
                      <a:spLocks noRot="1" noChangeAspect="1" noMove="1" noResize="1" noEditPoints="1" noAdjustHandles="1" noChangeArrowheads="1" noChangeShapeType="1" noTextEdit="1"/>
                    </p:cNvSpPr>
                    <p:nvPr/>
                  </p:nvSpPr>
                  <p:spPr>
                    <a:xfrm>
                      <a:off x="2608824" y="3373778"/>
                      <a:ext cx="403774" cy="400110"/>
                    </a:xfrm>
                    <a:prstGeom prst="rect">
                      <a:avLst/>
                    </a:prstGeom>
                    <a:blipFill>
                      <a:blip r:embed="rId21"/>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917496FB-EFF1-4940-9FA7-14EFE5F78C01}"/>
                        </a:ext>
                      </a:extLst>
                    </p:cNvPr>
                    <p:cNvSpPr txBox="1"/>
                    <p:nvPr/>
                  </p:nvSpPr>
                  <p:spPr>
                    <a:xfrm>
                      <a:off x="2605645" y="3879581"/>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𝒃</m:t>
                            </m:r>
                          </m:oMath>
                        </m:oMathPara>
                      </a14:m>
                      <a:endParaRPr lang="es-CO" sz="1600" b="1" dirty="0">
                        <a:solidFill>
                          <a:schemeClr val="tx1"/>
                        </a:solidFill>
                      </a:endParaRPr>
                    </a:p>
                  </p:txBody>
                </p:sp>
              </mc:Choice>
              <mc:Fallback>
                <p:sp>
                  <p:nvSpPr>
                    <p:cNvPr id="20" name="CuadroTexto 19">
                      <a:extLst>
                        <a:ext uri="{FF2B5EF4-FFF2-40B4-BE49-F238E27FC236}">
                          <a16:creationId xmlns:a16="http://schemas.microsoft.com/office/drawing/2014/main" id="{917496FB-EFF1-4940-9FA7-14EFE5F78C01}"/>
                        </a:ext>
                      </a:extLst>
                    </p:cNvPr>
                    <p:cNvSpPr txBox="1">
                      <a:spLocks noRot="1" noChangeAspect="1" noMove="1" noResize="1" noEditPoints="1" noAdjustHandles="1" noChangeArrowheads="1" noChangeShapeType="1" noTextEdit="1"/>
                    </p:cNvSpPr>
                    <p:nvPr/>
                  </p:nvSpPr>
                  <p:spPr>
                    <a:xfrm>
                      <a:off x="2605645" y="3879581"/>
                      <a:ext cx="403774" cy="400110"/>
                    </a:xfrm>
                    <a:prstGeom prst="rect">
                      <a:avLst/>
                    </a:prstGeom>
                    <a:blipFill>
                      <a:blip r:embed="rId22"/>
                      <a:stretch>
                        <a:fillRect l="-15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752C7202-E4BC-4FED-B725-3464D085BF58}"/>
                        </a:ext>
                      </a:extLst>
                    </p:cNvPr>
                    <p:cNvSpPr txBox="1"/>
                    <p:nvPr/>
                  </p:nvSpPr>
                  <p:spPr>
                    <a:xfrm>
                      <a:off x="2594379" y="4383512"/>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𝒄</m:t>
                            </m:r>
                          </m:oMath>
                        </m:oMathPara>
                      </a14:m>
                      <a:endParaRPr lang="es-CO" sz="1600" b="1" dirty="0">
                        <a:solidFill>
                          <a:schemeClr val="tx1"/>
                        </a:solidFill>
                      </a:endParaRPr>
                    </a:p>
                  </p:txBody>
                </p:sp>
              </mc:Choice>
              <mc:Fallback>
                <p:sp>
                  <p:nvSpPr>
                    <p:cNvPr id="21" name="CuadroTexto 20">
                      <a:extLst>
                        <a:ext uri="{FF2B5EF4-FFF2-40B4-BE49-F238E27FC236}">
                          <a16:creationId xmlns:a16="http://schemas.microsoft.com/office/drawing/2014/main" id="{752C7202-E4BC-4FED-B725-3464D085BF58}"/>
                        </a:ext>
                      </a:extLst>
                    </p:cNvPr>
                    <p:cNvSpPr txBox="1">
                      <a:spLocks noRot="1" noChangeAspect="1" noMove="1" noResize="1" noEditPoints="1" noAdjustHandles="1" noChangeArrowheads="1" noChangeShapeType="1" noTextEdit="1"/>
                    </p:cNvSpPr>
                    <p:nvPr/>
                  </p:nvSpPr>
                  <p:spPr>
                    <a:xfrm>
                      <a:off x="2594379" y="4383512"/>
                      <a:ext cx="403774" cy="400110"/>
                    </a:xfrm>
                    <a:prstGeom prst="rect">
                      <a:avLst/>
                    </a:prstGeom>
                    <a:blipFill>
                      <a:blip r:embed="rId23"/>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74293DCB-EB37-427C-83FD-221E132B07DC}"/>
                        </a:ext>
                      </a:extLst>
                    </p:cNvPr>
                    <p:cNvSpPr txBox="1"/>
                    <p:nvPr/>
                  </p:nvSpPr>
                  <p:spPr>
                    <a:xfrm>
                      <a:off x="2603417" y="4885740"/>
                      <a:ext cx="403774" cy="400110"/>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s-MX" sz="2000" b="1" i="1" smtClean="0">
                                <a:solidFill>
                                  <a:schemeClr val="tx1"/>
                                </a:solidFill>
                                <a:latin typeface="Cambria Math" panose="02040503050406030204" pitchFamily="18" charset="0"/>
                              </a:rPr>
                              <m:t>𝒅</m:t>
                            </m:r>
                          </m:oMath>
                        </m:oMathPara>
                      </a14:m>
                      <a:endParaRPr lang="es-CO" sz="1600" b="1" dirty="0">
                        <a:solidFill>
                          <a:schemeClr val="tx1"/>
                        </a:solidFill>
                      </a:endParaRPr>
                    </a:p>
                  </p:txBody>
                </p:sp>
              </mc:Choice>
              <mc:Fallback>
                <p:sp>
                  <p:nvSpPr>
                    <p:cNvPr id="24" name="CuadroTexto 23">
                      <a:extLst>
                        <a:ext uri="{FF2B5EF4-FFF2-40B4-BE49-F238E27FC236}">
                          <a16:creationId xmlns:a16="http://schemas.microsoft.com/office/drawing/2014/main" id="{74293DCB-EB37-427C-83FD-221E132B07DC}"/>
                        </a:ext>
                      </a:extLst>
                    </p:cNvPr>
                    <p:cNvSpPr txBox="1">
                      <a:spLocks noRot="1" noChangeAspect="1" noMove="1" noResize="1" noEditPoints="1" noAdjustHandles="1" noChangeArrowheads="1" noChangeShapeType="1" noTextEdit="1"/>
                    </p:cNvSpPr>
                    <p:nvPr/>
                  </p:nvSpPr>
                  <p:spPr>
                    <a:xfrm>
                      <a:off x="2603417" y="4885740"/>
                      <a:ext cx="403774" cy="400110"/>
                    </a:xfrm>
                    <a:prstGeom prst="rect">
                      <a:avLst/>
                    </a:prstGeom>
                    <a:blipFill>
                      <a:blip r:embed="rId24"/>
                      <a:stretch>
                        <a:fillRect/>
                      </a:stretch>
                    </a:blipFill>
                  </p:spPr>
                  <p:txBody>
                    <a:bodyPr/>
                    <a:lstStyle/>
                    <a:p>
                      <a:r>
                        <a:rPr lang="es-CO">
                          <a:noFill/>
                        </a:rPr>
                        <a:t> </a:t>
                      </a:r>
                    </a:p>
                  </p:txBody>
                </p:sp>
              </mc:Fallback>
            </mc:AlternateContent>
          </p:grpSp>
          <p:grpSp>
            <p:nvGrpSpPr>
              <p:cNvPr id="6" name="Grupo 5">
                <a:extLst>
                  <a:ext uri="{FF2B5EF4-FFF2-40B4-BE49-F238E27FC236}">
                    <a16:creationId xmlns:a16="http://schemas.microsoft.com/office/drawing/2014/main" id="{FDCCB6FB-A035-493B-ABD6-EE53C00EAC87}"/>
                  </a:ext>
                </a:extLst>
              </p:cNvPr>
              <p:cNvGrpSpPr/>
              <p:nvPr/>
            </p:nvGrpSpPr>
            <p:grpSpPr>
              <a:xfrm>
                <a:off x="1853571" y="3122895"/>
                <a:ext cx="935533" cy="2313589"/>
                <a:chOff x="1204578" y="3160111"/>
                <a:chExt cx="935533" cy="2313589"/>
              </a:xfrm>
            </p:grpSpPr>
            <p:sp>
              <p:nvSpPr>
                <p:cNvPr id="25" name="Elipse 24">
                  <a:extLst>
                    <a:ext uri="{FF2B5EF4-FFF2-40B4-BE49-F238E27FC236}">
                      <a16:creationId xmlns:a16="http://schemas.microsoft.com/office/drawing/2014/main" id="{9433B6A9-2FE1-4630-9A48-2D0F84CD2A5E}"/>
                    </a:ext>
                  </a:extLst>
                </p:cNvPr>
                <p:cNvSpPr/>
                <p:nvPr/>
              </p:nvSpPr>
              <p:spPr>
                <a:xfrm>
                  <a:off x="1204578" y="3160111"/>
                  <a:ext cx="935533" cy="231358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6" name="CuadroTexto 25">
                      <a:extLst>
                        <a:ext uri="{FF2B5EF4-FFF2-40B4-BE49-F238E27FC236}">
                          <a16:creationId xmlns:a16="http://schemas.microsoft.com/office/drawing/2014/main" id="{0D207E18-0E79-4440-B010-CE71715E3C82}"/>
                        </a:ext>
                      </a:extLst>
                    </p:cNvPr>
                    <p:cNvSpPr txBox="1"/>
                    <p:nvPr/>
                  </p:nvSpPr>
                  <p:spPr>
                    <a:xfrm>
                      <a:off x="1442100" y="3373778"/>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𝟏</m:t>
                            </m:r>
                          </m:oMath>
                        </m:oMathPara>
                      </a14:m>
                      <a:endParaRPr lang="es-CO" sz="1600" b="1" dirty="0">
                        <a:solidFill>
                          <a:schemeClr val="tx1"/>
                        </a:solidFill>
                      </a:endParaRPr>
                    </a:p>
                  </p:txBody>
                </p:sp>
              </mc:Choice>
              <mc:Fallback>
                <p:sp>
                  <p:nvSpPr>
                    <p:cNvPr id="26" name="CuadroTexto 25">
                      <a:extLst>
                        <a:ext uri="{FF2B5EF4-FFF2-40B4-BE49-F238E27FC236}">
                          <a16:creationId xmlns:a16="http://schemas.microsoft.com/office/drawing/2014/main" id="{0D207E18-0E79-4440-B010-CE71715E3C82}"/>
                        </a:ext>
                      </a:extLst>
                    </p:cNvPr>
                    <p:cNvSpPr txBox="1">
                      <a:spLocks noRot="1" noChangeAspect="1" noMove="1" noResize="1" noEditPoints="1" noAdjustHandles="1" noChangeArrowheads="1" noChangeShapeType="1" noTextEdit="1"/>
                    </p:cNvSpPr>
                    <p:nvPr/>
                  </p:nvSpPr>
                  <p:spPr>
                    <a:xfrm>
                      <a:off x="1442100" y="3373778"/>
                      <a:ext cx="403774" cy="400110"/>
                    </a:xfrm>
                    <a:prstGeom prst="rect">
                      <a:avLst/>
                    </a:prstGeom>
                    <a:blipFill>
                      <a:blip r:embed="rId25"/>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7" name="CuadroTexto 26">
                      <a:extLst>
                        <a:ext uri="{FF2B5EF4-FFF2-40B4-BE49-F238E27FC236}">
                          <a16:creationId xmlns:a16="http://schemas.microsoft.com/office/drawing/2014/main" id="{1356A0E6-145E-4CE2-85D1-D38B1BB45091}"/>
                        </a:ext>
                      </a:extLst>
                    </p:cNvPr>
                    <p:cNvSpPr txBox="1"/>
                    <p:nvPr/>
                  </p:nvSpPr>
                  <p:spPr>
                    <a:xfrm>
                      <a:off x="1438921" y="3879581"/>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𝟐</m:t>
                            </m:r>
                          </m:oMath>
                        </m:oMathPara>
                      </a14:m>
                      <a:endParaRPr lang="es-CO" sz="1600" b="1" dirty="0">
                        <a:solidFill>
                          <a:schemeClr val="tx1"/>
                        </a:solidFill>
                      </a:endParaRPr>
                    </a:p>
                  </p:txBody>
                </p:sp>
              </mc:Choice>
              <mc:Fallback>
                <p:sp>
                  <p:nvSpPr>
                    <p:cNvPr id="27" name="CuadroTexto 26">
                      <a:extLst>
                        <a:ext uri="{FF2B5EF4-FFF2-40B4-BE49-F238E27FC236}">
                          <a16:creationId xmlns:a16="http://schemas.microsoft.com/office/drawing/2014/main" id="{1356A0E6-145E-4CE2-85D1-D38B1BB45091}"/>
                        </a:ext>
                      </a:extLst>
                    </p:cNvPr>
                    <p:cNvSpPr txBox="1">
                      <a:spLocks noRot="1" noChangeAspect="1" noMove="1" noResize="1" noEditPoints="1" noAdjustHandles="1" noChangeArrowheads="1" noChangeShapeType="1" noTextEdit="1"/>
                    </p:cNvSpPr>
                    <p:nvPr/>
                  </p:nvSpPr>
                  <p:spPr>
                    <a:xfrm>
                      <a:off x="1438921" y="3879581"/>
                      <a:ext cx="403774" cy="400110"/>
                    </a:xfrm>
                    <a:prstGeom prst="rect">
                      <a:avLst/>
                    </a:prstGeom>
                    <a:blipFill>
                      <a:blip r:embed="rId26"/>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0080B24D-4644-42A9-8CC0-1F755792940B}"/>
                        </a:ext>
                      </a:extLst>
                    </p:cNvPr>
                    <p:cNvSpPr txBox="1"/>
                    <p:nvPr/>
                  </p:nvSpPr>
                  <p:spPr>
                    <a:xfrm>
                      <a:off x="1427655" y="4383512"/>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𝟑</m:t>
                            </m:r>
                          </m:oMath>
                        </m:oMathPara>
                      </a14:m>
                      <a:endParaRPr lang="es-CO" sz="1600" b="1" dirty="0">
                        <a:solidFill>
                          <a:schemeClr val="tx1"/>
                        </a:solidFill>
                      </a:endParaRPr>
                    </a:p>
                  </p:txBody>
                </p:sp>
              </mc:Choice>
              <mc:Fallback>
                <p:sp>
                  <p:nvSpPr>
                    <p:cNvPr id="28" name="CuadroTexto 27">
                      <a:extLst>
                        <a:ext uri="{FF2B5EF4-FFF2-40B4-BE49-F238E27FC236}">
                          <a16:creationId xmlns:a16="http://schemas.microsoft.com/office/drawing/2014/main" id="{0080B24D-4644-42A9-8CC0-1F755792940B}"/>
                        </a:ext>
                      </a:extLst>
                    </p:cNvPr>
                    <p:cNvSpPr txBox="1">
                      <a:spLocks noRot="1" noChangeAspect="1" noMove="1" noResize="1" noEditPoints="1" noAdjustHandles="1" noChangeArrowheads="1" noChangeShapeType="1" noTextEdit="1"/>
                    </p:cNvSpPr>
                    <p:nvPr/>
                  </p:nvSpPr>
                  <p:spPr>
                    <a:xfrm>
                      <a:off x="1427655" y="4383512"/>
                      <a:ext cx="403774" cy="400110"/>
                    </a:xfrm>
                    <a:prstGeom prst="rect">
                      <a:avLst/>
                    </a:prstGeom>
                    <a:blipFill>
                      <a:blip r:embed="rId27"/>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99DC82F9-877F-4F55-AE13-171B8B8411B2}"/>
                        </a:ext>
                      </a:extLst>
                    </p:cNvPr>
                    <p:cNvSpPr txBox="1"/>
                    <p:nvPr/>
                  </p:nvSpPr>
                  <p:spPr>
                    <a:xfrm>
                      <a:off x="1436693" y="4885740"/>
                      <a:ext cx="403774" cy="400110"/>
                    </a:xfrm>
                    <a:prstGeom prst="rect">
                      <a:avLst/>
                    </a:prstGeom>
                    <a:noFill/>
                  </p:spPr>
                  <p:txBody>
                    <a:bodyPr wrap="square" rtlCol="0">
                      <a:spAutoFit/>
                    </a:bodyPr>
                    <a:lstStyle/>
                    <a:p>
                      <a:pPr/>
                      <a14:m>
                        <m:oMathPara xmlns:m="http://schemas.openxmlformats.org/officeDocument/2006/math">
                          <m:oMathParaPr>
                            <m:jc m:val="right"/>
                          </m:oMathParaPr>
                          <m:oMath xmlns:m="http://schemas.openxmlformats.org/officeDocument/2006/math">
                            <m:r>
                              <a:rPr lang="es-MX" sz="2000" b="1" i="1" smtClean="0">
                                <a:solidFill>
                                  <a:schemeClr val="tx1"/>
                                </a:solidFill>
                                <a:latin typeface="Cambria Math" panose="02040503050406030204" pitchFamily="18" charset="0"/>
                              </a:rPr>
                              <m:t>𝟒</m:t>
                            </m:r>
                          </m:oMath>
                        </m:oMathPara>
                      </a14:m>
                      <a:endParaRPr lang="es-CO" sz="1600" b="1" dirty="0">
                        <a:solidFill>
                          <a:schemeClr val="tx1"/>
                        </a:solidFill>
                      </a:endParaRPr>
                    </a:p>
                  </p:txBody>
                </p:sp>
              </mc:Choice>
              <mc:Fallback>
                <p:sp>
                  <p:nvSpPr>
                    <p:cNvPr id="29" name="CuadroTexto 28">
                      <a:extLst>
                        <a:ext uri="{FF2B5EF4-FFF2-40B4-BE49-F238E27FC236}">
                          <a16:creationId xmlns:a16="http://schemas.microsoft.com/office/drawing/2014/main" id="{99DC82F9-877F-4F55-AE13-171B8B8411B2}"/>
                        </a:ext>
                      </a:extLst>
                    </p:cNvPr>
                    <p:cNvSpPr txBox="1">
                      <a:spLocks noRot="1" noChangeAspect="1" noMove="1" noResize="1" noEditPoints="1" noAdjustHandles="1" noChangeArrowheads="1" noChangeShapeType="1" noTextEdit="1"/>
                    </p:cNvSpPr>
                    <p:nvPr/>
                  </p:nvSpPr>
                  <p:spPr>
                    <a:xfrm>
                      <a:off x="1436693" y="4885740"/>
                      <a:ext cx="403774" cy="400110"/>
                    </a:xfrm>
                    <a:prstGeom prst="rect">
                      <a:avLst/>
                    </a:prstGeom>
                    <a:blipFill>
                      <a:blip r:embed="rId28"/>
                      <a:stretch>
                        <a:fillRect/>
                      </a:stretch>
                    </a:blipFill>
                  </p:spPr>
                  <p:txBody>
                    <a:bodyPr/>
                    <a:lstStyle/>
                    <a:p>
                      <a:r>
                        <a:rPr lang="es-CO">
                          <a:noFill/>
                        </a:rPr>
                        <a:t> </a:t>
                      </a:r>
                    </a:p>
                  </p:txBody>
                </p:sp>
              </mc:Fallback>
            </mc:AlternateContent>
          </p:grpSp>
          <p:cxnSp>
            <p:nvCxnSpPr>
              <p:cNvPr id="36" name="Conector recto de flecha 35">
                <a:extLst>
                  <a:ext uri="{FF2B5EF4-FFF2-40B4-BE49-F238E27FC236}">
                    <a16:creationId xmlns:a16="http://schemas.microsoft.com/office/drawing/2014/main" id="{48E554BD-12E0-4E1C-9B2F-A7269E6C25EE}"/>
                  </a:ext>
                </a:extLst>
              </p:cNvPr>
              <p:cNvCxnSpPr>
                <a:cxnSpLocks/>
                <a:endCxn id="19" idx="1"/>
              </p:cNvCxnSpPr>
              <p:nvPr/>
            </p:nvCxnSpPr>
            <p:spPr>
              <a:xfrm>
                <a:off x="2494867" y="3536617"/>
                <a:ext cx="1277144" cy="1"/>
              </a:xfrm>
              <a:prstGeom prst="straightConnector1">
                <a:avLst/>
              </a:prstGeom>
              <a:ln w="28575">
                <a:solidFill>
                  <a:srgbClr val="00206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Conector recto de flecha 37">
                <a:extLst>
                  <a:ext uri="{FF2B5EF4-FFF2-40B4-BE49-F238E27FC236}">
                    <a16:creationId xmlns:a16="http://schemas.microsoft.com/office/drawing/2014/main" id="{DEE25EDD-432F-4429-9ADD-9AD47E42A939}"/>
                  </a:ext>
                </a:extLst>
              </p:cNvPr>
              <p:cNvCxnSpPr>
                <a:cxnSpLocks/>
                <a:endCxn id="21" idx="1"/>
              </p:cNvCxnSpPr>
              <p:nvPr/>
            </p:nvCxnSpPr>
            <p:spPr>
              <a:xfrm>
                <a:off x="2501900" y="3600450"/>
                <a:ext cx="1255666" cy="945902"/>
              </a:xfrm>
              <a:prstGeom prst="straightConnector1">
                <a:avLst/>
              </a:prstGeom>
              <a:ln w="28575">
                <a:solidFill>
                  <a:srgbClr val="00206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Conector recto de flecha 42">
                <a:extLst>
                  <a:ext uri="{FF2B5EF4-FFF2-40B4-BE49-F238E27FC236}">
                    <a16:creationId xmlns:a16="http://schemas.microsoft.com/office/drawing/2014/main" id="{948E16F5-7CA8-494C-8502-27C1FE9E07C4}"/>
                  </a:ext>
                </a:extLst>
              </p:cNvPr>
              <p:cNvCxnSpPr>
                <a:cxnSpLocks/>
              </p:cNvCxnSpPr>
              <p:nvPr/>
            </p:nvCxnSpPr>
            <p:spPr>
              <a:xfrm>
                <a:off x="2491688" y="4042420"/>
                <a:ext cx="1277144" cy="1"/>
              </a:xfrm>
              <a:prstGeom prst="straightConnector1">
                <a:avLst/>
              </a:prstGeom>
              <a:ln w="28575">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ector recto de flecha 43">
                <a:extLst>
                  <a:ext uri="{FF2B5EF4-FFF2-40B4-BE49-F238E27FC236}">
                    <a16:creationId xmlns:a16="http://schemas.microsoft.com/office/drawing/2014/main" id="{2FF0AD29-8AAD-4C97-B93B-9DE008450D35}"/>
                  </a:ext>
                </a:extLst>
              </p:cNvPr>
              <p:cNvCxnSpPr>
                <a:cxnSpLocks/>
                <a:stCxn id="29" idx="3"/>
              </p:cNvCxnSpPr>
              <p:nvPr/>
            </p:nvCxnSpPr>
            <p:spPr>
              <a:xfrm flipV="1">
                <a:off x="2489460" y="4108450"/>
                <a:ext cx="1282440" cy="940129"/>
              </a:xfrm>
              <a:prstGeom prst="straightConnector1">
                <a:avLst/>
              </a:prstGeom>
              <a:ln w="28575">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4" name="Grupo 13">
              <a:extLst>
                <a:ext uri="{FF2B5EF4-FFF2-40B4-BE49-F238E27FC236}">
                  <a16:creationId xmlns:a16="http://schemas.microsoft.com/office/drawing/2014/main" id="{402F3E69-9A4E-417C-BF64-96A873131DF7}"/>
                </a:ext>
              </a:extLst>
            </p:cNvPr>
            <p:cNvGrpSpPr/>
            <p:nvPr/>
          </p:nvGrpSpPr>
          <p:grpSpPr>
            <a:xfrm>
              <a:off x="7721081" y="3362839"/>
              <a:ext cx="656306" cy="982881"/>
              <a:chOff x="7721081" y="3362839"/>
              <a:chExt cx="656306" cy="982881"/>
            </a:xfrm>
          </p:grpSpPr>
          <p:sp>
            <p:nvSpPr>
              <p:cNvPr id="66" name="Arco 65">
                <a:extLst>
                  <a:ext uri="{FF2B5EF4-FFF2-40B4-BE49-F238E27FC236}">
                    <a16:creationId xmlns:a16="http://schemas.microsoft.com/office/drawing/2014/main" id="{448A838E-DD41-408E-A1CE-3C1FE7ED5058}"/>
                  </a:ext>
                </a:extLst>
              </p:cNvPr>
              <p:cNvSpPr/>
              <p:nvPr/>
            </p:nvSpPr>
            <p:spPr>
              <a:xfrm rot="19219192">
                <a:off x="7721081" y="3756626"/>
                <a:ext cx="656306" cy="589094"/>
              </a:xfrm>
              <a:prstGeom prst="arc">
                <a:avLst>
                  <a:gd name="adj1" fmla="val 15245008"/>
                  <a:gd name="adj2" fmla="val 0"/>
                </a:avLst>
              </a:prstGeom>
              <a:ln w="381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46766218-10D3-4B15-9A6A-BDA4E5520AD7}"/>
                      </a:ext>
                    </a:extLst>
                  </p:cNvPr>
                  <p:cNvSpPr txBox="1"/>
                  <p:nvPr/>
                </p:nvSpPr>
                <p:spPr>
                  <a:xfrm>
                    <a:off x="7764293" y="3362839"/>
                    <a:ext cx="533562" cy="407099"/>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p>
                            <m:sSupPr>
                              <m:ctrlPr>
                                <a:rPr lang="es-MX" sz="2000" b="1" i="1" smtClean="0">
                                  <a:solidFill>
                                    <a:schemeClr val="tx1"/>
                                  </a:solidFill>
                                  <a:latin typeface="Cambria Math" panose="02040503050406030204" pitchFamily="18" charset="0"/>
                                </a:rPr>
                              </m:ctrlPr>
                            </m:sSupPr>
                            <m:e>
                              <m:r>
                                <a:rPr lang="es-MX" sz="2000" b="1" i="1" smtClean="0">
                                  <a:solidFill>
                                    <a:schemeClr val="tx1"/>
                                  </a:solidFill>
                                  <a:latin typeface="Cambria Math" panose="02040503050406030204" pitchFamily="18" charset="0"/>
                                </a:rPr>
                                <m:t>𝑹</m:t>
                              </m:r>
                            </m:e>
                            <m:sup>
                              <m:r>
                                <a:rPr lang="es-MX" sz="2000" b="1" i="1" smtClean="0">
                                  <a:solidFill>
                                    <a:schemeClr val="tx1"/>
                                  </a:solidFill>
                                  <a:latin typeface="Cambria Math" panose="02040503050406030204" pitchFamily="18" charset="0"/>
                                </a:rPr>
                                <m:t>−</m:t>
                              </m:r>
                              <m:r>
                                <a:rPr lang="es-MX" sz="2000" b="1" i="1" smtClean="0">
                                  <a:solidFill>
                                    <a:schemeClr val="tx1"/>
                                  </a:solidFill>
                                  <a:latin typeface="Cambria Math" panose="02040503050406030204" pitchFamily="18" charset="0"/>
                                </a:rPr>
                                <m:t>𝟏</m:t>
                              </m:r>
                            </m:sup>
                          </m:sSup>
                        </m:oMath>
                      </m:oMathPara>
                    </a14:m>
                    <a:endParaRPr lang="es-CO" sz="1600" b="1" dirty="0">
                      <a:solidFill>
                        <a:schemeClr val="tx1"/>
                      </a:solidFill>
                    </a:endParaRPr>
                  </a:p>
                </p:txBody>
              </p:sp>
            </mc:Choice>
            <mc:Fallback>
              <p:sp>
                <p:nvSpPr>
                  <p:cNvPr id="68" name="CuadroTexto 67">
                    <a:extLst>
                      <a:ext uri="{FF2B5EF4-FFF2-40B4-BE49-F238E27FC236}">
                        <a16:creationId xmlns:a16="http://schemas.microsoft.com/office/drawing/2014/main" id="{46766218-10D3-4B15-9A6A-BDA4E5520AD7}"/>
                      </a:ext>
                    </a:extLst>
                  </p:cNvPr>
                  <p:cNvSpPr txBox="1">
                    <a:spLocks noRot="1" noChangeAspect="1" noMove="1" noResize="1" noEditPoints="1" noAdjustHandles="1" noChangeArrowheads="1" noChangeShapeType="1" noTextEdit="1"/>
                  </p:cNvSpPr>
                  <p:nvPr/>
                </p:nvSpPr>
                <p:spPr>
                  <a:xfrm>
                    <a:off x="7764293" y="3362839"/>
                    <a:ext cx="533562" cy="407099"/>
                  </a:xfrm>
                  <a:prstGeom prst="rect">
                    <a:avLst/>
                  </a:prstGeom>
                  <a:blipFill>
                    <a:blip r:embed="rId29"/>
                    <a:stretch>
                      <a:fillRect r="-10345"/>
                    </a:stretch>
                  </a:blipFill>
                </p:spPr>
                <p:txBody>
                  <a:bodyPr/>
                  <a:lstStyle/>
                  <a:p>
                    <a:r>
                      <a:rPr lang="es-CO">
                        <a:noFill/>
                      </a:rPr>
                      <a:t> </a:t>
                    </a:r>
                  </a:p>
                </p:txBody>
              </p:sp>
            </mc:Fallback>
          </mc:AlternateContent>
        </p:grpSp>
      </p:grpSp>
    </p:spTree>
    <p:extLst>
      <p:ext uri="{BB962C8B-B14F-4D97-AF65-F5344CB8AC3E}">
        <p14:creationId xmlns:p14="http://schemas.microsoft.com/office/powerpoint/2010/main" val="3814943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8</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0" y="1301870"/>
                <a:ext cx="11342559" cy="28510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2,3,4</m:t>
                        </m:r>
                      </m:e>
                    </m:d>
                  </m:oMath>
                </a14:m>
                <a:r>
                  <a:rPr lang="es-MX" sz="2000" dirty="0">
                    <a:latin typeface="+mn-lt"/>
                    <a:ea typeface="Roboto" panose="02000000000000000000" pitchFamily="2" charset="0"/>
                  </a:rPr>
                  <a:t> y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𝐵</m:t>
                    </m:r>
                    <m:r>
                      <a:rPr lang="es-MX" sz="2000" i="1">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2,6,8</m:t>
                        </m:r>
                      </m:e>
                    </m:d>
                  </m:oMath>
                </a14:m>
                <a:r>
                  <a:rPr lang="es-MX" sz="2000" dirty="0">
                    <a:latin typeface="+mn-lt"/>
                    <a:ea typeface="Roboto" panose="02000000000000000000" pitchFamily="2" charset="0"/>
                  </a:rPr>
                  <a:t> y sea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𝑅</m:t>
                    </m:r>
                    <m:r>
                      <a:rPr lang="es-MX" sz="2000" i="1">
                        <a:solidFill>
                          <a:schemeClr val="tx1"/>
                        </a:solidFill>
                        <a:latin typeface="Cambria Math" panose="02040503050406030204" pitchFamily="18" charset="0"/>
                        <a:ea typeface="Roboto" panose="02000000000000000000" pitchFamily="2" charset="0"/>
                      </a:rPr>
                      <m:t> </m:t>
                    </m:r>
                  </m:oMath>
                </a14:m>
                <a:r>
                  <a:rPr lang="es-MX" sz="2000" dirty="0">
                    <a:latin typeface="+mn-lt"/>
                    <a:ea typeface="Roboto" panose="02000000000000000000" pitchFamily="2" charset="0"/>
                  </a:rPr>
                  <a:t>la relación “divide” de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𝐴</m:t>
                    </m:r>
                    <m:r>
                      <a:rPr lang="es-MX" sz="2000" i="1">
                        <a:solidFill>
                          <a:schemeClr val="tx1"/>
                        </a:solidFill>
                        <a:latin typeface="Cambria Math" panose="02040503050406030204" pitchFamily="18" charset="0"/>
                        <a:ea typeface="Roboto" panose="02000000000000000000" pitchFamily="2" charset="0"/>
                      </a:rPr>
                      <m:t> </m:t>
                    </m:r>
                  </m:oMath>
                </a14:m>
                <a:r>
                  <a:rPr lang="es-MX" sz="2000" dirty="0">
                    <a:latin typeface="+mn-lt"/>
                    <a:ea typeface="Roboto" panose="02000000000000000000" pitchFamily="2" charset="0"/>
                  </a:rPr>
                  <a:t>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Para toda </a:t>
                </a:r>
                <a14:m>
                  <m:oMath xmlns:m="http://schemas.openxmlformats.org/officeDocument/2006/math">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𝑥</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𝑦</m:t>
                        </m:r>
                      </m:e>
                    </m:d>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a:t>
                </a:r>
              </a:p>
              <a:p>
                <a:pPr marL="127000" indent="0">
                  <a:buNone/>
                </a:pPr>
                <a:endParaRPr lang="es-MX" sz="2000" b="1" dirty="0">
                  <a:solidFill>
                    <a:schemeClr val="tx1"/>
                  </a:solidFill>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𝑥</m:t>
                      </m:r>
                      <m:r>
                        <m:rPr>
                          <m:lit/>
                        </m:rP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Roboto" panose="02000000000000000000" pitchFamily="2" charset="0"/>
                        </a:rPr>
                        <m:t>𝑅</m:t>
                      </m:r>
                      <m:r>
                        <m:rPr>
                          <m:lit/>
                        </m:rP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Roboto" panose="02000000000000000000" pitchFamily="2" charset="0"/>
                        </a:rPr>
                        <m:t>𝑦</m:t>
                      </m:r>
                      <m: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Cambria Math" panose="02040503050406030204" pitchFamily="18" charset="0"/>
                        </a:rPr>
                        <m:t>𝑥</m:t>
                      </m:r>
                      <m:r>
                        <a:rPr lang="es-MX" sz="2000" b="0" i="1" smtClean="0">
                          <a:solidFill>
                            <a:schemeClr val="tx1"/>
                          </a:solidFill>
                          <a:latin typeface="Cambria Math" panose="02040503050406030204" pitchFamily="18" charset="0"/>
                          <a:ea typeface="Cambria Math" panose="02040503050406030204" pitchFamily="18" charset="0"/>
                        </a:rPr>
                        <m:t>|</m:t>
                      </m:r>
                      <m:r>
                        <a:rPr lang="es-MX" sz="2000" b="0" i="1" smtClean="0">
                          <a:solidFill>
                            <a:schemeClr val="tx1"/>
                          </a:solidFill>
                          <a:latin typeface="Cambria Math" panose="02040503050406030204" pitchFamily="18" charset="0"/>
                          <a:ea typeface="Cambria Math" panose="02040503050406030204" pitchFamily="18" charset="0"/>
                        </a:rPr>
                        <m:t>𝑦</m:t>
                      </m:r>
                      <m:r>
                        <m:rPr>
                          <m:lit/>
                        </m:rPr>
                        <a:rPr lang="es-MX" sz="2000" b="0" i="1" smtClean="0">
                          <a:solidFill>
                            <a:schemeClr val="tx1"/>
                          </a:solidFill>
                          <a:latin typeface="Cambria Math" panose="02040503050406030204" pitchFamily="18" charset="0"/>
                          <a:ea typeface="Cambria Math" panose="02040503050406030204" pitchFamily="18" charset="0"/>
                        </a:rPr>
                        <m:t>          </m:t>
                      </m:r>
                      <m:r>
                        <a:rPr lang="es-MX" sz="2000" b="0" i="1" smtClean="0">
                          <a:solidFill>
                            <a:schemeClr val="accent1"/>
                          </a:solidFill>
                          <a:latin typeface="Cambria Math" panose="02040503050406030204" pitchFamily="18" charset="0"/>
                          <a:ea typeface="Cambria Math" panose="02040503050406030204" pitchFamily="18" charset="0"/>
                        </a:rPr>
                        <m:t>𝑥</m:t>
                      </m:r>
                      <m:r>
                        <a:rPr lang="es-MX" sz="2000" b="0" i="1" smtClean="0">
                          <a:solidFill>
                            <a:schemeClr val="accent1"/>
                          </a:solidFill>
                          <a:latin typeface="Cambria Math" panose="02040503050406030204" pitchFamily="18" charset="0"/>
                          <a:ea typeface="Cambria Math" panose="02040503050406030204" pitchFamily="18" charset="0"/>
                        </a:rPr>
                        <m:t> </m:t>
                      </m:r>
                      <m:r>
                        <m:rPr>
                          <m:sty m:val="p"/>
                        </m:rPr>
                        <a:rPr lang="es-MX" sz="2000" b="0" i="0" smtClean="0">
                          <a:solidFill>
                            <a:schemeClr val="accent1"/>
                          </a:solidFill>
                          <a:latin typeface="Cambria Math" panose="02040503050406030204" pitchFamily="18" charset="0"/>
                          <a:ea typeface="Cambria Math" panose="02040503050406030204" pitchFamily="18" charset="0"/>
                        </a:rPr>
                        <m:t>divide</m:t>
                      </m:r>
                      <m:r>
                        <a:rPr lang="es-MX" sz="2000" b="0" i="1" smtClean="0">
                          <a:solidFill>
                            <a:schemeClr val="accent1"/>
                          </a:solidFill>
                          <a:latin typeface="Cambria Math" panose="02040503050406030204" pitchFamily="18" charset="0"/>
                          <a:ea typeface="Cambria Math" panose="02040503050406030204" pitchFamily="18" charset="0"/>
                        </a:rPr>
                        <m:t> </m:t>
                      </m:r>
                      <m:r>
                        <a:rPr lang="es-MX" sz="2000" b="0" i="1" smtClean="0">
                          <a:solidFill>
                            <a:schemeClr val="accent1"/>
                          </a:solidFill>
                          <a:latin typeface="Cambria Math" panose="02040503050406030204" pitchFamily="18" charset="0"/>
                          <a:ea typeface="Cambria Math" panose="02040503050406030204" pitchFamily="18" charset="0"/>
                        </a:rPr>
                        <m:t>𝑦</m:t>
                      </m:r>
                    </m:oMath>
                  </m:oMathPara>
                </a14:m>
                <a:endParaRPr lang="es-MX" sz="2000" b="0" dirty="0">
                  <a:solidFill>
                    <a:schemeClr val="accent1"/>
                  </a:solidFill>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584200" indent="-457200">
                  <a:buFont typeface="+mj-lt"/>
                  <a:buAutoNum type="alphaLcPeriod"/>
                </a:pPr>
                <a:r>
                  <a:rPr lang="es-MX" sz="2000" dirty="0">
                    <a:latin typeface="+mn-lt"/>
                    <a:ea typeface="Roboto" panose="02000000000000000000" pitchFamily="2" charset="0"/>
                  </a:rPr>
                  <a:t>Establezca explícitamente que pares ordenados están en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y </a:t>
                </a:r>
                <a14:m>
                  <m:oMath xmlns:m="http://schemas.openxmlformats.org/officeDocument/2006/math">
                    <m:sSup>
                      <m:sSupPr>
                        <m:ctrlPr>
                          <a:rPr lang="es-MX" sz="2000" b="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b="0" i="1" smtClean="0">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y dibuje los diagramas de flechas para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y </a:t>
                </a:r>
                <a14:m>
                  <m:oMath xmlns:m="http://schemas.openxmlformats.org/officeDocument/2006/math">
                    <m:sSup>
                      <m:sSupPr>
                        <m:ctrlPr>
                          <a:rPr lang="es-MX" sz="2000" i="1">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a:t>
                </a:r>
              </a:p>
              <a:p>
                <a:pPr marL="584200" indent="-457200">
                  <a:buFont typeface="+mj-lt"/>
                  <a:buAutoNum type="alphaLcPeriod"/>
                </a:pPr>
                <a:r>
                  <a:rPr lang="es-MX" sz="2000" dirty="0">
                    <a:latin typeface="+mn-lt"/>
                    <a:ea typeface="Roboto" panose="02000000000000000000" pitchFamily="2" charset="0"/>
                  </a:rPr>
                  <a:t>Describa </a:t>
                </a:r>
                <a14:m>
                  <m:oMath xmlns:m="http://schemas.openxmlformats.org/officeDocument/2006/math">
                    <m:sSup>
                      <m:sSupPr>
                        <m:ctrlPr>
                          <a:rPr lang="es-MX" sz="200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en palabras.</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0" y="1301870"/>
                <a:ext cx="11342559" cy="2851030"/>
              </a:xfrm>
              <a:prstGeom prst="rect">
                <a:avLst/>
              </a:prstGeom>
              <a:blipFill>
                <a:blip r:embed="rId3"/>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4074380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4722" y="780067"/>
            <a:ext cx="1134255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8 - Solución</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24720" y="1301870"/>
                <a:ext cx="11552651"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84200" indent="-457200">
                  <a:buFont typeface="+mj-lt"/>
                  <a:buAutoNum type="alphaLcPeriod"/>
                </a:pPr>
                <a:r>
                  <a:rPr lang="es-MX" sz="2000" dirty="0">
                    <a:latin typeface="+mn-lt"/>
                    <a:ea typeface="Roboto" panose="02000000000000000000" pitchFamily="2" charset="0"/>
                  </a:rPr>
                  <a:t>Tenemos que para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2,3,4</m:t>
                        </m:r>
                      </m:e>
                    </m:d>
                  </m:oMath>
                </a14:m>
                <a:r>
                  <a:rPr lang="es-MX" sz="2000" b="0" i="1" dirty="0">
                    <a:solidFill>
                      <a:schemeClr val="tx1"/>
                    </a:solidFill>
                    <a:latin typeface="+mn-lt"/>
                    <a:ea typeface="Roboto" panose="02000000000000000000" pitchFamily="2" charset="0"/>
                  </a:rPr>
                  <a:t> </a:t>
                </a:r>
                <a:r>
                  <a:rPr lang="es-MX" sz="2000" dirty="0">
                    <a:latin typeface="+mn-lt"/>
                    <a:ea typeface="Roboto" panose="02000000000000000000" pitchFamily="2" charset="0"/>
                  </a:rPr>
                  <a:t>y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𝐵</m:t>
                    </m:r>
                    <m:r>
                      <a:rPr lang="es-MX" sz="2000" i="1">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2,6,8</m:t>
                        </m:r>
                      </m:e>
                    </m:d>
                  </m:oMath>
                </a14:m>
                <a:r>
                  <a:rPr lang="es-MX" sz="2000" dirty="0">
                    <a:latin typeface="+mn-lt"/>
                    <a:ea typeface="Roboto" panose="02000000000000000000" pitchFamily="2" charset="0"/>
                  </a:rPr>
                  <a:t>:</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424720" y="1301870"/>
                <a:ext cx="11552651" cy="530942"/>
              </a:xfrm>
              <a:prstGeom prst="rect">
                <a:avLst/>
              </a:prstGeom>
              <a:blipFill>
                <a:blip r:embed="rId3"/>
                <a:stretch>
                  <a:fillRect b="-13793"/>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3C8D6B1D-3471-4CFD-BE6C-07A5C6F70939}"/>
                  </a:ext>
                </a:extLst>
              </p:cNvPr>
              <p:cNvSpPr txBox="1"/>
              <p:nvPr/>
            </p:nvSpPr>
            <p:spPr>
              <a:xfrm>
                <a:off x="1383548" y="4308204"/>
                <a:ext cx="3430963" cy="369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1800" b="0" i="1" smtClean="0">
                          <a:solidFill>
                            <a:schemeClr val="tx1"/>
                          </a:solidFill>
                          <a:latin typeface="Cambria Math" panose="02040503050406030204" pitchFamily="18" charset="0"/>
                        </a:rPr>
                        <m:t>𝑅</m:t>
                      </m:r>
                      <m:r>
                        <a:rPr lang="es-MX" sz="1800" b="0" i="1" smtClean="0">
                          <a:solidFill>
                            <a:schemeClr val="tx1"/>
                          </a:solidFill>
                          <a:latin typeface="Cambria Math" panose="02040503050406030204" pitchFamily="18" charset="0"/>
                        </a:rPr>
                        <m:t>=</m:t>
                      </m:r>
                      <m:d>
                        <m:dPr>
                          <m:begChr m:val="{"/>
                          <m:endChr m:val="}"/>
                          <m:ctrlPr>
                            <a:rPr lang="es-MX" sz="1800" b="0" i="1" smtClean="0">
                              <a:solidFill>
                                <a:schemeClr val="tx1"/>
                              </a:solidFill>
                              <a:latin typeface="Cambria Math" panose="02040503050406030204" pitchFamily="18" charset="0"/>
                            </a:rPr>
                          </m:ctrlPr>
                        </m:dPr>
                        <m:e>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𝑥</m:t>
                              </m:r>
                              <m:r>
                                <a:rPr lang="es-MX" sz="1800" b="0" i="1" smtClean="0">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𝑦</m:t>
                              </m:r>
                            </m:e>
                          </m:d>
                        </m:e>
                        <m:e>
                          <m:r>
                            <m:rPr>
                              <m:sty m:val="p"/>
                            </m:rPr>
                            <a:rPr lang="es-MX" sz="1800" b="0" i="0" smtClean="0">
                              <a:solidFill>
                                <a:schemeClr val="tx1"/>
                              </a:solidFill>
                              <a:latin typeface="Cambria Math" panose="02040503050406030204" pitchFamily="18" charset="0"/>
                            </a:rPr>
                            <m:t>y</m:t>
                          </m:r>
                          <m:r>
                            <m:rPr>
                              <m:lit/>
                            </m:rPr>
                            <a:rPr lang="es-MX" sz="1800" b="0" i="0" smtClean="0">
                              <a:solidFill>
                                <a:schemeClr val="tx1"/>
                              </a:solidFill>
                              <a:latin typeface="Cambria Math" panose="02040503050406030204" pitchFamily="18" charset="0"/>
                            </a:rPr>
                            <m:t> </m:t>
                          </m:r>
                          <m:r>
                            <m:rPr>
                              <m:sty m:val="p"/>
                            </m:rPr>
                            <a:rPr lang="es-MX" sz="1800" b="0" i="0" smtClean="0">
                              <a:solidFill>
                                <a:schemeClr val="tx1"/>
                              </a:solidFill>
                              <a:latin typeface="Cambria Math" panose="02040503050406030204" pitchFamily="18" charset="0"/>
                            </a:rPr>
                            <m:t>mod</m:t>
                          </m:r>
                          <m:r>
                            <m:rPr>
                              <m:lit/>
                            </m:rPr>
                            <a:rPr lang="es-MX" sz="1800" b="0" i="0" smtClean="0">
                              <a:solidFill>
                                <a:schemeClr val="tx1"/>
                              </a:solidFill>
                              <a:latin typeface="Cambria Math" panose="02040503050406030204" pitchFamily="18" charset="0"/>
                            </a:rPr>
                            <m:t> </m:t>
                          </m:r>
                          <m:r>
                            <a:rPr lang="es-MX" sz="1800" b="0" i="1" smtClean="0">
                              <a:solidFill>
                                <a:schemeClr val="tx1"/>
                              </a:solidFill>
                              <a:latin typeface="Cambria Math" panose="02040503050406030204" pitchFamily="18" charset="0"/>
                            </a:rPr>
                            <m:t>𝑥</m:t>
                          </m:r>
                          <m:r>
                            <a:rPr lang="es-MX" sz="1800" b="0" i="1" smtClean="0">
                              <a:solidFill>
                                <a:schemeClr val="tx1"/>
                              </a:solidFill>
                              <a:latin typeface="Cambria Math" panose="02040503050406030204" pitchFamily="18" charset="0"/>
                            </a:rPr>
                            <m:t>=0</m:t>
                          </m:r>
                        </m:e>
                      </m:d>
                    </m:oMath>
                  </m:oMathPara>
                </a14:m>
                <a:endParaRPr lang="es-CO" sz="1800" dirty="0">
                  <a:solidFill>
                    <a:schemeClr val="tx1"/>
                  </a:solidFill>
                </a:endParaRPr>
              </a:p>
            </p:txBody>
          </p:sp>
        </mc:Choice>
        <mc:Fallback xmlns="">
          <p:sp>
            <p:nvSpPr>
              <p:cNvPr id="5" name="CuadroTexto 4">
                <a:extLst>
                  <a:ext uri="{FF2B5EF4-FFF2-40B4-BE49-F238E27FC236}">
                    <a16:creationId xmlns:a16="http://schemas.microsoft.com/office/drawing/2014/main" id="{3C8D6B1D-3471-4CFD-BE6C-07A5C6F70939}"/>
                  </a:ext>
                </a:extLst>
              </p:cNvPr>
              <p:cNvSpPr txBox="1">
                <a:spLocks noRot="1" noChangeAspect="1" noMove="1" noResize="1" noEditPoints="1" noAdjustHandles="1" noChangeArrowheads="1" noChangeShapeType="1" noTextEdit="1"/>
              </p:cNvSpPr>
              <p:nvPr/>
            </p:nvSpPr>
            <p:spPr>
              <a:xfrm>
                <a:off x="1383548" y="4308204"/>
                <a:ext cx="3430963" cy="369331"/>
              </a:xfrm>
              <a:prstGeom prst="rect">
                <a:avLst/>
              </a:prstGeom>
              <a:blipFill>
                <a:blip r:embed="rId4"/>
                <a:stretch>
                  <a:fillRect b="-666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DB7032E9-BAC7-4C4B-A4F9-2AC976330112}"/>
                  </a:ext>
                </a:extLst>
              </p:cNvPr>
              <p:cNvSpPr txBox="1"/>
              <p:nvPr/>
            </p:nvSpPr>
            <p:spPr>
              <a:xfrm>
                <a:off x="6592732" y="4356589"/>
                <a:ext cx="3613086" cy="37555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MX" sz="1800" b="0" i="1" smtClean="0">
                              <a:solidFill>
                                <a:schemeClr val="tx1"/>
                              </a:solidFill>
                              <a:latin typeface="Cambria Math" panose="02040503050406030204" pitchFamily="18" charset="0"/>
                            </a:rPr>
                          </m:ctrlPr>
                        </m:sSupPr>
                        <m:e>
                          <m:r>
                            <a:rPr lang="es-MX" sz="1800" b="0" i="1" smtClean="0">
                              <a:solidFill>
                                <a:schemeClr val="tx1"/>
                              </a:solidFill>
                              <a:latin typeface="Cambria Math" panose="02040503050406030204" pitchFamily="18" charset="0"/>
                            </a:rPr>
                            <m:t>𝑅</m:t>
                          </m:r>
                        </m:e>
                        <m:sup>
                          <m:r>
                            <a:rPr lang="es-MX" sz="1800" b="0" i="1" smtClean="0">
                              <a:solidFill>
                                <a:schemeClr val="tx1"/>
                              </a:solidFill>
                              <a:latin typeface="Cambria Math" panose="02040503050406030204" pitchFamily="18" charset="0"/>
                            </a:rPr>
                            <m:t>−1</m:t>
                          </m:r>
                        </m:sup>
                      </m:sSup>
                      <m:r>
                        <a:rPr lang="es-MX" sz="1800" b="0" i="1" smtClean="0">
                          <a:solidFill>
                            <a:schemeClr val="tx1"/>
                          </a:solidFill>
                          <a:latin typeface="Cambria Math" panose="02040503050406030204" pitchFamily="18" charset="0"/>
                        </a:rPr>
                        <m:t>=</m:t>
                      </m:r>
                      <m:d>
                        <m:dPr>
                          <m:begChr m:val="{"/>
                          <m:endChr m:val="}"/>
                          <m:ctrlPr>
                            <a:rPr lang="es-MX" sz="1800" b="0" i="1" smtClean="0">
                              <a:solidFill>
                                <a:schemeClr val="tx1"/>
                              </a:solidFill>
                              <a:latin typeface="Cambria Math" panose="02040503050406030204" pitchFamily="18" charset="0"/>
                            </a:rPr>
                          </m:ctrlPr>
                        </m:dPr>
                        <m:e>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𝑦</m:t>
                              </m:r>
                              <m:r>
                                <a:rPr lang="es-MX" sz="1800" b="0" i="1" smtClean="0">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𝑥</m:t>
                              </m:r>
                            </m:e>
                          </m:d>
                        </m:e>
                        <m:e>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𝑥</m:t>
                              </m:r>
                              <m:r>
                                <a:rPr lang="es-MX" sz="1800" b="0" i="1" smtClean="0">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𝑦</m:t>
                              </m:r>
                            </m:e>
                          </m:d>
                          <m:r>
                            <a:rPr lang="es-MX" sz="1800" b="0" i="1" smtClean="0">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𝑅</m:t>
                          </m:r>
                        </m:e>
                      </m:d>
                    </m:oMath>
                  </m:oMathPara>
                </a14:m>
                <a:endParaRPr lang="es-CO" sz="1800" dirty="0">
                  <a:solidFill>
                    <a:schemeClr val="tx1"/>
                  </a:solidFill>
                </a:endParaRPr>
              </a:p>
            </p:txBody>
          </p:sp>
        </mc:Choice>
        <mc:Fallback xmlns="">
          <p:sp>
            <p:nvSpPr>
              <p:cNvPr id="6" name="CuadroTexto 5">
                <a:extLst>
                  <a:ext uri="{FF2B5EF4-FFF2-40B4-BE49-F238E27FC236}">
                    <a16:creationId xmlns:a16="http://schemas.microsoft.com/office/drawing/2014/main" id="{DB7032E9-BAC7-4C4B-A4F9-2AC976330112}"/>
                  </a:ext>
                </a:extLst>
              </p:cNvPr>
              <p:cNvSpPr txBox="1">
                <a:spLocks noRot="1" noChangeAspect="1" noMove="1" noResize="1" noEditPoints="1" noAdjustHandles="1" noChangeArrowheads="1" noChangeShapeType="1" noTextEdit="1"/>
              </p:cNvSpPr>
              <p:nvPr/>
            </p:nvSpPr>
            <p:spPr>
              <a:xfrm>
                <a:off x="6592732" y="4356589"/>
                <a:ext cx="3613086" cy="375552"/>
              </a:xfrm>
              <a:prstGeom prst="rect">
                <a:avLst/>
              </a:prstGeom>
              <a:blipFill>
                <a:blip r:embed="rId5"/>
                <a:stretch>
                  <a:fillRect b="-65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 name="Google Shape;310;p34">
                <a:extLst>
                  <a:ext uri="{FF2B5EF4-FFF2-40B4-BE49-F238E27FC236}">
                    <a16:creationId xmlns:a16="http://schemas.microsoft.com/office/drawing/2014/main" id="{76D6224B-81F4-4CFC-AAE7-D6163BF9C28C}"/>
                  </a:ext>
                </a:extLst>
              </p:cNvPr>
              <p:cNvSpPr txBox="1">
                <a:spLocks/>
              </p:cNvSpPr>
              <p:nvPr/>
            </p:nvSpPr>
            <p:spPr>
              <a:xfrm>
                <a:off x="499443" y="5290658"/>
                <a:ext cx="11552651" cy="136246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84200" indent="-457200">
                  <a:buFont typeface="+mj-lt"/>
                  <a:buAutoNum type="alphaLcPeriod" startAt="2"/>
                </a:pPr>
                <a:r>
                  <a:rPr lang="es-MX" sz="2000" dirty="0">
                    <a:latin typeface="+mn-lt"/>
                    <a:ea typeface="Roboto" panose="02000000000000000000" pitchFamily="2" charset="0"/>
                  </a:rPr>
                  <a:t>Para el caso podemos ver que: Para toda </a:t>
                </a:r>
                <a14:m>
                  <m:oMath xmlns:m="http://schemas.openxmlformats.org/officeDocument/2006/math">
                    <m:d>
                      <m:dPr>
                        <m:ctrlPr>
                          <a:rPr lang="es-MX" sz="2000" i="1">
                            <a:solidFill>
                              <a:schemeClr val="tx1"/>
                            </a:solidFill>
                            <a:latin typeface="Cambria Math" panose="02040503050406030204" pitchFamily="18" charset="0"/>
                            <a:ea typeface="Roboto" panose="02000000000000000000" pitchFamily="2" charset="0"/>
                          </a:rPr>
                        </m:ctrlPr>
                      </m:dPr>
                      <m:e>
                        <m:r>
                          <a:rPr lang="es-MX" sz="2000" i="1">
                            <a:solidFill>
                              <a:schemeClr val="tx1"/>
                            </a:solidFill>
                            <a:latin typeface="Cambria Math" panose="02040503050406030204" pitchFamily="18" charset="0"/>
                            <a:ea typeface="Roboto" panose="02000000000000000000" pitchFamily="2" charset="0"/>
                          </a:rPr>
                          <m:t>𝑥</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𝑦</m:t>
                        </m:r>
                      </m:e>
                    </m:d>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𝐴</m:t>
                    </m:r>
                    <m:r>
                      <a:rPr lang="es-MX" sz="2000" i="1">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Roboto" panose="02000000000000000000" pitchFamily="2" charset="0"/>
                      </a:rPr>
                      <m:t>𝐵</m:t>
                    </m:r>
                  </m:oMath>
                </a14:m>
                <a:r>
                  <a:rPr lang="es-MX" sz="2000" dirty="0">
                    <a:latin typeface="+mn-lt"/>
                    <a:ea typeface="Roboto" panose="02000000000000000000" pitchFamily="2" charset="0"/>
                  </a:rPr>
                  <a:t>,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𝑦</m:t>
                    </m:r>
                    <m:r>
                      <m:rPr>
                        <m:lit/>
                      </m:rPr>
                      <a:rPr lang="es-MX" sz="2000" b="0" i="1" smtClean="0">
                        <a:solidFill>
                          <a:schemeClr val="tx1"/>
                        </a:solidFill>
                        <a:latin typeface="Cambria Math" panose="02040503050406030204" pitchFamily="18" charset="0"/>
                        <a:ea typeface="Roboto" panose="02000000000000000000" pitchFamily="2" charset="0"/>
                      </a:rPr>
                      <m:t> </m:t>
                    </m:r>
                    <m:sSup>
                      <m:sSupPr>
                        <m:ctrlPr>
                          <a:rPr lang="es-MX" sz="2000" b="0" i="1" smtClean="0">
                            <a:solidFill>
                              <a:schemeClr val="tx1"/>
                            </a:solidFill>
                            <a:latin typeface="Cambria Math" panose="02040503050406030204" pitchFamily="18" charset="0"/>
                            <a:ea typeface="Roboto" panose="02000000000000000000" pitchFamily="2" charset="0"/>
                          </a:rPr>
                        </m:ctrlPr>
                      </m:sSupPr>
                      <m:e>
                        <m:r>
                          <a:rPr lang="es-MX" sz="2000" b="0" i="1" smtClean="0">
                            <a:solidFill>
                              <a:schemeClr val="tx1"/>
                            </a:solidFill>
                            <a:latin typeface="Cambria Math" panose="02040503050406030204" pitchFamily="18" charset="0"/>
                            <a:ea typeface="Roboto" panose="02000000000000000000" pitchFamily="2" charset="0"/>
                          </a:rPr>
                          <m:t>𝑅</m:t>
                        </m:r>
                      </m:e>
                      <m:sup>
                        <m:r>
                          <a:rPr lang="es-MX" sz="2000" b="0" i="1" smtClean="0">
                            <a:solidFill>
                              <a:schemeClr val="tx1"/>
                            </a:solidFill>
                            <a:latin typeface="Cambria Math" panose="02040503050406030204" pitchFamily="18" charset="0"/>
                            <a:ea typeface="Roboto" panose="02000000000000000000" pitchFamily="2" charset="0"/>
                          </a:rPr>
                          <m:t>−1</m:t>
                        </m:r>
                      </m:sup>
                    </m:sSup>
                    <m:r>
                      <m:rPr>
                        <m:lit/>
                      </m:rP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Roboto" panose="02000000000000000000" pitchFamily="2" charset="0"/>
                      </a:rPr>
                      <m:t>𝑥</m:t>
                    </m:r>
                    <m:r>
                      <a:rPr lang="es-MX" sz="2000" b="0" i="1" smtClean="0">
                        <a:solidFill>
                          <a:schemeClr val="tx1"/>
                        </a:solidFill>
                        <a:latin typeface="Cambria Math" panose="02040503050406030204" pitchFamily="18" charset="0"/>
                        <a:ea typeface="Roboto" panose="02000000000000000000" pitchFamily="2" charset="0"/>
                      </a:rPr>
                      <m:t> ⟺</m:t>
                    </m:r>
                    <m:r>
                      <a:rPr lang="es-MX" sz="2000" i="1">
                        <a:solidFill>
                          <a:schemeClr val="tx1"/>
                        </a:solidFill>
                        <a:latin typeface="Cambria Math" panose="02040503050406030204" pitchFamily="18" charset="0"/>
                      </a:rPr>
                      <m:t>𝑦</m:t>
                    </m:r>
                    <m:r>
                      <a:rPr lang="es-MX" sz="2000" i="1">
                        <a:solidFill>
                          <a:schemeClr val="tx1"/>
                        </a:solidFill>
                        <a:latin typeface="Cambria Math" panose="02040503050406030204" pitchFamily="18" charset="0"/>
                      </a:rPr>
                      <m:t> </m:t>
                    </m:r>
                    <m:r>
                      <m:rPr>
                        <m:sty m:val="p"/>
                      </m:rPr>
                      <a:rPr lang="es-MX" sz="2000">
                        <a:solidFill>
                          <a:schemeClr val="tx1"/>
                        </a:solidFill>
                        <a:latin typeface="Cambria Math" panose="02040503050406030204" pitchFamily="18" charset="0"/>
                      </a:rPr>
                      <m:t>es</m:t>
                    </m:r>
                    <m:r>
                      <a:rPr lang="es-MX" sz="2000">
                        <a:solidFill>
                          <a:schemeClr val="tx1"/>
                        </a:solidFill>
                        <a:latin typeface="Cambria Math" panose="02040503050406030204" pitchFamily="18" charset="0"/>
                      </a:rPr>
                      <m:t> </m:t>
                    </m:r>
                    <m:r>
                      <m:rPr>
                        <m:sty m:val="p"/>
                      </m:rPr>
                      <a:rPr lang="es-MX" sz="2000">
                        <a:solidFill>
                          <a:schemeClr val="tx1"/>
                        </a:solidFill>
                        <a:latin typeface="Cambria Math" panose="02040503050406030204" pitchFamily="18" charset="0"/>
                      </a:rPr>
                      <m:t>multiplo</m:t>
                    </m:r>
                    <m:r>
                      <a:rPr lang="es-MX" sz="2000">
                        <a:solidFill>
                          <a:schemeClr val="tx1"/>
                        </a:solidFill>
                        <a:latin typeface="Cambria Math" panose="02040503050406030204" pitchFamily="18" charset="0"/>
                      </a:rPr>
                      <m:t> </m:t>
                    </m:r>
                    <m:r>
                      <m:rPr>
                        <m:sty m:val="p"/>
                      </m:rPr>
                      <a:rPr lang="es-MX" sz="2000">
                        <a:solidFill>
                          <a:schemeClr val="tx1"/>
                        </a:solidFill>
                        <a:latin typeface="Cambria Math" panose="02040503050406030204" pitchFamily="18" charset="0"/>
                      </a:rPr>
                      <m:t>de</m:t>
                    </m:r>
                    <m:r>
                      <a:rPr lang="es-MX" sz="2000">
                        <a:solidFill>
                          <a:schemeClr val="tx1"/>
                        </a:solidFill>
                        <a:latin typeface="Cambria Math" panose="02040503050406030204" pitchFamily="18" charset="0"/>
                      </a:rPr>
                      <m:t> </m:t>
                    </m:r>
                    <m:r>
                      <a:rPr lang="es-MX" sz="2000" i="1">
                        <a:solidFill>
                          <a:schemeClr val="tx1"/>
                        </a:solidFill>
                        <a:latin typeface="Cambria Math" panose="02040503050406030204" pitchFamily="18" charset="0"/>
                      </a:rPr>
                      <m:t>𝑥</m:t>
                    </m:r>
                  </m:oMath>
                </a14:m>
                <a:endParaRPr lang="es-MX" sz="2000" dirty="0">
                  <a:latin typeface="+mn-lt"/>
                  <a:ea typeface="Roboto" panose="02000000000000000000" pitchFamily="2" charset="0"/>
                </a:endParaRPr>
              </a:p>
              <a:p>
                <a:pPr marL="584200" indent="-457200">
                  <a:buFont typeface="+mj-lt"/>
                  <a:buAutoNum type="alphaLcPeriod" startAt="2"/>
                </a:pPr>
                <a:endParaRPr lang="es-MX" sz="2000" dirty="0">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sSup>
                        <m:sSupPr>
                          <m:ctrlPr>
                            <a:rPr lang="es-MX" sz="200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rPr>
                          </m:ctrlPr>
                        </m:dPr>
                        <m:e>
                          <m:d>
                            <m:dPr>
                              <m:ctrlPr>
                                <a:rPr lang="es-MX" sz="2000" i="1">
                                  <a:solidFill>
                                    <a:schemeClr val="tx1"/>
                                  </a:solidFill>
                                  <a:latin typeface="Cambria Math" panose="02040503050406030204" pitchFamily="18" charset="0"/>
                                </a:rPr>
                              </m:ctrlPr>
                            </m:dPr>
                            <m:e>
                              <m:r>
                                <a:rPr lang="es-MX" sz="2000" i="1">
                                  <a:solidFill>
                                    <a:schemeClr val="tx1"/>
                                  </a:solidFill>
                                  <a:latin typeface="Cambria Math" panose="02040503050406030204" pitchFamily="18" charset="0"/>
                                </a:rPr>
                                <m:t>𝑦</m:t>
                              </m:r>
                              <m:r>
                                <a:rPr lang="es-MX" sz="2000" i="1">
                                  <a:solidFill>
                                    <a:schemeClr val="tx1"/>
                                  </a:solidFill>
                                  <a:latin typeface="Cambria Math" panose="02040503050406030204" pitchFamily="18" charset="0"/>
                                </a:rPr>
                                <m:t>,</m:t>
                              </m:r>
                              <m:r>
                                <a:rPr lang="es-MX" sz="2000" i="1">
                                  <a:solidFill>
                                    <a:schemeClr val="tx1"/>
                                  </a:solidFill>
                                  <a:latin typeface="Cambria Math" panose="02040503050406030204" pitchFamily="18" charset="0"/>
                                </a:rPr>
                                <m:t>𝑥</m:t>
                              </m:r>
                            </m:e>
                          </m:d>
                        </m:e>
                        <m:e>
                          <m:r>
                            <a:rPr lang="es-MX" sz="2000" b="0" i="1" smtClean="0">
                              <a:solidFill>
                                <a:schemeClr val="tx1"/>
                              </a:solidFill>
                              <a:latin typeface="Cambria Math" panose="02040503050406030204" pitchFamily="18" charset="0"/>
                            </a:rPr>
                            <m:t>𝑦</m:t>
                          </m:r>
                          <m:r>
                            <a:rPr lang="es-MX" sz="2000" b="0" i="1" smtClean="0">
                              <a:solidFill>
                                <a:schemeClr val="tx1"/>
                              </a:solidFill>
                              <a:latin typeface="Cambria Math" panose="02040503050406030204" pitchFamily="18" charset="0"/>
                            </a:rPr>
                            <m:t> </m:t>
                          </m:r>
                          <m:r>
                            <m:rPr>
                              <m:sty m:val="p"/>
                            </m:rPr>
                            <a:rPr lang="es-MX" sz="2000" b="0" i="0" smtClean="0">
                              <a:solidFill>
                                <a:schemeClr val="tx1"/>
                              </a:solidFill>
                              <a:latin typeface="Cambria Math" panose="02040503050406030204" pitchFamily="18" charset="0"/>
                            </a:rPr>
                            <m:t>es</m:t>
                          </m:r>
                          <m:r>
                            <a:rPr lang="es-MX" sz="2000" b="0" i="0" smtClean="0">
                              <a:solidFill>
                                <a:schemeClr val="tx1"/>
                              </a:solidFill>
                              <a:latin typeface="Cambria Math" panose="02040503050406030204" pitchFamily="18" charset="0"/>
                            </a:rPr>
                            <m:t> </m:t>
                          </m:r>
                          <m:r>
                            <m:rPr>
                              <m:sty m:val="p"/>
                            </m:rPr>
                            <a:rPr lang="es-MX" sz="2000" b="0" i="0" smtClean="0">
                              <a:solidFill>
                                <a:schemeClr val="tx1"/>
                              </a:solidFill>
                              <a:latin typeface="Cambria Math" panose="02040503050406030204" pitchFamily="18" charset="0"/>
                            </a:rPr>
                            <m:t>multiplo</m:t>
                          </m:r>
                          <m:r>
                            <a:rPr lang="es-MX" sz="2000" b="0" i="0" smtClean="0">
                              <a:solidFill>
                                <a:schemeClr val="tx1"/>
                              </a:solidFill>
                              <a:latin typeface="Cambria Math" panose="02040503050406030204" pitchFamily="18" charset="0"/>
                            </a:rPr>
                            <m:t> </m:t>
                          </m:r>
                          <m:r>
                            <m:rPr>
                              <m:sty m:val="p"/>
                            </m:rPr>
                            <a:rPr lang="es-MX" sz="2000" b="0" i="0" smtClean="0">
                              <a:solidFill>
                                <a:schemeClr val="tx1"/>
                              </a:solidFill>
                              <a:latin typeface="Cambria Math" panose="02040503050406030204" pitchFamily="18" charset="0"/>
                            </a:rPr>
                            <m:t>de</m:t>
                          </m:r>
                          <m:r>
                            <a:rPr lang="es-MX" sz="2000" b="0" i="0" smtClean="0">
                              <a:solidFill>
                                <a:schemeClr val="tx1"/>
                              </a:solidFill>
                              <a:latin typeface="Cambria Math" panose="02040503050406030204" pitchFamily="18" charset="0"/>
                            </a:rPr>
                            <m:t> </m:t>
                          </m:r>
                          <m:r>
                            <a:rPr lang="es-MX" sz="2000" b="0" i="1" smtClean="0">
                              <a:solidFill>
                                <a:schemeClr val="tx1"/>
                              </a:solidFill>
                              <a:latin typeface="Cambria Math" panose="02040503050406030204" pitchFamily="18" charset="0"/>
                            </a:rPr>
                            <m:t>𝑥</m:t>
                          </m:r>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p:sp>
            <p:nvSpPr>
              <p:cNvPr id="8" name="Google Shape;310;p34">
                <a:extLst>
                  <a:ext uri="{FF2B5EF4-FFF2-40B4-BE49-F238E27FC236}">
                    <a16:creationId xmlns:a16="http://schemas.microsoft.com/office/drawing/2014/main" id="{76D6224B-81F4-4CFC-AAE7-D6163BF9C28C}"/>
                  </a:ext>
                </a:extLst>
              </p:cNvPr>
              <p:cNvSpPr txBox="1">
                <a:spLocks noRot="1" noChangeAspect="1" noMove="1" noResize="1" noEditPoints="1" noAdjustHandles="1" noChangeArrowheads="1" noChangeShapeType="1" noTextEdit="1"/>
              </p:cNvSpPr>
              <p:nvPr/>
            </p:nvSpPr>
            <p:spPr>
              <a:xfrm>
                <a:off x="499443" y="5290658"/>
                <a:ext cx="11552651" cy="1362469"/>
              </a:xfrm>
              <a:prstGeom prst="rect">
                <a:avLst/>
              </a:prstGeom>
              <a:blipFill>
                <a:blip r:embed="rId6"/>
                <a:stretch>
                  <a:fillRect/>
                </a:stretch>
              </a:blipFill>
              <a:ln>
                <a:noFill/>
              </a:ln>
            </p:spPr>
            <p:txBody>
              <a:bodyPr/>
              <a:lstStyle/>
              <a:p>
                <a:r>
                  <a:rPr lang="es-CO">
                    <a:noFill/>
                  </a:rPr>
                  <a:t> </a:t>
                </a:r>
              </a:p>
            </p:txBody>
          </p:sp>
        </mc:Fallback>
      </mc:AlternateContent>
      <p:pic>
        <p:nvPicPr>
          <p:cNvPr id="9" name="Picture 6" descr="Under the heading, R, there are two sets, namely A and B. Elements under set A are 2, 3, and 4; and, elements under set B are 2, 6, and 8. Five arrows start from the elements in the first set, (A), and end on the elements in the second set, (B). Three arrows start from the number, 2, on the A set and end on the number 2, number 6, and number 8 on the B set. The arrow starts from the number 3 on the A set and ends on the number 6 on the B set. The arrow starts from the number 4 on the A set and ends on the number 8 on the B set. ">
            <a:extLst>
              <a:ext uri="{FF2B5EF4-FFF2-40B4-BE49-F238E27FC236}">
                <a16:creationId xmlns:a16="http://schemas.microsoft.com/office/drawing/2014/main" id="{025C1999-9710-4103-A647-13B3B4182413}"/>
              </a:ext>
            </a:extLst>
          </p:cNvPr>
          <p:cNvPicPr>
            <a:picLocks noChangeAspect="1"/>
          </p:cNvPicPr>
          <p:nvPr/>
        </p:nvPicPr>
        <p:blipFill>
          <a:blip r:embed="rId7"/>
          <a:stretch>
            <a:fillRect/>
          </a:stretch>
        </p:blipFill>
        <p:spPr>
          <a:xfrm>
            <a:off x="1383548" y="2057400"/>
            <a:ext cx="3330980" cy="2071951"/>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3FDA52-D5F5-4997-BF92-74E1F3844C94}"/>
                  </a:ext>
                </a:extLst>
              </p:cNvPr>
              <p:cNvSpPr txBox="1"/>
              <p:nvPr/>
            </p:nvSpPr>
            <p:spPr>
              <a:xfrm>
                <a:off x="916650" y="4786592"/>
                <a:ext cx="446748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MX" sz="1800" b="0" i="1" smtClean="0">
                          <a:solidFill>
                            <a:schemeClr val="tx1"/>
                          </a:solidFill>
                          <a:latin typeface="Cambria Math" panose="02040503050406030204" pitchFamily="18" charset="0"/>
                        </a:rPr>
                        <m:t>𝑅</m:t>
                      </m:r>
                      <m:r>
                        <a:rPr lang="es-MX" sz="1800" b="0" i="1" smtClean="0">
                          <a:solidFill>
                            <a:schemeClr val="tx1"/>
                          </a:solidFill>
                          <a:latin typeface="Cambria Math" panose="02040503050406030204" pitchFamily="18" charset="0"/>
                        </a:rPr>
                        <m:t>=</m:t>
                      </m:r>
                      <m:d>
                        <m:dPr>
                          <m:begChr m:val="{"/>
                          <m:endChr m:val="}"/>
                          <m:ctrlPr>
                            <a:rPr lang="es-MX" sz="1800" b="0" i="1" smtClean="0">
                              <a:solidFill>
                                <a:schemeClr val="tx1"/>
                              </a:solidFill>
                              <a:latin typeface="Cambria Math" panose="02040503050406030204" pitchFamily="18" charset="0"/>
                            </a:rPr>
                          </m:ctrlPr>
                        </m:dPr>
                        <m:e>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2,2</m:t>
                              </m:r>
                            </m:e>
                          </m:d>
                          <m:r>
                            <a:rPr lang="es-MX" sz="1800" b="0" i="1" smtClean="0">
                              <a:solidFill>
                                <a:schemeClr val="tx1"/>
                              </a:solidFill>
                              <a:latin typeface="Cambria Math" panose="02040503050406030204" pitchFamily="18" charset="0"/>
                            </a:rPr>
                            <m:t>,</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2,6</m:t>
                              </m:r>
                            </m:e>
                          </m:d>
                          <m:r>
                            <a:rPr lang="es-MX" sz="1800" b="0" i="1" smtClean="0">
                              <a:solidFill>
                                <a:schemeClr val="tx1"/>
                              </a:solidFill>
                              <a:latin typeface="Cambria Math" panose="02040503050406030204" pitchFamily="18" charset="0"/>
                            </a:rPr>
                            <m:t>,</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2,8</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3</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6</m:t>
                              </m:r>
                            </m:e>
                          </m:d>
                          <m:r>
                            <a:rPr lang="es-MX" sz="1800" i="1">
                              <a:solidFill>
                                <a:schemeClr val="tx1"/>
                              </a:solidFill>
                              <a:latin typeface="Cambria Math" panose="02040503050406030204" pitchFamily="18" charset="0"/>
                            </a:rPr>
                            <m:t>,</m:t>
                          </m:r>
                          <m:r>
                            <a:rPr lang="es-MX" sz="1800" i="1" smtClean="0">
                              <a:solidFill>
                                <a:schemeClr val="tx1"/>
                              </a:solidFill>
                              <a:latin typeface="Cambria Math" panose="02040503050406030204" pitchFamily="18" charset="0"/>
                            </a:rPr>
                            <m:t> </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4</m:t>
                              </m:r>
                              <m:r>
                                <a:rPr lang="es-MX" sz="1800" i="1">
                                  <a:solidFill>
                                    <a:schemeClr val="tx1"/>
                                  </a:solidFill>
                                  <a:latin typeface="Cambria Math" panose="02040503050406030204" pitchFamily="18" charset="0"/>
                                </a:rPr>
                                <m:t>,8</m:t>
                              </m:r>
                            </m:e>
                          </m:d>
                        </m:e>
                      </m:d>
                    </m:oMath>
                  </m:oMathPara>
                </a14:m>
                <a:endParaRPr lang="es-CO" sz="1800" dirty="0">
                  <a:solidFill>
                    <a:schemeClr val="tx1"/>
                  </a:solidFill>
                </a:endParaRPr>
              </a:p>
            </p:txBody>
          </p:sp>
        </mc:Choice>
        <mc:Fallback xmlns="">
          <p:sp>
            <p:nvSpPr>
              <p:cNvPr id="10" name="CuadroTexto 9">
                <a:extLst>
                  <a:ext uri="{FF2B5EF4-FFF2-40B4-BE49-F238E27FC236}">
                    <a16:creationId xmlns:a16="http://schemas.microsoft.com/office/drawing/2014/main" id="{AC3FDA52-D5F5-4997-BF92-74E1F3844C94}"/>
                  </a:ext>
                </a:extLst>
              </p:cNvPr>
              <p:cNvSpPr txBox="1">
                <a:spLocks noRot="1" noChangeAspect="1" noMove="1" noResize="1" noEditPoints="1" noAdjustHandles="1" noChangeArrowheads="1" noChangeShapeType="1" noTextEdit="1"/>
              </p:cNvSpPr>
              <p:nvPr/>
            </p:nvSpPr>
            <p:spPr>
              <a:xfrm>
                <a:off x="916650" y="4786592"/>
                <a:ext cx="4467481" cy="369332"/>
              </a:xfrm>
              <a:prstGeom prst="rect">
                <a:avLst/>
              </a:prstGeom>
              <a:blipFill>
                <a:blip r:embed="rId8"/>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E8BB1BCD-7863-4489-A1AE-2C1B1B29ECD3}"/>
                  </a:ext>
                </a:extLst>
              </p:cNvPr>
              <p:cNvSpPr txBox="1"/>
              <p:nvPr/>
            </p:nvSpPr>
            <p:spPr>
              <a:xfrm>
                <a:off x="6692940" y="4789211"/>
                <a:ext cx="4043416" cy="37555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MX" sz="1800" b="0" i="1" smtClean="0">
                              <a:solidFill>
                                <a:schemeClr val="tx1"/>
                              </a:solidFill>
                              <a:latin typeface="Cambria Math" panose="02040503050406030204" pitchFamily="18" charset="0"/>
                            </a:rPr>
                          </m:ctrlPr>
                        </m:sSupPr>
                        <m:e>
                          <m:r>
                            <a:rPr lang="es-MX" sz="1800" b="0" i="1" smtClean="0">
                              <a:solidFill>
                                <a:schemeClr val="tx1"/>
                              </a:solidFill>
                              <a:latin typeface="Cambria Math" panose="02040503050406030204" pitchFamily="18" charset="0"/>
                            </a:rPr>
                            <m:t>𝑅</m:t>
                          </m:r>
                        </m:e>
                        <m:sup>
                          <m:r>
                            <a:rPr lang="es-MX" sz="1800" b="0" i="1" smtClean="0">
                              <a:solidFill>
                                <a:schemeClr val="tx1"/>
                              </a:solidFill>
                              <a:latin typeface="Cambria Math" panose="02040503050406030204" pitchFamily="18" charset="0"/>
                            </a:rPr>
                            <m:t>−1</m:t>
                          </m:r>
                        </m:sup>
                      </m:sSup>
                      <m:r>
                        <a:rPr lang="es-MX" sz="1800" b="0" i="1" smtClean="0">
                          <a:solidFill>
                            <a:schemeClr val="tx1"/>
                          </a:solidFill>
                          <a:latin typeface="Cambria Math" panose="02040503050406030204" pitchFamily="18" charset="0"/>
                        </a:rPr>
                        <m:t>=</m:t>
                      </m:r>
                      <m:d>
                        <m:dPr>
                          <m:begChr m:val="{"/>
                          <m:endChr m:val="}"/>
                          <m:ctrlPr>
                            <a:rPr lang="es-MX" sz="1800" b="0" i="1" smtClean="0">
                              <a:solidFill>
                                <a:schemeClr val="tx1"/>
                              </a:solidFill>
                              <a:latin typeface="Cambria Math" panose="02040503050406030204" pitchFamily="18" charset="0"/>
                            </a:rPr>
                          </m:ctrlPr>
                        </m:dPr>
                        <m:e>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2,2</m:t>
                              </m:r>
                            </m:e>
                          </m:d>
                          <m:r>
                            <a:rPr lang="es-MX" sz="1800" b="0" i="1" smtClean="0">
                              <a:solidFill>
                                <a:schemeClr val="tx1"/>
                              </a:solidFill>
                              <a:latin typeface="Cambria Math" panose="02040503050406030204" pitchFamily="18" charset="0"/>
                            </a:rPr>
                            <m:t>,</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6,2</m:t>
                              </m:r>
                            </m:e>
                          </m:d>
                          <m:r>
                            <a:rPr lang="es-MX" sz="1800" b="0" i="1" smtClean="0">
                              <a:solidFill>
                                <a:schemeClr val="tx1"/>
                              </a:solidFill>
                              <a:latin typeface="Cambria Math" panose="02040503050406030204" pitchFamily="18" charset="0"/>
                            </a:rPr>
                            <m:t>,</m:t>
                          </m:r>
                          <m:d>
                            <m:dPr>
                              <m:ctrlPr>
                                <a:rPr lang="es-MX" sz="1800" b="0" i="1" smtClean="0">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8,2</m:t>
                              </m:r>
                            </m:e>
                          </m:d>
                          <m:r>
                            <a:rPr lang="es-MX" sz="1800" b="0" i="1" smtClean="0">
                              <a:solidFill>
                                <a:schemeClr val="tx1"/>
                              </a:solidFill>
                              <a:latin typeface="Cambria Math" panose="02040503050406030204" pitchFamily="18" charset="0"/>
                            </a:rPr>
                            <m:t>,</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6</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3</m:t>
                              </m:r>
                            </m:e>
                          </m:d>
                          <m:r>
                            <a:rPr lang="es-MX" sz="1800" i="1">
                              <a:solidFill>
                                <a:schemeClr val="tx1"/>
                              </a:solidFill>
                              <a:latin typeface="Cambria Math" panose="02040503050406030204" pitchFamily="18" charset="0"/>
                            </a:rPr>
                            <m:t>,</m:t>
                          </m:r>
                          <m:r>
                            <a:rPr lang="es-MX" sz="1800" i="1" smtClean="0">
                              <a:solidFill>
                                <a:schemeClr val="tx1"/>
                              </a:solidFill>
                              <a:latin typeface="Cambria Math" panose="02040503050406030204" pitchFamily="18" charset="0"/>
                            </a:rPr>
                            <m:t> </m:t>
                          </m:r>
                          <m:d>
                            <m:dPr>
                              <m:ctrlPr>
                                <a:rPr lang="es-MX" sz="1800" i="1">
                                  <a:solidFill>
                                    <a:schemeClr val="tx1"/>
                                  </a:solidFill>
                                  <a:latin typeface="Cambria Math" panose="02040503050406030204" pitchFamily="18" charset="0"/>
                                </a:rPr>
                              </m:ctrlPr>
                            </m:dPr>
                            <m:e>
                              <m:r>
                                <a:rPr lang="es-MX" sz="1800" b="0" i="1" smtClean="0">
                                  <a:solidFill>
                                    <a:schemeClr val="tx1"/>
                                  </a:solidFill>
                                  <a:latin typeface="Cambria Math" panose="02040503050406030204" pitchFamily="18" charset="0"/>
                                </a:rPr>
                                <m:t>8</m:t>
                              </m:r>
                              <m:r>
                                <a:rPr lang="es-MX" sz="1800" i="1">
                                  <a:solidFill>
                                    <a:schemeClr val="tx1"/>
                                  </a:solidFill>
                                  <a:latin typeface="Cambria Math" panose="02040503050406030204" pitchFamily="18" charset="0"/>
                                </a:rPr>
                                <m:t>,</m:t>
                              </m:r>
                              <m:r>
                                <a:rPr lang="es-MX" sz="1800" b="0" i="1" smtClean="0">
                                  <a:solidFill>
                                    <a:schemeClr val="tx1"/>
                                  </a:solidFill>
                                  <a:latin typeface="Cambria Math" panose="02040503050406030204" pitchFamily="18" charset="0"/>
                                </a:rPr>
                                <m:t>4</m:t>
                              </m:r>
                            </m:e>
                          </m:d>
                        </m:e>
                      </m:d>
                    </m:oMath>
                  </m:oMathPara>
                </a14:m>
                <a:endParaRPr lang="es-CO" sz="1800" dirty="0">
                  <a:solidFill>
                    <a:schemeClr val="tx1"/>
                  </a:solidFill>
                </a:endParaRPr>
              </a:p>
            </p:txBody>
          </p:sp>
        </mc:Choice>
        <mc:Fallback xmlns="">
          <p:sp>
            <p:nvSpPr>
              <p:cNvPr id="11" name="CuadroTexto 10">
                <a:extLst>
                  <a:ext uri="{FF2B5EF4-FFF2-40B4-BE49-F238E27FC236}">
                    <a16:creationId xmlns:a16="http://schemas.microsoft.com/office/drawing/2014/main" id="{E8BB1BCD-7863-4489-A1AE-2C1B1B29ECD3}"/>
                  </a:ext>
                </a:extLst>
              </p:cNvPr>
              <p:cNvSpPr txBox="1">
                <a:spLocks noRot="1" noChangeAspect="1" noMove="1" noResize="1" noEditPoints="1" noAdjustHandles="1" noChangeArrowheads="1" noChangeShapeType="1" noTextEdit="1"/>
              </p:cNvSpPr>
              <p:nvPr/>
            </p:nvSpPr>
            <p:spPr>
              <a:xfrm>
                <a:off x="6692940" y="4789211"/>
                <a:ext cx="4043416" cy="375552"/>
              </a:xfrm>
              <a:prstGeom prst="rect">
                <a:avLst/>
              </a:prstGeom>
              <a:blipFill>
                <a:blip r:embed="rId9"/>
                <a:stretch>
                  <a:fillRect/>
                </a:stretch>
              </a:blipFill>
            </p:spPr>
            <p:txBody>
              <a:bodyPr/>
              <a:lstStyle/>
              <a:p>
                <a:r>
                  <a:rPr lang="es-CO">
                    <a:noFill/>
                  </a:rPr>
                  <a:t> </a:t>
                </a:r>
              </a:p>
            </p:txBody>
          </p:sp>
        </mc:Fallback>
      </mc:AlternateContent>
      <p:pic>
        <p:nvPicPr>
          <p:cNvPr id="12" name="Picture 4" descr="Under the heading, R^negative 1, there are two sets, namely A and B. Elements under set A are 2, 3, and 4; and, elements under set B are 2, 6, and 8. Five arrows start from the elements in the second set, (B), and end on the elements in the first set, (A). The arrow starts from the number 2 on the B set and ends on the number 2 on the A set. Two arrows start from the number 6 on the B set and end on the number 2 and number 3 on the A set. Two arrows start from the number 8 on the B set and end on the number 2 and number 4 on the A set. ">
            <a:extLst>
              <a:ext uri="{FF2B5EF4-FFF2-40B4-BE49-F238E27FC236}">
                <a16:creationId xmlns:a16="http://schemas.microsoft.com/office/drawing/2014/main" id="{0249D4C9-A32B-4C88-B959-CCBDB873082A}"/>
              </a:ext>
            </a:extLst>
          </p:cNvPr>
          <p:cNvPicPr>
            <a:picLocks noChangeAspect="1"/>
          </p:cNvPicPr>
          <p:nvPr/>
        </p:nvPicPr>
        <p:blipFill>
          <a:blip r:embed="rId10"/>
          <a:stretch>
            <a:fillRect/>
          </a:stretch>
        </p:blipFill>
        <p:spPr>
          <a:xfrm>
            <a:off x="5068650" y="2108201"/>
            <a:ext cx="3248581" cy="2009633"/>
          </a:xfrm>
          <a:prstGeom prst="rect">
            <a:avLst/>
          </a:prstGeom>
        </p:spPr>
      </p:pic>
      <p:pic>
        <p:nvPicPr>
          <p:cNvPr id="13" name="Picture 12" descr="Under the heading, R^negative 1, there are two sets, namely B and A. Elements under set B are 2, 6, and 8; and, elements under set A are 2, 3, and 4. Five arrows start form the elements in the first set, (B), and end on the elements in the second set, (A). The arrow starts from the number 2 on the B set and ends on the number 2 on the A set. Two arrows start from the number 6 on the B set and end on the number 2 and number 3 on the A set. Two arrows start from the number 8 on the B set and end on the number 2 and number 4 on the A set. ">
            <a:extLst>
              <a:ext uri="{FF2B5EF4-FFF2-40B4-BE49-F238E27FC236}">
                <a16:creationId xmlns:a16="http://schemas.microsoft.com/office/drawing/2014/main" id="{250F91C5-2051-456D-9584-7D8A454E0913}"/>
              </a:ext>
            </a:extLst>
          </p:cNvPr>
          <p:cNvPicPr>
            <a:picLocks noChangeAspect="1"/>
          </p:cNvPicPr>
          <p:nvPr/>
        </p:nvPicPr>
        <p:blipFill>
          <a:blip r:embed="rId11"/>
          <a:stretch>
            <a:fillRect/>
          </a:stretch>
        </p:blipFill>
        <p:spPr>
          <a:xfrm>
            <a:off x="8644358" y="2057400"/>
            <a:ext cx="3122921" cy="2060434"/>
          </a:xfrm>
          <a:prstGeom prst="rect">
            <a:avLst/>
          </a:prstGeom>
        </p:spPr>
      </p:pic>
    </p:spTree>
    <p:extLst>
      <p:ext uri="{BB962C8B-B14F-4D97-AF65-F5344CB8AC3E}">
        <p14:creationId xmlns:p14="http://schemas.microsoft.com/office/powerpoint/2010/main" val="163334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24721" y="96038"/>
            <a:ext cx="879592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33400" y="780067"/>
            <a:ext cx="11233879"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9</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mc:Choice xmlns:a14="http://schemas.microsoft.com/office/drawing/2010/main"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533400" y="1301870"/>
                <a:ext cx="11443971" cy="26986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Se define una relación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de </a:t>
                </a:r>
                <a14:m>
                  <m:oMath xmlns:m="http://schemas.openxmlformats.org/officeDocument/2006/math">
                    <m:r>
                      <a:rPr lang="es-MX" sz="2000" i="1" smtClean="0">
                        <a:solidFill>
                          <a:schemeClr val="tx1"/>
                        </a:solidFill>
                        <a:latin typeface="Cambria Math" panose="02040503050406030204" pitchFamily="18" charset="0"/>
                        <a:ea typeface="Cambria Math" panose="02040503050406030204" pitchFamily="18" charset="0"/>
                      </a:rPr>
                      <m:t>ℝ</m:t>
                    </m:r>
                    <m:r>
                      <a:rPr lang="es-MX" sz="2000" i="1">
                        <a:solidFill>
                          <a:schemeClr val="tx1"/>
                        </a:solidFill>
                        <a:latin typeface="Cambria Math" panose="02040503050406030204" pitchFamily="18" charset="0"/>
                        <a:ea typeface="Roboto" panose="02000000000000000000" pitchFamily="2" charset="0"/>
                      </a:rPr>
                      <m:t> </m:t>
                    </m:r>
                  </m:oMath>
                </a14:m>
                <a:r>
                  <a:rPr lang="es-MX" sz="2000" dirty="0">
                    <a:latin typeface="+mn-lt"/>
                    <a:ea typeface="Roboto" panose="02000000000000000000" pitchFamily="2" charset="0"/>
                  </a:rPr>
                  <a:t>a </a:t>
                </a:r>
                <a14:m>
                  <m:oMath xmlns:m="http://schemas.openxmlformats.org/officeDocument/2006/math">
                    <m:r>
                      <a:rPr lang="es-MX" sz="2000" i="1">
                        <a:solidFill>
                          <a:schemeClr val="tx1"/>
                        </a:solidFill>
                        <a:latin typeface="Cambria Math" panose="02040503050406030204" pitchFamily="18" charset="0"/>
                        <a:ea typeface="Cambria Math" panose="02040503050406030204" pitchFamily="18" charset="0"/>
                      </a:rPr>
                      <m:t>ℝ</m:t>
                    </m:r>
                  </m:oMath>
                </a14:m>
                <a:r>
                  <a:rPr lang="es-MX" sz="2000" dirty="0">
                    <a:latin typeface="+mn-lt"/>
                    <a:ea typeface="Roboto" panose="02000000000000000000" pitchFamily="2" charset="0"/>
                  </a:rPr>
                  <a:t> como sigue. Para toda </a:t>
                </a:r>
                <a14:m>
                  <m:oMath xmlns:m="http://schemas.openxmlformats.org/officeDocument/2006/math">
                    <m:d>
                      <m:dPr>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𝑥</m:t>
                        </m:r>
                        <m:r>
                          <a:rPr lang="es-MX" sz="2000" i="1">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𝑦</m:t>
                        </m:r>
                      </m:e>
                    </m:d>
                    <m:r>
                      <a:rPr lang="es-MX" sz="2000" b="0" i="1" smtClean="0">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Cambria Math" panose="02040503050406030204" pitchFamily="18" charset="0"/>
                      </a:rPr>
                      <m:t>ℝ</m:t>
                    </m:r>
                    <m:r>
                      <a:rPr lang="es-MX" sz="2000" b="0" i="1" smtClean="0">
                        <a:solidFill>
                          <a:schemeClr val="tx1"/>
                        </a:solidFill>
                        <a:latin typeface="Cambria Math" panose="02040503050406030204" pitchFamily="18" charset="0"/>
                        <a:ea typeface="Roboto" panose="02000000000000000000" pitchFamily="2" charset="0"/>
                      </a:rPr>
                      <m:t>×</m:t>
                    </m:r>
                    <m:r>
                      <a:rPr lang="es-MX" sz="2000" i="1">
                        <a:solidFill>
                          <a:schemeClr val="tx1"/>
                        </a:solidFill>
                        <a:latin typeface="Cambria Math" panose="02040503050406030204" pitchFamily="18" charset="0"/>
                        <a:ea typeface="Cambria Math" panose="02040503050406030204" pitchFamily="18" charset="0"/>
                      </a:rPr>
                      <m:t>ℝ</m:t>
                    </m:r>
                  </m:oMath>
                </a14:m>
                <a:r>
                  <a:rPr lang="es-MX" sz="2000" dirty="0">
                    <a:latin typeface="+mn-lt"/>
                    <a:ea typeface="Roboto" panose="02000000000000000000" pitchFamily="2" charset="0"/>
                  </a:rPr>
                  <a:t>,</a:t>
                </a:r>
              </a:p>
              <a:p>
                <a:pPr marL="127000" indent="0">
                  <a:buNone/>
                </a:pPr>
                <a:endParaRPr lang="es-MX" sz="2000" b="1" dirty="0">
                  <a:solidFill>
                    <a:schemeClr val="tx1"/>
                  </a:solidFill>
                  <a:latin typeface="+mn-lt"/>
                  <a:ea typeface="Roboto" panose="02000000000000000000" pitchFamily="2" charset="0"/>
                </a:endParaRPr>
              </a:p>
              <a:p>
                <a:pPr marL="127000" indent="0">
                  <a:buNone/>
                </a:pPr>
                <a14:m>
                  <m:oMathPara xmlns:m="http://schemas.openxmlformats.org/officeDocument/2006/math">
                    <m:oMathParaPr>
                      <m:jc m:val="centerGroup"/>
                    </m:oMathParaPr>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𝑥</m:t>
                      </m:r>
                      <m:r>
                        <m:rPr>
                          <m:lit/>
                        </m:rP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Roboto" panose="02000000000000000000" pitchFamily="2" charset="0"/>
                        </a:rPr>
                        <m:t>𝑅</m:t>
                      </m:r>
                      <m:r>
                        <m:rPr>
                          <m:lit/>
                        </m:rP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Roboto" panose="02000000000000000000" pitchFamily="2" charset="0"/>
                        </a:rPr>
                        <m:t>𝑦</m:t>
                      </m:r>
                      <m:r>
                        <a:rPr lang="es-MX" sz="2000" b="0" i="1" smtClean="0">
                          <a:solidFill>
                            <a:schemeClr val="tx1"/>
                          </a:solidFill>
                          <a:latin typeface="Cambria Math" panose="02040503050406030204" pitchFamily="18" charset="0"/>
                          <a:ea typeface="Roboto" panose="02000000000000000000" pitchFamily="2" charset="0"/>
                        </a:rPr>
                        <m:t> ⟺</m:t>
                      </m:r>
                      <m:r>
                        <a:rPr lang="es-MX" sz="2000" b="0" i="1" smtClean="0">
                          <a:solidFill>
                            <a:schemeClr val="tx1"/>
                          </a:solidFill>
                          <a:latin typeface="Cambria Math" panose="02040503050406030204" pitchFamily="18" charset="0"/>
                          <a:ea typeface="Cambria Math" panose="02040503050406030204" pitchFamily="18" charset="0"/>
                        </a:rPr>
                        <m:t>𝑦</m:t>
                      </m:r>
                      <m:r>
                        <a:rPr lang="es-MX" sz="2000" b="0" i="1" smtClean="0">
                          <a:solidFill>
                            <a:schemeClr val="tx1"/>
                          </a:solidFill>
                          <a:latin typeface="Cambria Math" panose="02040503050406030204" pitchFamily="18" charset="0"/>
                          <a:ea typeface="Cambria Math" panose="02040503050406030204" pitchFamily="18" charset="0"/>
                        </a:rPr>
                        <m:t>=2</m:t>
                      </m:r>
                      <m:d>
                        <m:dPr>
                          <m:begChr m:val="|"/>
                          <m:endChr m:val="|"/>
                          <m:ctrlPr>
                            <a:rPr lang="es-MX" sz="2000" b="0" i="1" smtClean="0">
                              <a:solidFill>
                                <a:schemeClr val="tx1"/>
                              </a:solidFill>
                              <a:latin typeface="Cambria Math" panose="02040503050406030204" pitchFamily="18" charset="0"/>
                              <a:ea typeface="Cambria Math" panose="02040503050406030204" pitchFamily="18" charset="0"/>
                            </a:rPr>
                          </m:ctrlPr>
                        </m:dPr>
                        <m:e>
                          <m:r>
                            <a:rPr lang="es-MX" sz="2000" b="0" i="1" smtClean="0">
                              <a:solidFill>
                                <a:schemeClr val="tx1"/>
                              </a:solidFill>
                              <a:latin typeface="Cambria Math" panose="02040503050406030204" pitchFamily="18" charset="0"/>
                              <a:ea typeface="Cambria Math" panose="02040503050406030204" pitchFamily="18" charset="0"/>
                            </a:rPr>
                            <m:t>𝑥</m:t>
                          </m:r>
                        </m:e>
                      </m:d>
                    </m:oMath>
                  </m:oMathPara>
                </a14:m>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584200" indent="-457200">
                  <a:buFont typeface="+mj-lt"/>
                  <a:buAutoNum type="alphaLcPeriod"/>
                </a:pPr>
                <a:r>
                  <a:rPr lang="es-MX" sz="2000" dirty="0">
                    <a:latin typeface="+mn-lt"/>
                    <a:ea typeface="Roboto" panose="02000000000000000000" pitchFamily="2" charset="0"/>
                  </a:rPr>
                  <a:t>Dibuje las graficas de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𝑅</m:t>
                    </m:r>
                  </m:oMath>
                </a14:m>
                <a:r>
                  <a:rPr lang="es-MX" sz="2000" dirty="0">
                    <a:latin typeface="+mn-lt"/>
                    <a:ea typeface="Roboto" panose="02000000000000000000" pitchFamily="2" charset="0"/>
                  </a:rPr>
                  <a:t> y </a:t>
                </a:r>
                <a14:m>
                  <m:oMath xmlns:m="http://schemas.openxmlformats.org/officeDocument/2006/math">
                    <m:sSup>
                      <m:sSupPr>
                        <m:ctrlPr>
                          <a:rPr lang="es-MX" sz="2000" b="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b="0" i="1" smtClean="0">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en el plano cartesiano</a:t>
                </a:r>
              </a:p>
              <a:p>
                <a:pPr marL="584200" indent="-457200">
                  <a:buFont typeface="+mj-lt"/>
                  <a:buAutoNum type="alphaLcPeriod"/>
                </a:pPr>
                <a:r>
                  <a:rPr lang="es-MX" sz="2000" dirty="0">
                    <a:latin typeface="+mn-lt"/>
                    <a:ea typeface="Roboto" panose="02000000000000000000" pitchFamily="2" charset="0"/>
                  </a:rPr>
                  <a:t>¿Es </a:t>
                </a:r>
                <a14:m>
                  <m:oMath xmlns:m="http://schemas.openxmlformats.org/officeDocument/2006/math">
                    <m:sSup>
                      <m:sSupPr>
                        <m:ctrlPr>
                          <a:rPr lang="es-MX" sz="200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una función?</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Choice>
        <mc:Fallback>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533400" y="1301870"/>
                <a:ext cx="11443971" cy="2698630"/>
              </a:xfrm>
              <a:prstGeom prst="rect">
                <a:avLst/>
              </a:prstGeom>
              <a:blipFill>
                <a:blip r:embed="rId3"/>
                <a:stretch>
                  <a:fillRect/>
                </a:stretch>
              </a:blipFill>
              <a:ln>
                <a:noFill/>
              </a:ln>
            </p:spPr>
            <p:txBody>
              <a:bodyPr/>
              <a:lstStyle/>
              <a:p>
                <a:r>
                  <a:rPr lang="es-CO">
                    <a:noFill/>
                  </a:rPr>
                  <a:t> </a:t>
                </a:r>
              </a:p>
            </p:txBody>
          </p:sp>
        </mc:Fallback>
      </mc:AlternateContent>
    </p:spTree>
    <p:extLst>
      <p:ext uri="{BB962C8B-B14F-4D97-AF65-F5344CB8AC3E}">
        <p14:creationId xmlns:p14="http://schemas.microsoft.com/office/powerpoint/2010/main" val="35938858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14229" y="96038"/>
            <a:ext cx="8806421"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9960" y="780067"/>
            <a:ext cx="10850629"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Ejemplo 9 - Solución</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414229" y="1301870"/>
            <a:ext cx="11135444"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84200" indent="-457200">
              <a:buFont typeface="+mj-lt"/>
              <a:buAutoNum type="alphaLcPeriod"/>
            </a:pPr>
            <a:r>
              <a:rPr lang="es-MX" sz="2000" dirty="0">
                <a:latin typeface="+mn-lt"/>
                <a:ea typeface="Roboto" panose="02000000000000000000" pitchFamily="2" charset="0"/>
              </a:rPr>
              <a:t>Tenemos:</a:t>
            </a:r>
          </a:p>
          <a:p>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p:txBody>
      </p:sp>
      <mc:AlternateContent xmlns:mc="http://schemas.openxmlformats.org/markup-compatibility/2006">
        <mc:Choice xmlns:a14="http://schemas.microsoft.com/office/drawing/2010/main" Requires="a14">
          <p:sp>
            <p:nvSpPr>
              <p:cNvPr id="8" name="Google Shape;310;p34">
                <a:extLst>
                  <a:ext uri="{FF2B5EF4-FFF2-40B4-BE49-F238E27FC236}">
                    <a16:creationId xmlns:a16="http://schemas.microsoft.com/office/drawing/2014/main" id="{76D6224B-81F4-4CFC-AAE7-D6163BF9C28C}"/>
                  </a:ext>
                </a:extLst>
              </p:cNvPr>
              <p:cNvSpPr txBox="1">
                <a:spLocks/>
              </p:cNvSpPr>
              <p:nvPr/>
            </p:nvSpPr>
            <p:spPr>
              <a:xfrm>
                <a:off x="414229" y="6141433"/>
                <a:ext cx="11135444"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84200" indent="-457200">
                  <a:buFont typeface="+mj-lt"/>
                  <a:buAutoNum type="alphaLcPeriod" startAt="2"/>
                </a:pPr>
                <a14:m>
                  <m:oMath xmlns:m="http://schemas.openxmlformats.org/officeDocument/2006/math">
                    <m:sSup>
                      <m:sSupPr>
                        <m:ctrlPr>
                          <a:rPr lang="es-MX" sz="2000" i="1" smtClean="0">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no es una función ya que </a:t>
                </a:r>
                <a14:m>
                  <m:oMath xmlns:m="http://schemas.openxmlformats.org/officeDocument/2006/math">
                    <m:d>
                      <m:dPr>
                        <m:ctrlPr>
                          <a:rPr lang="es-MX" sz="2000" i="1">
                            <a:solidFill>
                              <a:schemeClr val="tx1"/>
                            </a:solidFill>
                            <a:latin typeface="Cambria Math" panose="02040503050406030204" pitchFamily="18" charset="0"/>
                          </a:rPr>
                        </m:ctrlPr>
                      </m:dPr>
                      <m:e>
                        <m:r>
                          <a:rPr lang="es-MX" sz="2000" b="0" i="1" smtClean="0">
                            <a:solidFill>
                              <a:schemeClr val="tx1"/>
                            </a:solidFill>
                            <a:latin typeface="Cambria Math" panose="02040503050406030204" pitchFamily="18" charset="0"/>
                          </a:rPr>
                          <m:t>2</m:t>
                        </m:r>
                        <m:r>
                          <a:rPr lang="es-MX" sz="2000" i="1">
                            <a:solidFill>
                              <a:schemeClr val="tx1"/>
                            </a:solidFill>
                            <a:latin typeface="Cambria Math" panose="02040503050406030204" pitchFamily="18" charset="0"/>
                          </a:rPr>
                          <m:t>,</m:t>
                        </m:r>
                        <m:r>
                          <a:rPr lang="es-MX" sz="2000" b="0" i="1" smtClean="0">
                            <a:solidFill>
                              <a:schemeClr val="tx1"/>
                            </a:solidFill>
                            <a:latin typeface="Cambria Math" panose="02040503050406030204" pitchFamily="18" charset="0"/>
                          </a:rPr>
                          <m:t>1</m:t>
                        </m:r>
                      </m:e>
                    </m:d>
                  </m:oMath>
                </a14:m>
                <a:r>
                  <a:rPr lang="es-MX" sz="2000" dirty="0">
                    <a:latin typeface="+mn-lt"/>
                    <a:ea typeface="Roboto" panose="02000000000000000000" pitchFamily="2" charset="0"/>
                  </a:rPr>
                  <a:t> y </a:t>
                </a:r>
                <a14:m>
                  <m:oMath xmlns:m="http://schemas.openxmlformats.org/officeDocument/2006/math">
                    <m:d>
                      <m:dPr>
                        <m:ctrlPr>
                          <a:rPr lang="es-MX" sz="2000" i="1">
                            <a:solidFill>
                              <a:schemeClr val="tx1"/>
                            </a:solidFill>
                            <a:latin typeface="Cambria Math" panose="02040503050406030204" pitchFamily="18" charset="0"/>
                          </a:rPr>
                        </m:ctrlPr>
                      </m:dPr>
                      <m:e>
                        <m:r>
                          <a:rPr lang="es-MX" sz="2000" i="1">
                            <a:solidFill>
                              <a:schemeClr val="tx1"/>
                            </a:solidFill>
                            <a:latin typeface="Cambria Math" panose="02040503050406030204" pitchFamily="18" charset="0"/>
                          </a:rPr>
                          <m:t>2,</m:t>
                        </m:r>
                        <m:r>
                          <a:rPr lang="es-MX" sz="2000" b="0" i="1" smtClean="0">
                            <a:solidFill>
                              <a:schemeClr val="tx1"/>
                            </a:solidFill>
                            <a:latin typeface="Cambria Math" panose="02040503050406030204" pitchFamily="18" charset="0"/>
                          </a:rPr>
                          <m:t>−</m:t>
                        </m:r>
                        <m:r>
                          <a:rPr lang="es-MX" sz="2000" i="1">
                            <a:solidFill>
                              <a:schemeClr val="tx1"/>
                            </a:solidFill>
                            <a:latin typeface="Cambria Math" panose="02040503050406030204" pitchFamily="18" charset="0"/>
                          </a:rPr>
                          <m:t>1</m:t>
                        </m:r>
                      </m:e>
                    </m:d>
                  </m:oMath>
                </a14:m>
                <a:r>
                  <a:rPr lang="es-MX" sz="2000" dirty="0">
                    <a:latin typeface="+mn-lt"/>
                    <a:ea typeface="Roboto" panose="02000000000000000000" pitchFamily="2" charset="0"/>
                  </a:rPr>
                  <a:t> están en </a:t>
                </a:r>
                <a14:m>
                  <m:oMath xmlns:m="http://schemas.openxmlformats.org/officeDocument/2006/math">
                    <m:sSup>
                      <m:sSupPr>
                        <m:ctrlPr>
                          <a:rPr lang="es-MX" sz="2000" i="1">
                            <a:solidFill>
                              <a:schemeClr val="tx1"/>
                            </a:solidFill>
                            <a:latin typeface="Cambria Math" panose="02040503050406030204" pitchFamily="18" charset="0"/>
                            <a:ea typeface="Roboto" panose="02000000000000000000" pitchFamily="2" charset="0"/>
                          </a:rPr>
                        </m:ctrlPr>
                      </m:sSupPr>
                      <m:e>
                        <m:r>
                          <a:rPr lang="es-MX" sz="2000" i="1">
                            <a:solidFill>
                              <a:schemeClr val="tx1"/>
                            </a:solidFill>
                            <a:latin typeface="Cambria Math" panose="02040503050406030204" pitchFamily="18" charset="0"/>
                            <a:ea typeface="Roboto" panose="02000000000000000000" pitchFamily="2" charset="0"/>
                          </a:rPr>
                          <m:t>𝑅</m:t>
                        </m:r>
                      </m:e>
                      <m:sup>
                        <m:r>
                          <a:rPr lang="es-MX" sz="2000" i="1">
                            <a:solidFill>
                              <a:schemeClr val="tx1"/>
                            </a:solidFill>
                            <a:latin typeface="Cambria Math" panose="02040503050406030204" pitchFamily="18" charset="0"/>
                            <a:ea typeface="Roboto" panose="02000000000000000000" pitchFamily="2" charset="0"/>
                          </a:rPr>
                          <m:t>−1</m:t>
                        </m:r>
                      </m:sup>
                    </m:sSup>
                  </m:oMath>
                </a14:m>
                <a:r>
                  <a:rPr lang="es-MX" sz="2000" dirty="0">
                    <a:latin typeface="+mn-lt"/>
                    <a:ea typeface="Roboto" panose="02000000000000000000" pitchFamily="2" charset="0"/>
                  </a:rPr>
                  <a:t> </a:t>
                </a:r>
              </a:p>
            </p:txBody>
          </p:sp>
        </mc:Choice>
        <mc:Fallback>
          <p:sp>
            <p:nvSpPr>
              <p:cNvPr id="8" name="Google Shape;310;p34">
                <a:extLst>
                  <a:ext uri="{FF2B5EF4-FFF2-40B4-BE49-F238E27FC236}">
                    <a16:creationId xmlns:a16="http://schemas.microsoft.com/office/drawing/2014/main" id="{76D6224B-81F4-4CFC-AAE7-D6163BF9C28C}"/>
                  </a:ext>
                </a:extLst>
              </p:cNvPr>
              <p:cNvSpPr txBox="1">
                <a:spLocks noRot="1" noChangeAspect="1" noMove="1" noResize="1" noEditPoints="1" noAdjustHandles="1" noChangeArrowheads="1" noChangeShapeType="1" noTextEdit="1"/>
              </p:cNvSpPr>
              <p:nvPr/>
            </p:nvSpPr>
            <p:spPr>
              <a:xfrm>
                <a:off x="414229" y="6141433"/>
                <a:ext cx="11135444" cy="530942"/>
              </a:xfrm>
              <a:prstGeom prst="rect">
                <a:avLst/>
              </a:prstGeom>
              <a:blipFill>
                <a:blip r:embed="rId3"/>
                <a:stretch>
                  <a:fillRect b="-12500"/>
                </a:stretch>
              </a:blipFill>
              <a:ln>
                <a:noFill/>
              </a:ln>
            </p:spPr>
            <p:txBody>
              <a:bodyPr/>
              <a:lstStyle/>
              <a:p>
                <a:r>
                  <a:rPr lang="es-CO">
                    <a:noFill/>
                  </a:rPr>
                  <a:t> </a:t>
                </a:r>
              </a:p>
            </p:txBody>
          </p:sp>
        </mc:Fallback>
      </mc:AlternateContent>
      <p:grpSp>
        <p:nvGrpSpPr>
          <p:cNvPr id="26" name="Grupo 25">
            <a:extLst>
              <a:ext uri="{FF2B5EF4-FFF2-40B4-BE49-F238E27FC236}">
                <a16:creationId xmlns:a16="http://schemas.microsoft.com/office/drawing/2014/main" id="{F6315DB6-9E26-44A7-BA39-6D21F3933415}"/>
              </a:ext>
            </a:extLst>
          </p:cNvPr>
          <p:cNvGrpSpPr/>
          <p:nvPr/>
        </p:nvGrpSpPr>
        <p:grpSpPr>
          <a:xfrm>
            <a:off x="6056674" y="1894746"/>
            <a:ext cx="4852626" cy="4183187"/>
            <a:chOff x="7217736" y="1207398"/>
            <a:chExt cx="4130838" cy="3579621"/>
          </a:xfrm>
        </p:grpSpPr>
        <p:pic>
          <p:nvPicPr>
            <p:cNvPr id="22" name="Imagen 21">
              <a:extLst>
                <a:ext uri="{FF2B5EF4-FFF2-40B4-BE49-F238E27FC236}">
                  <a16:creationId xmlns:a16="http://schemas.microsoft.com/office/drawing/2014/main" id="{B81D514B-786A-41E0-ABB0-D669DAC41A4B}"/>
                </a:ext>
              </a:extLst>
            </p:cNvPr>
            <p:cNvPicPr>
              <a:picLocks noChangeAspect="1"/>
            </p:cNvPicPr>
            <p:nvPr/>
          </p:nvPicPr>
          <p:blipFill>
            <a:blip r:embed="rId4"/>
            <a:stretch>
              <a:fillRect/>
            </a:stretch>
          </p:blipFill>
          <p:spPr>
            <a:xfrm>
              <a:off x="8171543" y="1207398"/>
              <a:ext cx="3177031" cy="3062199"/>
            </a:xfrm>
            <a:prstGeom prst="rect">
              <a:avLst/>
            </a:prstGeom>
          </p:spPr>
        </p:pic>
        <p:pic>
          <p:nvPicPr>
            <p:cNvPr id="24" name="Imagen 23">
              <a:extLst>
                <a:ext uri="{FF2B5EF4-FFF2-40B4-BE49-F238E27FC236}">
                  <a16:creationId xmlns:a16="http://schemas.microsoft.com/office/drawing/2014/main" id="{62AD44F1-1CCA-4DDF-97C4-5B0B05EC6DBA}"/>
                </a:ext>
              </a:extLst>
            </p:cNvPr>
            <p:cNvPicPr>
              <a:picLocks noChangeAspect="1"/>
            </p:cNvPicPr>
            <p:nvPr/>
          </p:nvPicPr>
          <p:blipFill>
            <a:blip r:embed="rId5"/>
            <a:stretch>
              <a:fillRect/>
            </a:stretch>
          </p:blipFill>
          <p:spPr>
            <a:xfrm>
              <a:off x="7217736" y="3151620"/>
              <a:ext cx="2285178" cy="1635399"/>
            </a:xfrm>
            <a:prstGeom prst="rect">
              <a:avLst/>
            </a:prstGeom>
          </p:spPr>
        </p:pic>
      </p:grpSp>
      <p:grpSp>
        <p:nvGrpSpPr>
          <p:cNvPr id="23" name="Grupo 22">
            <a:extLst>
              <a:ext uri="{FF2B5EF4-FFF2-40B4-BE49-F238E27FC236}">
                <a16:creationId xmlns:a16="http://schemas.microsoft.com/office/drawing/2014/main" id="{5D0008FE-C035-4439-876D-5EE6FEF5057F}"/>
              </a:ext>
            </a:extLst>
          </p:cNvPr>
          <p:cNvGrpSpPr/>
          <p:nvPr/>
        </p:nvGrpSpPr>
        <p:grpSpPr>
          <a:xfrm>
            <a:off x="838200" y="2009142"/>
            <a:ext cx="4568520" cy="3832858"/>
            <a:chOff x="3562045" y="1301869"/>
            <a:chExt cx="3970544" cy="3357617"/>
          </a:xfrm>
        </p:grpSpPr>
        <p:pic>
          <p:nvPicPr>
            <p:cNvPr id="20" name="Imagen 19">
              <a:extLst>
                <a:ext uri="{FF2B5EF4-FFF2-40B4-BE49-F238E27FC236}">
                  <a16:creationId xmlns:a16="http://schemas.microsoft.com/office/drawing/2014/main" id="{959D4596-6DC8-4F6C-8B6F-BD7BC75DB221}"/>
                </a:ext>
              </a:extLst>
            </p:cNvPr>
            <p:cNvPicPr>
              <a:picLocks noChangeAspect="1"/>
            </p:cNvPicPr>
            <p:nvPr/>
          </p:nvPicPr>
          <p:blipFill>
            <a:blip r:embed="rId6"/>
            <a:stretch>
              <a:fillRect/>
            </a:stretch>
          </p:blipFill>
          <p:spPr>
            <a:xfrm>
              <a:off x="4484914" y="1301869"/>
              <a:ext cx="3047675" cy="2877005"/>
            </a:xfrm>
            <a:prstGeom prst="rect">
              <a:avLst/>
            </a:prstGeom>
          </p:spPr>
        </p:pic>
        <p:pic>
          <p:nvPicPr>
            <p:cNvPr id="25" name="Imagen 24">
              <a:extLst>
                <a:ext uri="{FF2B5EF4-FFF2-40B4-BE49-F238E27FC236}">
                  <a16:creationId xmlns:a16="http://schemas.microsoft.com/office/drawing/2014/main" id="{C160C3C5-7E4D-49AE-96C4-E300800F601F}"/>
                </a:ext>
              </a:extLst>
            </p:cNvPr>
            <p:cNvPicPr>
              <a:picLocks noChangeAspect="1"/>
            </p:cNvPicPr>
            <p:nvPr/>
          </p:nvPicPr>
          <p:blipFill>
            <a:blip r:embed="rId7"/>
            <a:stretch>
              <a:fillRect/>
            </a:stretch>
          </p:blipFill>
          <p:spPr>
            <a:xfrm>
              <a:off x="3562045" y="3024087"/>
              <a:ext cx="2224143" cy="1635399"/>
            </a:xfrm>
            <a:prstGeom prst="rect">
              <a:avLst/>
            </a:prstGeom>
          </p:spPr>
        </p:pic>
      </p:grpSp>
    </p:spTree>
    <p:extLst>
      <p:ext uri="{BB962C8B-B14F-4D97-AF65-F5344CB8AC3E}">
        <p14:creationId xmlns:p14="http://schemas.microsoft.com/office/powerpoint/2010/main" val="187244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74205" y="96038"/>
            <a:ext cx="874644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Relaciones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74205" y="898051"/>
            <a:ext cx="10850629"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sz="2400" b="1" dirty="0">
                <a:solidFill>
                  <a:schemeClr val="tx1"/>
                </a:solidFill>
                <a:latin typeface="+mn-lt"/>
              </a:rPr>
              <a:t>Relación identidad</a:t>
            </a: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8" name="Google Shape;310;p34">
                <a:extLst>
                  <a:ext uri="{FF2B5EF4-FFF2-40B4-BE49-F238E27FC236}">
                    <a16:creationId xmlns:a16="http://schemas.microsoft.com/office/drawing/2014/main" id="{FA035FCB-35A1-4C97-9F92-3E0C37527396}"/>
                  </a:ext>
                </a:extLst>
              </p:cNvPr>
              <p:cNvSpPr txBox="1">
                <a:spLocks/>
              </p:cNvSpPr>
              <p:nvPr/>
            </p:nvSpPr>
            <p:spPr>
              <a:xfrm>
                <a:off x="391758" y="1428993"/>
                <a:ext cx="11015521" cy="311584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Esta es una relación que solo relaciona cada </a:t>
                </a:r>
                <a:r>
                  <a:rPr lang="es-MX" sz="2000" b="1" dirty="0">
                    <a:latin typeface="+mn-lt"/>
                    <a:ea typeface="Roboto" panose="02000000000000000000" pitchFamily="2" charset="0"/>
                  </a:rPr>
                  <a:t>elemento consigo mismo</a:t>
                </a:r>
                <a:r>
                  <a:rPr lang="es-MX" sz="2000" dirty="0">
                    <a:latin typeface="+mn-lt"/>
                    <a:ea typeface="Roboto" panose="02000000000000000000" pitchFamily="2" charset="0"/>
                  </a:rPr>
                  <a:t>, y con ningún otro.</a:t>
                </a:r>
              </a:p>
              <a:p>
                <a:pPr marL="127000" indent="0">
                  <a:buNone/>
                </a:pPr>
                <a:r>
                  <a:rPr lang="es-MX" sz="2000" b="1" dirty="0">
                    <a:latin typeface="+mn-lt"/>
                    <a:ea typeface="Roboto" panose="02000000000000000000" pitchFamily="2" charset="0"/>
                  </a:rPr>
                  <a:t>Definición formal</a:t>
                </a:r>
                <a:r>
                  <a:rPr lang="es-MX" sz="2000" dirty="0">
                    <a:latin typeface="+mn-lt"/>
                    <a:ea typeface="Roboto" panose="02000000000000000000" pitchFamily="2" charset="0"/>
                  </a:rPr>
                  <a:t>: Dado un conjunto </a:t>
                </a:r>
                <a14:m>
                  <m:oMath xmlns:m="http://schemas.openxmlformats.org/officeDocument/2006/math">
                    <m:r>
                      <a:rPr lang="es-MX" sz="2000" b="0" i="1" smtClean="0">
                        <a:latin typeface="Cambria Math" panose="02040503050406030204" pitchFamily="18" charset="0"/>
                        <a:ea typeface="Cambria Math" panose="02040503050406030204" pitchFamily="18" charset="0"/>
                      </a:rPr>
                      <m:t>𝐴</m:t>
                    </m:r>
                  </m:oMath>
                </a14:m>
                <a:r>
                  <a:rPr lang="es-MX" sz="2000" dirty="0">
                    <a:latin typeface="+mn-lt"/>
                    <a:ea typeface="Roboto" panose="02000000000000000000" pitchFamily="2" charset="0"/>
                  </a:rPr>
                  <a:t>, la relación identidad </a:t>
                </a:r>
                <a14:m>
                  <m:oMath xmlns:m="http://schemas.openxmlformats.org/officeDocument/2006/math">
                    <m:r>
                      <a:rPr lang="es-MX" sz="2000" b="0" i="1">
                        <a:latin typeface="Cambria Math" panose="02040503050406030204" pitchFamily="18" charset="0"/>
                        <a:ea typeface="Cambria Math" panose="02040503050406030204" pitchFamily="18" charset="0"/>
                      </a:rPr>
                      <m:t>𝐴</m:t>
                    </m:r>
                  </m:oMath>
                </a14:m>
                <a:r>
                  <a:rPr lang="es-MX" sz="2000" dirty="0">
                    <a:latin typeface="+mn-lt"/>
                    <a:ea typeface="Roboto" panose="02000000000000000000" pitchFamily="2" charset="0"/>
                  </a:rPr>
                  <a:t>, denotada como </a:t>
                </a:r>
                <a14:m>
                  <m:oMath xmlns:m="http://schemas.openxmlformats.org/officeDocument/2006/math">
                    <m:sSub>
                      <m:sSubPr>
                        <m:ctrlPr>
                          <a:rPr lang="es-MX" sz="2000" i="1" smtClean="0">
                            <a:latin typeface="Cambria Math" panose="02040503050406030204" pitchFamily="18" charset="0"/>
                            <a:ea typeface="Cambria Math" panose="02040503050406030204" pitchFamily="18" charset="0"/>
                          </a:rPr>
                        </m:ctrlPr>
                      </m:sSubPr>
                      <m:e>
                        <m:r>
                          <a:rPr lang="es-MX" sz="2000" b="0" i="1" smtClean="0">
                            <a:latin typeface="Cambria Math" panose="02040503050406030204" pitchFamily="18" charset="0"/>
                            <a:ea typeface="Cambria Math" panose="02040503050406030204" pitchFamily="18" charset="0"/>
                          </a:rPr>
                          <m:t>𝐼</m:t>
                        </m:r>
                      </m:e>
                      <m:sub>
                        <m:r>
                          <a:rPr lang="es-MX" sz="2000" b="0" i="1" smtClean="0">
                            <a:latin typeface="Cambria Math" panose="02040503050406030204" pitchFamily="18" charset="0"/>
                            <a:ea typeface="Cambria Math" panose="02040503050406030204" pitchFamily="18" charset="0"/>
                          </a:rPr>
                          <m:t>𝐴</m:t>
                        </m:r>
                      </m:sub>
                    </m:sSub>
                  </m:oMath>
                </a14:m>
                <a:r>
                  <a:rPr lang="es-MX" sz="2000" dirty="0">
                    <a:latin typeface="+mn-lt"/>
                    <a:ea typeface="Roboto" panose="02000000000000000000" pitchFamily="2" charset="0"/>
                  </a:rPr>
                  <a:t>, </a:t>
                </a:r>
                <a:r>
                  <a:rPr lang="es-MX" sz="2000" dirty="0">
                    <a:latin typeface="+mn-lt"/>
                  </a:rPr>
                  <a:t>es el conjunto de todos los pares ordenados donde cada elemento está relacionado consigo mismo</a:t>
                </a:r>
                <a:r>
                  <a:rPr lang="es-MX" sz="2000" dirty="0">
                    <a:latin typeface="+mn-lt"/>
                    <a:ea typeface="Roboto" panose="02000000000000000000" pitchFamily="2" charset="0"/>
                  </a:rPr>
                  <a:t>, esto es:</a:t>
                </a:r>
              </a:p>
              <a:p>
                <a:pPr marL="127000" indent="0">
                  <a:buNone/>
                </a:pPr>
                <a:endParaRPr lang="es-MX" sz="2000" dirty="0">
                  <a:latin typeface="+mn-lt"/>
                  <a:ea typeface="Roboto" panose="02000000000000000000" pitchFamily="2" charset="0"/>
                </a:endParaRPr>
              </a:p>
              <a:p>
                <a:pPr marL="127000" indent="0">
                  <a:buNone/>
                </a:pPr>
                <a:endParaRPr lang="es-MX" sz="2000" dirty="0">
                  <a:latin typeface="+mn-lt"/>
                  <a:ea typeface="Roboto" panose="02000000000000000000" pitchFamily="2" charset="0"/>
                </a:endParaRPr>
              </a:p>
              <a:p>
                <a:pPr marL="127000" indent="0">
                  <a:buNone/>
                </a:pPr>
                <a:r>
                  <a:rPr lang="es-MX" sz="2000" b="1" dirty="0">
                    <a:latin typeface="+mn-lt"/>
                    <a:ea typeface="Roboto" panose="02000000000000000000" pitchFamily="2" charset="0"/>
                  </a:rPr>
                  <a:t>Ejemplo</a:t>
                </a:r>
                <a:r>
                  <a:rPr lang="es-MX" sz="2000" dirty="0">
                    <a:latin typeface="+mn-lt"/>
                    <a:ea typeface="Roboto" panose="02000000000000000000" pitchFamily="2" charset="0"/>
                  </a:rPr>
                  <a:t>:</a:t>
                </a:r>
              </a:p>
              <a:p>
                <a:pPr marL="127000" indent="0">
                  <a:buNone/>
                </a:pPr>
                <a:r>
                  <a:rPr lang="es-MX" sz="2000" dirty="0">
                    <a:latin typeface="+mn-lt"/>
                    <a:ea typeface="Roboto" panose="02000000000000000000" pitchFamily="2" charset="0"/>
                  </a:rPr>
                  <a:t>Sean los conjuntos </a:t>
                </a:r>
                <a14:m>
                  <m:oMath xmlns:m="http://schemas.openxmlformats.org/officeDocument/2006/math">
                    <m:r>
                      <a:rPr lang="es-MX" sz="2000" b="0" i="1" smtClean="0">
                        <a:solidFill>
                          <a:schemeClr val="tx1"/>
                        </a:solidFill>
                        <a:latin typeface="Cambria Math" panose="02040503050406030204" pitchFamily="18" charset="0"/>
                        <a:ea typeface="Roboto" panose="02000000000000000000" pitchFamily="2" charset="0"/>
                      </a:rPr>
                      <m:t>𝐴</m:t>
                    </m:r>
                    <m:r>
                      <a:rPr lang="es-MX" sz="2000" b="0" i="1" smtClean="0">
                        <a:solidFill>
                          <a:schemeClr val="tx1"/>
                        </a:solidFill>
                        <a:latin typeface="Cambria Math" panose="02040503050406030204" pitchFamily="18" charset="0"/>
                        <a:ea typeface="Roboto" panose="02000000000000000000" pitchFamily="2" charset="0"/>
                      </a:rPr>
                      <m:t>=</m:t>
                    </m:r>
                    <m:d>
                      <m:dPr>
                        <m:begChr m:val="{"/>
                        <m:endChr m:val="}"/>
                        <m:ctrlPr>
                          <a:rPr lang="es-MX" sz="2000" b="0" i="1" smtClean="0">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𝑎</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𝑏</m:t>
                        </m:r>
                        <m:r>
                          <a:rPr lang="es-MX" sz="2000" b="0" i="1" smtClean="0">
                            <a:solidFill>
                              <a:schemeClr val="tx1"/>
                            </a:solidFill>
                            <a:latin typeface="Cambria Math" panose="02040503050406030204" pitchFamily="18" charset="0"/>
                            <a:ea typeface="Roboto" panose="02000000000000000000" pitchFamily="2" charset="0"/>
                          </a:rPr>
                          <m:t>,</m:t>
                        </m:r>
                        <m:r>
                          <a:rPr lang="es-MX" sz="2000" b="0" i="1" smtClean="0">
                            <a:solidFill>
                              <a:schemeClr val="tx1"/>
                            </a:solidFill>
                            <a:latin typeface="Cambria Math" panose="02040503050406030204" pitchFamily="18" charset="0"/>
                            <a:ea typeface="Roboto" panose="02000000000000000000" pitchFamily="2" charset="0"/>
                          </a:rPr>
                          <m:t>𝑐</m:t>
                        </m:r>
                      </m:e>
                    </m:d>
                  </m:oMath>
                </a14:m>
                <a:r>
                  <a:rPr lang="es-MX" sz="2000" b="0" i="1" dirty="0">
                    <a:solidFill>
                      <a:schemeClr val="tx1"/>
                    </a:solidFill>
                    <a:latin typeface="+mn-lt"/>
                    <a:ea typeface="Roboto" panose="02000000000000000000" pitchFamily="2" charset="0"/>
                  </a:rPr>
                  <a:t> </a:t>
                </a:r>
                <a:r>
                  <a:rPr lang="es-MX" sz="2000" dirty="0">
                    <a:latin typeface="+mn-lt"/>
                    <a:ea typeface="Roboto" panose="02000000000000000000" pitchFamily="2" charset="0"/>
                  </a:rPr>
                  <a:t>y </a:t>
                </a:r>
                <a14:m>
                  <m:oMath xmlns:m="http://schemas.openxmlformats.org/officeDocument/2006/math">
                    <m:r>
                      <a:rPr lang="es-MX" sz="2000" i="1">
                        <a:solidFill>
                          <a:schemeClr val="tx1"/>
                        </a:solidFill>
                        <a:latin typeface="Cambria Math" panose="02040503050406030204" pitchFamily="18" charset="0"/>
                        <a:ea typeface="Roboto" panose="02000000000000000000" pitchFamily="2" charset="0"/>
                      </a:rPr>
                      <m:t>𝐵</m:t>
                    </m:r>
                    <m:r>
                      <a:rPr lang="es-MX" sz="2000" i="1">
                        <a:solidFill>
                          <a:schemeClr val="tx1"/>
                        </a:solidFill>
                        <a:latin typeface="Cambria Math" panose="02040503050406030204" pitchFamily="18" charset="0"/>
                        <a:ea typeface="Roboto" panose="02000000000000000000" pitchFamily="2" charset="0"/>
                      </a:rPr>
                      <m:t>=</m:t>
                    </m:r>
                    <m:d>
                      <m:dPr>
                        <m:begChr m:val="{"/>
                        <m:endChr m:val="}"/>
                        <m:ctrlPr>
                          <a:rPr lang="es-MX" sz="2000" i="1">
                            <a:solidFill>
                              <a:schemeClr val="tx1"/>
                            </a:solidFill>
                            <a:latin typeface="Cambria Math" panose="02040503050406030204" pitchFamily="18" charset="0"/>
                            <a:ea typeface="Roboto" panose="02000000000000000000" pitchFamily="2" charset="0"/>
                          </a:rPr>
                        </m:ctrlPr>
                      </m:dPr>
                      <m:e>
                        <m:r>
                          <a:rPr lang="es-MX" sz="2000" b="0" i="1" smtClean="0">
                            <a:solidFill>
                              <a:schemeClr val="tx1"/>
                            </a:solidFill>
                            <a:latin typeface="Cambria Math" panose="02040503050406030204" pitchFamily="18" charset="0"/>
                            <a:ea typeface="Roboto" panose="02000000000000000000" pitchFamily="2" charset="0"/>
                          </a:rPr>
                          <m:t>1,2,3</m:t>
                        </m:r>
                      </m:e>
                    </m:d>
                  </m:oMath>
                </a14:m>
                <a:r>
                  <a:rPr lang="es-CO" sz="2000" dirty="0">
                    <a:latin typeface="+mn-lt"/>
                  </a:rPr>
                  <a:t>, obtenga la relación identidad para cada uno:</a:t>
                </a:r>
              </a:p>
            </p:txBody>
          </p:sp>
        </mc:Choice>
        <mc:Fallback xmlns="">
          <p:sp>
            <p:nvSpPr>
              <p:cNvPr id="8" name="Google Shape;310;p34">
                <a:extLst>
                  <a:ext uri="{FF2B5EF4-FFF2-40B4-BE49-F238E27FC236}">
                    <a16:creationId xmlns:a16="http://schemas.microsoft.com/office/drawing/2014/main" id="{FA035FCB-35A1-4C97-9F92-3E0C37527396}"/>
                  </a:ext>
                </a:extLst>
              </p:cNvPr>
              <p:cNvSpPr txBox="1">
                <a:spLocks noRot="1" noChangeAspect="1" noMove="1" noResize="1" noEditPoints="1" noAdjustHandles="1" noChangeArrowheads="1" noChangeShapeType="1" noTextEdit="1"/>
              </p:cNvSpPr>
              <p:nvPr/>
            </p:nvSpPr>
            <p:spPr>
              <a:xfrm>
                <a:off x="391758" y="1428993"/>
                <a:ext cx="11015521" cy="3115848"/>
              </a:xfrm>
              <a:prstGeom prst="rect">
                <a:avLst/>
              </a:prstGeom>
              <a:blipFill>
                <a:blip r:embed="rId3"/>
                <a:stretch>
                  <a:fillRect/>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FAC35029-31BE-4BFC-9516-05BEBCD2DBC3}"/>
                  </a:ext>
                </a:extLst>
              </p:cNvPr>
              <p:cNvSpPr txBox="1"/>
              <p:nvPr/>
            </p:nvSpPr>
            <p:spPr>
              <a:xfrm>
                <a:off x="4373723" y="3072287"/>
                <a:ext cx="305173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𝐼</m:t>
                          </m:r>
                        </m:e>
                        <m:sub>
                          <m:r>
                            <a:rPr lang="es-MX" sz="2000" b="0" i="1" smtClean="0">
                              <a:latin typeface="Cambria Math" panose="02040503050406030204" pitchFamily="18" charset="0"/>
                              <a:ea typeface="Roboto" panose="02000000000000000000" pitchFamily="2" charset="0"/>
                            </a:rPr>
                            <m:t>𝐴</m:t>
                          </m:r>
                        </m:sub>
                      </m:sSub>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e>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𝐴</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𝑦</m:t>
                          </m:r>
                        </m:e>
                      </m:d>
                    </m:oMath>
                  </m:oMathPara>
                </a14:m>
                <a:endParaRPr lang="es-CO" sz="2000" dirty="0"/>
              </a:p>
            </p:txBody>
          </p:sp>
        </mc:Choice>
        <mc:Fallback xmlns="">
          <p:sp>
            <p:nvSpPr>
              <p:cNvPr id="3" name="CuadroTexto 2">
                <a:extLst>
                  <a:ext uri="{FF2B5EF4-FFF2-40B4-BE49-F238E27FC236}">
                    <a16:creationId xmlns:a16="http://schemas.microsoft.com/office/drawing/2014/main" id="{FAC35029-31BE-4BFC-9516-05BEBCD2DBC3}"/>
                  </a:ext>
                </a:extLst>
              </p:cNvPr>
              <p:cNvSpPr txBox="1">
                <a:spLocks noRot="1" noChangeAspect="1" noMove="1" noResize="1" noEditPoints="1" noAdjustHandles="1" noChangeArrowheads="1" noChangeShapeType="1" noTextEdit="1"/>
              </p:cNvSpPr>
              <p:nvPr/>
            </p:nvSpPr>
            <p:spPr>
              <a:xfrm>
                <a:off x="4373723" y="3072287"/>
                <a:ext cx="3051733" cy="307777"/>
              </a:xfrm>
              <a:prstGeom prst="rect">
                <a:avLst/>
              </a:prstGeom>
              <a:blipFill>
                <a:blip r:embed="rId4"/>
                <a:stretch>
                  <a:fillRect l="-1397" b="-26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7DCD8CCC-5952-4640-A1FB-2DF1629DE5C9}"/>
                  </a:ext>
                </a:extLst>
              </p:cNvPr>
              <p:cNvSpPr txBox="1"/>
              <p:nvPr/>
            </p:nvSpPr>
            <p:spPr>
              <a:xfrm>
                <a:off x="2314895" y="5203308"/>
                <a:ext cx="276530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𝐼</m:t>
                          </m:r>
                        </m:e>
                        <m:sub>
                          <m:r>
                            <a:rPr lang="es-MX" sz="2000" b="0" i="1" smtClean="0">
                              <a:latin typeface="Cambria Math" panose="02040503050406030204" pitchFamily="18" charset="0"/>
                              <a:ea typeface="Roboto" panose="02000000000000000000" pitchFamily="2" charset="0"/>
                            </a:rPr>
                            <m:t>𝐴</m:t>
                          </m:r>
                        </m:sub>
                      </m:sSub>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𝑎</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𝑏</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𝑏</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𝑐</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𝑐</m:t>
                              </m:r>
                            </m:e>
                          </m:d>
                        </m:e>
                      </m:d>
                    </m:oMath>
                  </m:oMathPara>
                </a14:m>
                <a:endParaRPr lang="es-CO" sz="2000" dirty="0"/>
              </a:p>
            </p:txBody>
          </p:sp>
        </mc:Choice>
        <mc:Fallback xmlns="">
          <p:sp>
            <p:nvSpPr>
              <p:cNvPr id="10" name="CuadroTexto 9">
                <a:extLst>
                  <a:ext uri="{FF2B5EF4-FFF2-40B4-BE49-F238E27FC236}">
                    <a16:creationId xmlns:a16="http://schemas.microsoft.com/office/drawing/2014/main" id="{7DCD8CCC-5952-4640-A1FB-2DF1629DE5C9}"/>
                  </a:ext>
                </a:extLst>
              </p:cNvPr>
              <p:cNvSpPr txBox="1">
                <a:spLocks noRot="1" noChangeAspect="1" noMove="1" noResize="1" noEditPoints="1" noAdjustHandles="1" noChangeArrowheads="1" noChangeShapeType="1" noTextEdit="1"/>
              </p:cNvSpPr>
              <p:nvPr/>
            </p:nvSpPr>
            <p:spPr>
              <a:xfrm>
                <a:off x="2314895" y="5203308"/>
                <a:ext cx="2765309" cy="307777"/>
              </a:xfrm>
              <a:prstGeom prst="rect">
                <a:avLst/>
              </a:prstGeom>
              <a:blipFill>
                <a:blip r:embed="rId5"/>
                <a:stretch>
                  <a:fillRect l="-1766" b="-18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1150A5CD-CA00-442B-8403-DA5ACB2FC721}"/>
                  </a:ext>
                </a:extLst>
              </p:cNvPr>
              <p:cNvSpPr txBox="1"/>
              <p:nvPr/>
            </p:nvSpPr>
            <p:spPr>
              <a:xfrm>
                <a:off x="6307506" y="5205842"/>
                <a:ext cx="268470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ea typeface="Roboto" panose="02000000000000000000" pitchFamily="2" charset="0"/>
                            </a:rPr>
                          </m:ctrlPr>
                        </m:sSubPr>
                        <m:e>
                          <m:r>
                            <a:rPr lang="es-MX" sz="2000" b="0" i="1" smtClean="0">
                              <a:latin typeface="Cambria Math" panose="02040503050406030204" pitchFamily="18" charset="0"/>
                              <a:ea typeface="Roboto" panose="02000000000000000000" pitchFamily="2" charset="0"/>
                            </a:rPr>
                            <m:t>𝐼</m:t>
                          </m:r>
                        </m:e>
                        <m:sub>
                          <m:r>
                            <a:rPr lang="es-MX" sz="2000" b="0" i="1" smtClean="0">
                              <a:latin typeface="Cambria Math" panose="02040503050406030204" pitchFamily="18" charset="0"/>
                              <a:ea typeface="Roboto" panose="02000000000000000000" pitchFamily="2" charset="0"/>
                            </a:rPr>
                            <m:t>𝐵</m:t>
                          </m:r>
                        </m:sub>
                      </m:sSub>
                      <m:r>
                        <a:rPr lang="es-MX" sz="2000" b="0" i="1" smtClean="0">
                          <a:latin typeface="Cambria Math" panose="02040503050406030204" pitchFamily="18" charset="0"/>
                          <a:ea typeface="Roboto" panose="02000000000000000000" pitchFamily="2" charset="0"/>
                        </a:rPr>
                        <m:t>=</m:t>
                      </m:r>
                      <m:d>
                        <m:dPr>
                          <m:begChr m:val="{"/>
                          <m:endChr m:val="}"/>
                          <m:ctrlPr>
                            <a:rPr lang="es-MX" sz="2000" b="0" i="1" smtClean="0">
                              <a:latin typeface="Cambria Math" panose="02040503050406030204" pitchFamily="18" charset="0"/>
                              <a:ea typeface="Roboto" panose="02000000000000000000" pitchFamily="2" charset="0"/>
                            </a:rPr>
                          </m:ctrlPr>
                        </m:dPr>
                        <m:e>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1,1</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2,2</m:t>
                              </m:r>
                            </m:e>
                          </m:d>
                          <m:r>
                            <a:rPr lang="es-MX" sz="2000" b="0" i="1" smtClean="0">
                              <a:latin typeface="Cambria Math" panose="02040503050406030204" pitchFamily="18" charset="0"/>
                              <a:ea typeface="Roboto" panose="02000000000000000000" pitchFamily="2" charset="0"/>
                            </a:rPr>
                            <m:t>,</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3,3</m:t>
                              </m:r>
                            </m:e>
                          </m:d>
                        </m:e>
                      </m:d>
                    </m:oMath>
                  </m:oMathPara>
                </a14:m>
                <a:endParaRPr lang="es-CO" sz="2000" dirty="0"/>
              </a:p>
            </p:txBody>
          </p:sp>
        </mc:Choice>
        <mc:Fallback xmlns="">
          <p:sp>
            <p:nvSpPr>
              <p:cNvPr id="7" name="CuadroTexto 6">
                <a:extLst>
                  <a:ext uri="{FF2B5EF4-FFF2-40B4-BE49-F238E27FC236}">
                    <a16:creationId xmlns:a16="http://schemas.microsoft.com/office/drawing/2014/main" id="{1150A5CD-CA00-442B-8403-DA5ACB2FC721}"/>
                  </a:ext>
                </a:extLst>
              </p:cNvPr>
              <p:cNvSpPr txBox="1">
                <a:spLocks noRot="1" noChangeAspect="1" noMove="1" noResize="1" noEditPoints="1" noAdjustHandles="1" noChangeArrowheads="1" noChangeShapeType="1" noTextEdit="1"/>
              </p:cNvSpPr>
              <p:nvPr/>
            </p:nvSpPr>
            <p:spPr>
              <a:xfrm>
                <a:off x="6307506" y="5205842"/>
                <a:ext cx="2684709" cy="307777"/>
              </a:xfrm>
              <a:prstGeom prst="rect">
                <a:avLst/>
              </a:prstGeom>
              <a:blipFill>
                <a:blip r:embed="rId6"/>
                <a:stretch>
                  <a:fillRect l="-1364" b="-18000"/>
                </a:stretch>
              </a:blipFill>
            </p:spPr>
            <p:txBody>
              <a:bodyPr/>
              <a:lstStyle/>
              <a:p>
                <a:r>
                  <a:rPr lang="es-CO">
                    <a:noFill/>
                  </a:rPr>
                  <a:t> </a:t>
                </a:r>
              </a:p>
            </p:txBody>
          </p:sp>
        </mc:Fallback>
      </mc:AlternateContent>
    </p:spTree>
    <p:extLst>
      <p:ext uri="{BB962C8B-B14F-4D97-AF65-F5344CB8AC3E}">
        <p14:creationId xmlns:p14="http://schemas.microsoft.com/office/powerpoint/2010/main" val="133706725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28202</TotalTime>
  <Words>2522</Words>
  <Application>Microsoft Office PowerPoint</Application>
  <PresentationFormat>Panorámica</PresentationFormat>
  <Paragraphs>406</Paragraphs>
  <Slides>39</Slides>
  <Notes>39</Notes>
  <HiddenSlides>0</HiddenSlides>
  <MMClips>0</MMClips>
  <ScaleCrop>false</ScaleCrop>
  <HeadingPairs>
    <vt:vector size="6" baseType="variant">
      <vt:variant>
        <vt:lpstr>Fuentes usadas</vt:lpstr>
      </vt:variant>
      <vt:variant>
        <vt:i4>7</vt:i4>
      </vt:variant>
      <vt:variant>
        <vt:lpstr>Tema</vt:lpstr>
      </vt:variant>
      <vt:variant>
        <vt:i4>2</vt:i4>
      </vt:variant>
      <vt:variant>
        <vt:lpstr>Títulos de diapositiva</vt:lpstr>
      </vt:variant>
      <vt:variant>
        <vt:i4>39</vt:i4>
      </vt:variant>
    </vt:vector>
  </HeadingPairs>
  <TitlesOfParts>
    <vt:vector size="48" baseType="lpstr">
      <vt:lpstr>Arial</vt:lpstr>
      <vt:lpstr>Calibri</vt:lpstr>
      <vt:lpstr>Calibri Light</vt:lpstr>
      <vt:lpstr>Cambria Math</vt:lpstr>
      <vt:lpstr>Roboto</vt:lpstr>
      <vt:lpstr>Consolas</vt:lpstr>
      <vt:lpstr>Roboto Slab</vt:lpstr>
      <vt:lpstr>Tema de Office</vt:lpstr>
      <vt:lpstr>1_Tema de Office</vt:lpstr>
      <vt:lpstr> Matemáticas Discretas I</vt:lpstr>
      <vt:lpstr>Introducción</vt:lpstr>
      <vt:lpstr>Introducción</vt:lpstr>
      <vt:lpstr>Introducción</vt:lpstr>
      <vt:lpstr>Introducción</vt:lpstr>
      <vt:lpstr>Introducción</vt:lpstr>
      <vt:lpstr>Introducción</vt:lpstr>
      <vt:lpstr>Introducción</vt:lpstr>
      <vt:lpstr>Conceptos básicos</vt:lpstr>
      <vt:lpstr>Conceptos básicos</vt:lpstr>
      <vt:lpstr>Conceptos básicos</vt:lpstr>
      <vt:lpstr>Conceptos básicos</vt:lpstr>
      <vt:lpstr>Conceptos básicos</vt:lpstr>
      <vt:lpstr>Conceptos básicos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lpstr>Relaciones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Matemáticas Discretas I</dc:title>
  <dc:creator>Usuario</dc:creator>
  <cp:lastModifiedBy>HENRY ALBERTO ARCILA RAMIREZ</cp:lastModifiedBy>
  <cp:revision>373</cp:revision>
  <dcterms:modified xsi:type="dcterms:W3CDTF">2026-10-27T10:51:53Z</dcterms:modified>
</cp:coreProperties>
</file>