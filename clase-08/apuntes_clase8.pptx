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58"/>
  </p:notesMasterIdLst>
  <p:sldIdLst>
    <p:sldId id="256" r:id="rId2"/>
    <p:sldId id="402" r:id="rId3"/>
    <p:sldId id="468" r:id="rId4"/>
    <p:sldId id="410" r:id="rId5"/>
    <p:sldId id="481" r:id="rId6"/>
    <p:sldId id="554" r:id="rId7"/>
    <p:sldId id="496" r:id="rId8"/>
    <p:sldId id="555" r:id="rId9"/>
    <p:sldId id="497" r:id="rId10"/>
    <p:sldId id="498" r:id="rId11"/>
    <p:sldId id="556" r:id="rId12"/>
    <p:sldId id="503" r:id="rId13"/>
    <p:sldId id="533" r:id="rId14"/>
    <p:sldId id="558" r:id="rId15"/>
    <p:sldId id="534" r:id="rId16"/>
    <p:sldId id="559" r:id="rId17"/>
    <p:sldId id="539" r:id="rId18"/>
    <p:sldId id="548" r:id="rId19"/>
    <p:sldId id="549" r:id="rId20"/>
    <p:sldId id="550" r:id="rId21"/>
    <p:sldId id="502" r:id="rId22"/>
    <p:sldId id="504" r:id="rId23"/>
    <p:sldId id="505" r:id="rId24"/>
    <p:sldId id="551" r:id="rId25"/>
    <p:sldId id="506" r:id="rId26"/>
    <p:sldId id="509" r:id="rId27"/>
    <p:sldId id="552" r:id="rId28"/>
    <p:sldId id="512" r:id="rId29"/>
    <p:sldId id="513" r:id="rId30"/>
    <p:sldId id="514" r:id="rId31"/>
    <p:sldId id="515" r:id="rId32"/>
    <p:sldId id="516" r:id="rId33"/>
    <p:sldId id="517" r:id="rId34"/>
    <p:sldId id="518" r:id="rId35"/>
    <p:sldId id="553" r:id="rId36"/>
    <p:sldId id="543" r:id="rId37"/>
    <p:sldId id="525" r:id="rId38"/>
    <p:sldId id="530" r:id="rId39"/>
    <p:sldId id="546" r:id="rId40"/>
    <p:sldId id="526" r:id="rId41"/>
    <p:sldId id="560" r:id="rId42"/>
    <p:sldId id="527" r:id="rId43"/>
    <p:sldId id="561" r:id="rId44"/>
    <p:sldId id="528" r:id="rId45"/>
    <p:sldId id="562" r:id="rId46"/>
    <p:sldId id="529" r:id="rId47"/>
    <p:sldId id="532" r:id="rId48"/>
    <p:sldId id="563" r:id="rId49"/>
    <p:sldId id="544" r:id="rId50"/>
    <p:sldId id="565" r:id="rId51"/>
    <p:sldId id="564" r:id="rId52"/>
    <p:sldId id="545" r:id="rId53"/>
    <p:sldId id="566" r:id="rId54"/>
    <p:sldId id="567" r:id="rId55"/>
    <p:sldId id="547" r:id="rId56"/>
    <p:sldId id="568" r:id="rId57"/>
  </p:sldIdLst>
  <p:sldSz cx="12192000" cy="6858000"/>
  <p:notesSz cx="6858000" cy="9144000"/>
  <p:embeddedFontLst>
    <p:embeddedFont>
      <p:font typeface="Calibri" panose="020F0502020204030204" pitchFamily="34" charset="0"/>
      <p:regular r:id="rId59"/>
      <p:bold r:id="rId60"/>
      <p:italic r:id="rId61"/>
      <p:boldItalic r:id="rId62"/>
    </p:embeddedFont>
    <p:embeddedFont>
      <p:font typeface="Calibri Light" panose="020F0302020204030204" pitchFamily="34" charset="0"/>
      <p:regular r:id="rId63"/>
      <p:italic r:id="rId64"/>
    </p:embeddedFont>
    <p:embeddedFont>
      <p:font typeface="Cambria Math" panose="02040503050406030204" pitchFamily="18" charset="0"/>
      <p:regular r:id="rId65"/>
    </p:embeddedFont>
    <p:embeddedFont>
      <p:font typeface="Roboto" panose="02000000000000000000" pitchFamily="2" charset="0"/>
      <p:regular r:id="rId66"/>
      <p:bold r:id="rId67"/>
      <p:italic r:id="rId68"/>
      <p:boldItalic r:id="rId69"/>
    </p:embeddedFont>
    <p:embeddedFont>
      <p:font typeface="Roboto Slab" panose="020B0604020202020204" charset="0"/>
      <p:regular r:id="rId70"/>
      <p:bold r:id="rId71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6A3598-7CB8-4345-8D95-17CE05F158A0}">
  <a:tblStyle styleId="{AD6A3598-7CB8-4345-8D95-17CE05F158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4" autoAdjust="0"/>
    <p:restoredTop sz="89134" autoAdjust="0"/>
  </p:normalViewPr>
  <p:slideViewPr>
    <p:cSldViewPr snapToGrid="0">
      <p:cViewPr varScale="1">
        <p:scale>
          <a:sx n="61" d="100"/>
          <a:sy n="61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5.fntdata"/><Relationship Id="rId68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66" Type="http://schemas.openxmlformats.org/officeDocument/2006/relationships/font" Target="fonts/font8.fntdata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6.fntdata"/><Relationship Id="rId69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.fntdata"/><Relationship Id="rId67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4.fntdata"/><Relationship Id="rId70" Type="http://schemas.openxmlformats.org/officeDocument/2006/relationships/font" Target="fonts/font12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2.fntdata"/><Relationship Id="rId65" Type="http://schemas.openxmlformats.org/officeDocument/2006/relationships/font" Target="fonts/font7.fntdata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8457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892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36583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786877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0211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204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4002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0851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0931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6120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2051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9183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38275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09501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87180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26761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349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25434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49025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75042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31501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66956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31382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34202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81201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Está presente en casi todos los computadores que nos rodean.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lenguajes de programación más populares no fueron diseñados para programación paralela.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43061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40451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8091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73424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14517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43907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10991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07581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1981862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286151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47480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5923744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6379947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2353907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3322039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47108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6701720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2639033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0622488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96517811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15162975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76009037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78737588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15604738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42838812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7033680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83233916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00806690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25379008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359800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3E8EB1-3E1A-40FF-96E2-CCF84B75B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762B60-B3E6-4259-ACDE-909CF27C38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EDFA4F-DD5F-4C28-AE97-9DFF36423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DEC5DE-1D58-448E-9DEC-574AA61E5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99E108-6572-424B-A193-39B737FDD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991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8B3B7-2ED4-4401-9A34-CF7D8265B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9C807B-5189-449D-9AAF-559FD6BB1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20C9DA-51C2-4199-9C2E-C0811E0A8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B9C7B1-B7FF-4670-A336-FACBF6EB7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4FE06E-A7DC-4220-AF94-322293382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922560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48D423-E042-44A4-AF0A-5D875D9B0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39AD90-F7C6-4C17-8DBC-F6AA86A19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6BD32A-D49B-4F23-A905-8936C6403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489A24-7494-4059-894B-E203B1995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E54968-8738-4B53-B919-4B3C3AEFF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935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72D922-1CB7-4E16-8A5C-5FA92669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E0D4C5-98F7-4649-8E15-671AE740B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DCB659-ECC3-4E5D-ABA4-2DEDD90F4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6D26A2-BF5B-4D1F-BB50-BC83ED768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6791BB-08C4-4CBA-A30A-5A27DFBDC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634AF5-EA1B-47EA-AC15-65D01705B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1928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884086-8B37-43F4-9AE8-902CC24B6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70F8CD-18F6-4390-8392-1EB65924E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DA5E2A5-F7E5-4A2D-8D9F-9140AFE6B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A6E4715-C18C-4604-9B5D-596DF30050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4AD35C7-384C-4671-BCA8-135CDCFC42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27254D6-0FD1-4AC8-9D45-5B4A28DC7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99498EC-6B75-4A30-95CD-B60182A1E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F888573-6699-465C-ACF4-ADDDFE5C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5941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70731-44CF-4FFA-8130-8C2198733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4A64AF3-38AA-48CA-815A-CAB0DE973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654EBC-12B6-400B-BA61-977B01D12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9CD5DD4-0820-495F-952A-DB8ECEDDB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4019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DA7B6EF-0AB5-4820-81BF-BD628F8D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8C60F7B-141B-4773-A440-DD01158C9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A452F3-E638-47A5-84DB-538E227CC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1382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7FEB3D-9544-4320-9479-4A0EC1D6A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4DE8CB-E474-4909-8EBF-A4DF12C73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8132E3-9D1F-4224-8BE7-D520A22B0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59A804-0AB5-462F-A94E-CA7CB6341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73B427-A08F-49C4-AF65-D82B87E18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0F2116-4448-4427-95B4-CA29F6168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5364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8AF078-36BA-4722-9002-CA539BC60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A182711-5EEC-4206-A648-4207720A15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E200B7-6A33-4244-BC03-6370F50CB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86E6DF-B5F2-4197-8E55-C0EDEA92C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894967-520B-48E7-B535-ED0566F2F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3C3B05-B73A-4435-9C8B-4E7DAB931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69417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8F0125-79B9-40A6-A2F1-4E88A9DFD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1CA0A6-91A0-44B2-A2F7-4F1451AAA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E257D4-8D4F-4DF1-9E15-C64E068C6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F60459-FC65-4A99-9405-90B55BF0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CCAF31-DCAB-4A68-8084-6128EC879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0028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79F9DD5-5E52-4A87-B04D-038F8FE305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7721F1-A85F-41EB-9CD8-C089DAD97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AE0935-AC92-45D9-AD7A-7548E2D99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5B3D9B-D9CC-4207-9572-3254833A4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5898DC-C291-47C3-AD06-66C59DA46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6687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22753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7554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F6637F2-415E-47DB-816C-B373042FB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1337EC-EB85-4578-9487-E1947C9FE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C27344-9F94-42A5-9B38-E7A8E7ECD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63E868-E827-41F6-B26B-AA78A084A1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D13110-5379-4CE5-8A63-0C44F2435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30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image" Target="../media/image3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gif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9.png"/><Relationship Id="rId7" Type="http://schemas.openxmlformats.org/officeDocument/2006/relationships/image" Target="../media/image1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10" Type="http://schemas.openxmlformats.org/officeDocument/2006/relationships/image" Target="../media/image20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7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50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jpeg"/><Relationship Id="rId5" Type="http://schemas.openxmlformats.org/officeDocument/2006/relationships/image" Target="../media/image430.png"/><Relationship Id="rId4" Type="http://schemas.openxmlformats.org/officeDocument/2006/relationships/image" Target="../media/image42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5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jpeg"/><Relationship Id="rId5" Type="http://schemas.openxmlformats.org/officeDocument/2006/relationships/image" Target="../media/image490.png"/><Relationship Id="rId4" Type="http://schemas.openxmlformats.org/officeDocument/2006/relationships/image" Target="../media/image48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52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8.png"/><Relationship Id="rId5" Type="http://schemas.openxmlformats.org/officeDocument/2006/relationships/image" Target="../media/image217.png"/><Relationship Id="rId4" Type="http://schemas.openxmlformats.org/officeDocument/2006/relationships/image" Target="../media/image67.png"/><Relationship Id="rId9" Type="http://schemas.openxmlformats.org/officeDocument/2006/relationships/image" Target="../media/image7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964875"/>
            <a:ext cx="11147399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dirty="0"/>
              <a:t>Matemáticas Discretas I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xfrm>
            <a:off x="635877" y="3728162"/>
            <a:ext cx="11147399" cy="279455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3600" b="1" dirty="0"/>
              <a:t>Clase 08 – Cuantificadores</a:t>
            </a:r>
          </a:p>
          <a:p>
            <a:r>
              <a:rPr lang="es-CO" sz="2800" dirty="0"/>
              <a:t>Universidad de Antioquia</a:t>
            </a:r>
          </a:p>
          <a:p>
            <a:r>
              <a:rPr lang="es-CO" sz="2800" dirty="0"/>
              <a:t>Facultad de Ingeniería</a:t>
            </a:r>
          </a:p>
          <a:p>
            <a:r>
              <a:rPr lang="es-CO" sz="2800" dirty="0"/>
              <a:t>Ingeniería de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262" y="96038"/>
            <a:ext cx="8700388" cy="949500"/>
          </a:xfrm>
        </p:spPr>
        <p:txBody>
          <a:bodyPr/>
          <a:lstStyle/>
          <a:p>
            <a:r>
              <a:rPr lang="es-CO" dirty="0">
                <a:solidFill>
                  <a:schemeClr val="tx1"/>
                </a:solidFill>
                <a:latin typeface="+mj-lt"/>
              </a:rPr>
              <a:t>Resumen rápido lógica proposicional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A77EDC1-5CE0-49D5-BA67-F7A61140CA7B}"/>
              </a:ext>
            </a:extLst>
          </p:cNvPr>
          <p:cNvSpPr txBox="1"/>
          <p:nvPr/>
        </p:nvSpPr>
        <p:spPr>
          <a:xfrm>
            <a:off x="353962" y="1045538"/>
            <a:ext cx="379033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Equivalencias lógicas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F5E6011-0E0A-4487-9FD0-7A5C477F1CD1}"/>
              </a:ext>
            </a:extLst>
          </p:cNvPr>
          <p:cNvSpPr txBox="1"/>
          <p:nvPr/>
        </p:nvSpPr>
        <p:spPr>
          <a:xfrm>
            <a:off x="353962" y="3500081"/>
            <a:ext cx="33773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Construcción de equivalencias lógicas</a:t>
            </a:r>
            <a:endParaRPr lang="es-CO" sz="24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E0DA7F5-733C-40B0-808C-60C4236736CB}"/>
              </a:ext>
            </a:extLst>
          </p:cNvPr>
          <p:cNvSpPr txBox="1"/>
          <p:nvPr/>
        </p:nvSpPr>
        <p:spPr>
          <a:xfrm>
            <a:off x="353962" y="1636747"/>
            <a:ext cx="27270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Equivalencia lógica</a:t>
            </a:r>
            <a:endParaRPr lang="es-CO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D98741DF-6BBC-4A7C-9631-98F05A62756E}"/>
                  </a:ext>
                </a:extLst>
              </p:cNvPr>
              <p:cNvSpPr txBox="1"/>
              <p:nvPr/>
            </p:nvSpPr>
            <p:spPr>
              <a:xfrm>
                <a:off x="387018" y="2212132"/>
                <a:ext cx="3759823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000" dirty="0">
                    <a:latin typeface="Roboto" panose="02000000000000000000" pitchFamily="2" charset="0"/>
                    <a:ea typeface="Roboto" panose="02000000000000000000" pitchFamily="2" charset="0"/>
                  </a:rPr>
                  <a:t>Dos proposiciones compuestas </a:t>
                </a:r>
                <a14:m>
                  <m:oMath xmlns:m="http://schemas.openxmlformats.org/officeDocument/2006/math">
                    <m:r>
                      <a:rPr lang="es-MX" sz="2000" b="1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𝒑</m:t>
                    </m:r>
                  </m:oMath>
                </a14:m>
                <a:r>
                  <a:rPr lang="es-MX" sz="2000" dirty="0">
                    <a:latin typeface="Roboto" panose="02000000000000000000" pitchFamily="2" charset="0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1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𝒒</m:t>
                    </m:r>
                  </m:oMath>
                </a14:m>
                <a:r>
                  <a:rPr lang="es-MX" sz="2000" dirty="0">
                    <a:latin typeface="Roboto" panose="02000000000000000000" pitchFamily="2" charset="0"/>
                    <a:ea typeface="Roboto" panose="02000000000000000000" pitchFamily="2" charset="0"/>
                  </a:rPr>
                  <a:t> son equivalentes si </a:t>
                </a:r>
                <a14:m>
                  <m:oMath xmlns:m="http://schemas.openxmlformats.org/officeDocument/2006/math">
                    <m:r>
                      <a:rPr lang="es-MX" sz="2000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𝒑</m:t>
                    </m:r>
                    <m:r>
                      <a:rPr lang="es-MX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s-MX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s-MX" sz="2000" dirty="0">
                    <a:latin typeface="Roboto" panose="02000000000000000000" pitchFamily="2" charset="0"/>
                    <a:ea typeface="Roboto" panose="02000000000000000000" pitchFamily="2" charset="0"/>
                  </a:rPr>
                  <a:t> es una tautología.</a:t>
                </a:r>
                <a:endParaRPr lang="es-CO" sz="2000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D98741DF-6BBC-4A7C-9631-98F05A627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18" y="2212132"/>
                <a:ext cx="3759823" cy="1015663"/>
              </a:xfrm>
              <a:prstGeom prst="rect">
                <a:avLst/>
              </a:prstGeom>
              <a:blipFill>
                <a:blip r:embed="rId3"/>
                <a:stretch>
                  <a:fillRect l="-1621" t="-3012" r="-2917" b="-102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a 3">
                <a:extLst>
                  <a:ext uri="{FF2B5EF4-FFF2-40B4-BE49-F238E27FC236}">
                    <a16:creationId xmlns:a16="http://schemas.microsoft.com/office/drawing/2014/main" id="{08A4E013-48C0-4B13-8A40-9B57682895D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42653" y="1142678"/>
              <a:ext cx="7175492" cy="5328412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835341">
                      <a:extLst>
                        <a:ext uri="{9D8B030D-6E8A-4147-A177-3AD203B41FA5}">
                          <a16:colId xmlns:a16="http://schemas.microsoft.com/office/drawing/2014/main" val="2419793140"/>
                        </a:ext>
                      </a:extLst>
                    </a:gridCol>
                    <a:gridCol w="2610807">
                      <a:extLst>
                        <a:ext uri="{9D8B030D-6E8A-4147-A177-3AD203B41FA5}">
                          <a16:colId xmlns:a16="http://schemas.microsoft.com/office/drawing/2014/main" val="2761119023"/>
                        </a:ext>
                      </a:extLst>
                    </a:gridCol>
                    <a:gridCol w="2729344">
                      <a:extLst>
                        <a:ext uri="{9D8B030D-6E8A-4147-A177-3AD203B41FA5}">
                          <a16:colId xmlns:a16="http://schemas.microsoft.com/office/drawing/2014/main" val="180266477"/>
                        </a:ext>
                      </a:extLst>
                    </a:gridCol>
                  </a:tblGrid>
                  <a:tr h="298833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Nombre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Equivalencia lógica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4526593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Conmutatividad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54515760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Asociatividad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3743916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Distributividad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7401643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Idempotencia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6818852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Doble negación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¬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149062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Leyes de Morgan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3060234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Identidad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4965197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Dominación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485840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Absorción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2652958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Complemento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0911309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Implicación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→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3938044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Contrarrecíproco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→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5506134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Equivalencia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≡(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)∧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571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a 3">
                <a:extLst>
                  <a:ext uri="{FF2B5EF4-FFF2-40B4-BE49-F238E27FC236}">
                    <a16:creationId xmlns:a16="http://schemas.microsoft.com/office/drawing/2014/main" id="{08A4E013-48C0-4B13-8A40-9B57682895D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42653" y="1142678"/>
              <a:ext cx="7175492" cy="5328412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835341">
                      <a:extLst>
                        <a:ext uri="{9D8B030D-6E8A-4147-A177-3AD203B41FA5}">
                          <a16:colId xmlns:a16="http://schemas.microsoft.com/office/drawing/2014/main" val="2419793140"/>
                        </a:ext>
                      </a:extLst>
                    </a:gridCol>
                    <a:gridCol w="2610807">
                      <a:extLst>
                        <a:ext uri="{9D8B030D-6E8A-4147-A177-3AD203B41FA5}">
                          <a16:colId xmlns:a16="http://schemas.microsoft.com/office/drawing/2014/main" val="2761119023"/>
                        </a:ext>
                      </a:extLst>
                    </a:gridCol>
                    <a:gridCol w="2729344">
                      <a:extLst>
                        <a:ext uri="{9D8B030D-6E8A-4147-A177-3AD203B41FA5}">
                          <a16:colId xmlns:a16="http://schemas.microsoft.com/office/drawing/2014/main" val="18026647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Nombre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Equivalencia lógica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452659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Conmutatividad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70396" t="-108333" r="-104895" b="-12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3170" t="-108333" r="-446" b="-128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451576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Asociatividad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70396" t="-208333" r="-104895" b="-11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3170" t="-208333" r="-446" b="-118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3743916"/>
                      </a:ext>
                    </a:extLst>
                  </a:tr>
                  <a:tr h="573532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Distributividad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70396" t="-196809" r="-104895" b="-6563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3170" t="-196809" r="-446" b="-6563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740164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Idempotencia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70396" t="-465000" r="-104895" b="-9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3170" t="-465000" r="-446" b="-9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681885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Doble negación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4436" t="-565000" r="-228" b="-828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14906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Leyes de Morgan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70396" t="-654098" r="-104895" b="-7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3170" t="-654098" r="-446" b="-7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30602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Identidad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70396" t="-766667" r="-104895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3170" t="-766667" r="-446" b="-6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496519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Dominación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70396" t="-866667" r="-104895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3170" t="-866667" r="-446" b="-5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74858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Absorción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70396" t="-966667" r="-104895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3170" t="-966667" r="-446" b="-4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65295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Complemento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70396" t="-1066667" r="-104895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63170" t="-1066667" r="-446" b="-3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091130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Implicación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4436" t="-1166667" r="-228" b="-22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393804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Contrarrecíproco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4436" t="-1266667" r="-228" b="-12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55061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Equivalencia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4436" t="-1366667" r="-228" b="-2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571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56160537-0B7A-4408-B75A-28A231E7E9AD}"/>
                  </a:ext>
                </a:extLst>
              </p:cNvPr>
              <p:cNvSpPr txBox="1"/>
              <p:nvPr/>
            </p:nvSpPr>
            <p:spPr>
              <a:xfrm>
                <a:off x="573854" y="4763662"/>
                <a:ext cx="986573" cy="15343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MX" b="1" i="1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es-MX" b="1" i="1">
                                        <a:latin typeface="Cambria Math" panose="02040503050406030204" pitchFamily="18" charset="0"/>
                                      </a:rPr>
                                      <m:t> ≡</m:t>
                                    </m:r>
                                    <m:sSub>
                                      <m:sSubPr>
                                        <m:ctrlPr>
                                          <a:rPr lang="es-MX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e>
                                      <m:sub>
                                        <m:r>
                                          <a:rPr lang="es-MX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s-MX" b="1" i="1">
                                        <a:latin typeface="Cambria Math" panose="02040503050406030204" pitchFamily="18" charset="0"/>
                                      </a:rPr>
                                      <m:t>     </m:t>
                                    </m:r>
                                    <m:r>
                                      <a:rPr lang="es-MX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≡</m:t>
                                    </m:r>
                                    <m:sSub>
                                      <m:sSubPr>
                                        <m:ctrlPr>
                                          <a:rPr lang="es-MX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e>
                                      <m:sub>
                                        <m:r>
                                          <a:rPr lang="es-MX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s-MX" b="1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MX" b="1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  <m:r>
                                      <a:rPr lang="es-MX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lang="es-MX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</m:t>
                                    </m:r>
                                    <m:r>
                                      <a:rPr lang="es-MX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≡</m:t>
                                    </m:r>
                                    <m:sSub>
                                      <m:sSubPr>
                                        <m:ctrlPr>
                                          <a:rPr lang="es-MX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e>
                                      <m:sub>
                                        <m:r>
                                          <a:rPr lang="es-MX" b="1" i="1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s-MX" b="1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s-MX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</m:mr>
                          </m:m>
                        </m:num>
                        <m:den>
                          <m:r>
                            <a:rPr lang="es-MX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s-MX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≡</m:t>
                          </m:r>
                          <m:r>
                            <a:rPr lang="es-MX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  <m:r>
                            <m:rPr>
                              <m:nor/>
                            </m:rPr>
                            <a:rPr lang="es-CO" dirty="0"/>
                            <m:t> 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56160537-0B7A-4408-B75A-28A231E7E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54" y="4763662"/>
                <a:ext cx="986573" cy="15343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53E6DD5B-5820-4E19-8156-C2DB0A45B08C}"/>
              </a:ext>
            </a:extLst>
          </p:cNvPr>
          <p:cNvCxnSpPr>
            <a:cxnSpLocks/>
          </p:cNvCxnSpPr>
          <p:nvPr/>
        </p:nvCxnSpPr>
        <p:spPr>
          <a:xfrm>
            <a:off x="1637454" y="4919240"/>
            <a:ext cx="0" cy="1074058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7908EB2-4FC9-4684-9E97-FFA157822850}"/>
              </a:ext>
            </a:extLst>
          </p:cNvPr>
          <p:cNvSpPr txBox="1"/>
          <p:nvPr/>
        </p:nvSpPr>
        <p:spPr>
          <a:xfrm>
            <a:off x="1791472" y="4977635"/>
            <a:ext cx="24201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rgbClr val="002060"/>
                </a:solidFill>
              </a:rPr>
              <a:t>Transformaciones usando axiomas (Identidades Lógicas)</a:t>
            </a:r>
          </a:p>
        </p:txBody>
      </p:sp>
    </p:spTree>
    <p:extLst>
      <p:ext uri="{BB962C8B-B14F-4D97-AF65-F5344CB8AC3E}">
        <p14:creationId xmlns:p14="http://schemas.microsoft.com/office/powerpoint/2010/main" val="1802750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41" y="96038"/>
            <a:ext cx="10405241" cy="949500"/>
          </a:xfrm>
        </p:spPr>
        <p:txBody>
          <a:bodyPr/>
          <a:lstStyle/>
          <a:p>
            <a:r>
              <a:rPr lang="es-CO" b="0" dirty="0">
                <a:solidFill>
                  <a:schemeClr val="tx1"/>
                </a:solidFill>
                <a:latin typeface="+mn-lt"/>
              </a:rPr>
              <a:t>Resumen rápido lógica proposicional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710F5EE-7DA6-438F-B507-8202FE6A56A0}"/>
              </a:ext>
            </a:extLst>
          </p:cNvPr>
          <p:cNvSpPr txBox="1"/>
          <p:nvPr/>
        </p:nvSpPr>
        <p:spPr>
          <a:xfrm>
            <a:off x="145135" y="967839"/>
            <a:ext cx="314758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Reglas de inferencia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3D38B54-360A-43B7-8FE4-C7D0CB0954DD}"/>
              </a:ext>
            </a:extLst>
          </p:cNvPr>
          <p:cNvSpPr txBox="1"/>
          <p:nvPr/>
        </p:nvSpPr>
        <p:spPr>
          <a:xfrm>
            <a:off x="142991" y="2706914"/>
            <a:ext cx="32641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Validez lógica</a:t>
            </a:r>
            <a:endParaRPr lang="es-CO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a 4">
                <a:extLst>
                  <a:ext uri="{FF2B5EF4-FFF2-40B4-BE49-F238E27FC236}">
                    <a16:creationId xmlns:a16="http://schemas.microsoft.com/office/drawing/2014/main" id="{71FD560A-E904-488F-8430-0E1896D76E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337023"/>
                  </p:ext>
                </p:extLst>
              </p:nvPr>
            </p:nvGraphicFramePr>
            <p:xfrm>
              <a:off x="3912201" y="1129463"/>
              <a:ext cx="8173077" cy="4779582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777399">
                      <a:extLst>
                        <a:ext uri="{9D8B030D-6E8A-4147-A177-3AD203B41FA5}">
                          <a16:colId xmlns:a16="http://schemas.microsoft.com/office/drawing/2014/main" val="3517824357"/>
                        </a:ext>
                      </a:extLst>
                    </a:gridCol>
                    <a:gridCol w="2209800">
                      <a:extLst>
                        <a:ext uri="{9D8B030D-6E8A-4147-A177-3AD203B41FA5}">
                          <a16:colId xmlns:a16="http://schemas.microsoft.com/office/drawing/2014/main" val="2212776800"/>
                        </a:ext>
                      </a:extLst>
                    </a:gridCol>
                    <a:gridCol w="1714500">
                      <a:extLst>
                        <a:ext uri="{9D8B030D-6E8A-4147-A177-3AD203B41FA5}">
                          <a16:colId xmlns:a16="http://schemas.microsoft.com/office/drawing/2014/main" val="3724117940"/>
                        </a:ext>
                      </a:extLst>
                    </a:gridCol>
                    <a:gridCol w="2471378">
                      <a:extLst>
                        <a:ext uri="{9D8B030D-6E8A-4147-A177-3AD203B41FA5}">
                          <a16:colId xmlns:a16="http://schemas.microsoft.com/office/drawing/2014/main" val="33300382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Nombre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Regla de inferencia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Nombre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Regla de inferencia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3507432"/>
                      </a:ext>
                    </a:extLst>
                  </a:tr>
                  <a:tr h="243775"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Modus Ponens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𝑞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 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       </m:t>
                                          </m:r>
                                        </m:e>
                                      </m:mr>
                                    </m:m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∴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𝑞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  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Simplificación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 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𝑝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∴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  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9179385"/>
                      </a:ext>
                    </a:extLst>
                  </a:tr>
                  <a:tr h="243775"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Modus Tollens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𝑞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 ¬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       </m:t>
                                          </m:r>
                                        </m:e>
                                      </m:mr>
                                    </m:m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∴¬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  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Conjunción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   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   </m:t>
                                          </m:r>
                                        </m:e>
                                      </m:mr>
                                    </m:m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∴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s-CO" sz="1800" dirty="0">
                                        <a:latin typeface="Roboto" panose="02000000000000000000" pitchFamily="2" charset="0"/>
                                        <a:ea typeface="Roboto" panose="02000000000000000000" pitchFamily="2" charset="0"/>
                                      </a:rPr>
                                      <m:t>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8799334"/>
                      </a:ext>
                    </a:extLst>
                  </a:tr>
                  <a:tr h="243775"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Silogismo hipotético (Transitividad)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𝑞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  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𝑟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s-CO" sz="1800" dirty="0">
                                              <a:latin typeface="Roboto" panose="02000000000000000000" pitchFamily="2" charset="0"/>
                                              <a:ea typeface="Roboto" panose="02000000000000000000" pitchFamily="2" charset="0"/>
                                            </a:rPr>
                                            <m:t> </m:t>
                                          </m:r>
                                        </m:e>
                                      </m:mr>
                                    </m:m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∴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Prueba de división por casos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lvl="1"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∨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𝑟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s-MX" sz="1800" b="0" dirty="0">
                                              <a:latin typeface="Roboto" panose="02000000000000000000" pitchFamily="2" charset="0"/>
                                              <a:ea typeface="Roboto" panose="02000000000000000000" pitchFamily="2" charset="0"/>
                                            </a:rPr>
                                            <m:t> 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𝑟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</m:t>
                                          </m:r>
                                        </m:e>
                                      </m:mr>
                                    </m:m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∴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82340052"/>
                      </a:ext>
                    </a:extLst>
                  </a:tr>
                  <a:tr h="243775"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Silogismo disyuntivo (Eliminación)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∨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𝑞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s-CO" sz="1800" dirty="0">
                                              <a:latin typeface="Roboto" panose="02000000000000000000" pitchFamily="2" charset="0"/>
                                              <a:ea typeface="Roboto" panose="02000000000000000000" pitchFamily="2" charset="0"/>
                                            </a:rPr>
                                            <m:t> 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¬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     </m:t>
                                          </m:r>
                                        </m:e>
                                      </m:mr>
                                    </m:m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∴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82262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Adición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0"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 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𝑝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    </m:t>
                                    </m:r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∴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𝑝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Resolución</a:t>
                          </a:r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¬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∨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𝑟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s-MX" sz="1800" b="0" dirty="0">
                                              <a:latin typeface="Roboto" panose="02000000000000000000" pitchFamily="2" charset="0"/>
                                              <a:ea typeface="Roboto" panose="02000000000000000000" pitchFamily="2" charset="0"/>
                                            </a:rPr>
                                            <m:t> 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∨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s-MX" sz="1800" b="0" i="1" smtClean="0">
                                              <a:latin typeface="Cambria Math" panose="02040503050406030204" pitchFamily="18" charset="0"/>
                                              <a:ea typeface="Roboto" panose="02000000000000000000" pitchFamily="2" charset="0"/>
                                            </a:rPr>
                                            <m:t>    </m:t>
                                          </m:r>
                                        </m:e>
                                      </m:mr>
                                    </m:m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∴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176821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a 4">
                <a:extLst>
                  <a:ext uri="{FF2B5EF4-FFF2-40B4-BE49-F238E27FC236}">
                    <a16:creationId xmlns:a16="http://schemas.microsoft.com/office/drawing/2014/main" id="{71FD560A-E904-488F-8430-0E1896D76E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337023"/>
                  </p:ext>
                </p:extLst>
              </p:nvPr>
            </p:nvGraphicFramePr>
            <p:xfrm>
              <a:off x="3912201" y="1129463"/>
              <a:ext cx="8173077" cy="4779582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777399">
                      <a:extLst>
                        <a:ext uri="{9D8B030D-6E8A-4147-A177-3AD203B41FA5}">
                          <a16:colId xmlns:a16="http://schemas.microsoft.com/office/drawing/2014/main" val="3517824357"/>
                        </a:ext>
                      </a:extLst>
                    </a:gridCol>
                    <a:gridCol w="2209800">
                      <a:extLst>
                        <a:ext uri="{9D8B030D-6E8A-4147-A177-3AD203B41FA5}">
                          <a16:colId xmlns:a16="http://schemas.microsoft.com/office/drawing/2014/main" val="2212776800"/>
                        </a:ext>
                      </a:extLst>
                    </a:gridCol>
                    <a:gridCol w="1714500">
                      <a:extLst>
                        <a:ext uri="{9D8B030D-6E8A-4147-A177-3AD203B41FA5}">
                          <a16:colId xmlns:a16="http://schemas.microsoft.com/office/drawing/2014/main" val="3724117940"/>
                        </a:ext>
                      </a:extLst>
                    </a:gridCol>
                    <a:gridCol w="2471378">
                      <a:extLst>
                        <a:ext uri="{9D8B030D-6E8A-4147-A177-3AD203B41FA5}">
                          <a16:colId xmlns:a16="http://schemas.microsoft.com/office/drawing/2014/main" val="33300382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Nombre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Regla de inferencia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Nombre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Regla de inferencia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3507432"/>
                      </a:ext>
                    </a:extLst>
                  </a:tr>
                  <a:tr h="854964"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Modus Ponens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716" t="-45714" r="-189807" b="-419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Simplificación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0788" t="-45714" r="-493" b="-419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79385"/>
                      </a:ext>
                    </a:extLst>
                  </a:tr>
                  <a:tr h="854964"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Modus Tollens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716" t="-144681" r="-189807" b="-3163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Conjunción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0788" t="-144681" r="-493" b="-3163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879933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Silogismo hipotético (Transitividad)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716" t="-230000" r="-189807" b="-19733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Prueba de división por casos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0788" t="-115000" r="-493" b="-4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234005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Silogismo disyuntivo (Eliminación)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716" t="-330000" r="-189807" b="-9733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8226202"/>
                      </a:ext>
                    </a:extLst>
                  </a:tr>
                  <a:tr h="875094">
                    <a:tc>
                      <a:txBody>
                        <a:bodyPr/>
                        <a:lstStyle/>
                        <a:p>
                          <a:r>
                            <a:rPr lang="es-CO" sz="18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Adición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716" t="-447917" r="-189807" b="-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Resolución</a:t>
                          </a:r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0788" t="-447917" r="-493" b="-13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6821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" name="CuadroTexto 22">
            <a:extLst>
              <a:ext uri="{FF2B5EF4-FFF2-40B4-BE49-F238E27FC236}">
                <a16:creationId xmlns:a16="http://schemas.microsoft.com/office/drawing/2014/main" id="{18B64814-540B-40F3-B348-59DE9A790B17}"/>
              </a:ext>
            </a:extLst>
          </p:cNvPr>
          <p:cNvSpPr txBox="1"/>
          <p:nvPr/>
        </p:nvSpPr>
        <p:spPr>
          <a:xfrm>
            <a:off x="194974" y="1431487"/>
            <a:ext cx="32641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Argumento</a:t>
            </a:r>
            <a:endParaRPr lang="es-CO" sz="2400" b="1" dirty="0"/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2E8CBA07-DF0C-4C83-9014-E75EAEA5A11B}"/>
              </a:ext>
            </a:extLst>
          </p:cNvPr>
          <p:cNvGrpSpPr/>
          <p:nvPr/>
        </p:nvGrpSpPr>
        <p:grpSpPr>
          <a:xfrm>
            <a:off x="520318" y="1957846"/>
            <a:ext cx="3082183" cy="790720"/>
            <a:chOff x="916649" y="2013618"/>
            <a:chExt cx="3082183" cy="790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uadroTexto 25">
                  <a:extLst>
                    <a:ext uri="{FF2B5EF4-FFF2-40B4-BE49-F238E27FC236}">
                      <a16:creationId xmlns:a16="http://schemas.microsoft.com/office/drawing/2014/main" id="{E3194017-7FAA-4993-AE6A-989F99F04E3F}"/>
                    </a:ext>
                  </a:extLst>
                </p:cNvPr>
                <p:cNvSpPr txBox="1"/>
                <p:nvPr/>
              </p:nvSpPr>
              <p:spPr>
                <a:xfrm>
                  <a:off x="916649" y="2013618"/>
                  <a:ext cx="277090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s-MX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2C595E4D-AD7F-4E0D-9EE7-8F58CC09D5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649" y="2013618"/>
                  <a:ext cx="2770909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2352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Abrir llave 26">
              <a:extLst>
                <a:ext uri="{FF2B5EF4-FFF2-40B4-BE49-F238E27FC236}">
                  <a16:creationId xmlns:a16="http://schemas.microsoft.com/office/drawing/2014/main" id="{C190C418-23EA-4E69-86BE-393D54B87207}"/>
                </a:ext>
              </a:extLst>
            </p:cNvPr>
            <p:cNvSpPr/>
            <p:nvPr/>
          </p:nvSpPr>
          <p:spPr>
            <a:xfrm rot="16200000">
              <a:off x="1937299" y="1409156"/>
              <a:ext cx="193549" cy="1857372"/>
            </a:xfrm>
            <a:prstGeom prst="leftBrace">
              <a:avLst>
                <a:gd name="adj1" fmla="val 27595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C00000"/>
                </a:solidFill>
              </a:endParaRPr>
            </a:p>
          </p:txBody>
        </p:sp>
        <p:sp>
          <p:nvSpPr>
            <p:cNvPr id="28" name="Abrir llave 27">
              <a:extLst>
                <a:ext uri="{FF2B5EF4-FFF2-40B4-BE49-F238E27FC236}">
                  <a16:creationId xmlns:a16="http://schemas.microsoft.com/office/drawing/2014/main" id="{156C7975-2BFA-4C86-B137-C92EC31BFEDD}"/>
                </a:ext>
              </a:extLst>
            </p:cNvPr>
            <p:cNvSpPr/>
            <p:nvPr/>
          </p:nvSpPr>
          <p:spPr>
            <a:xfrm rot="16028215">
              <a:off x="3299101" y="2222401"/>
              <a:ext cx="136106" cy="230884"/>
            </a:xfrm>
            <a:prstGeom prst="leftBrace">
              <a:avLst>
                <a:gd name="adj1" fmla="val 27595"/>
                <a:gd name="adj2" fmla="val 50000"/>
              </a:avLst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2E6EDBE7-34A3-4F9D-A2A0-7D4CF4C9C63B}"/>
                </a:ext>
              </a:extLst>
            </p:cNvPr>
            <p:cNvSpPr txBox="1"/>
            <p:nvPr/>
          </p:nvSpPr>
          <p:spPr>
            <a:xfrm>
              <a:off x="1437732" y="2465784"/>
              <a:ext cx="11133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b="1" dirty="0">
                  <a:solidFill>
                    <a:srgbClr val="C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Premisas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D90E9BD4-B70C-424A-A0CF-4CFFFD8B93DB}"/>
                </a:ext>
              </a:extLst>
            </p:cNvPr>
            <p:cNvSpPr txBox="1"/>
            <p:nvPr/>
          </p:nvSpPr>
          <p:spPr>
            <a:xfrm>
              <a:off x="2780229" y="2459525"/>
              <a:ext cx="12186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600" b="1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Conclusión</a:t>
              </a:r>
            </a:p>
          </p:txBody>
        </p:sp>
      </p:grpSp>
      <p:pic>
        <p:nvPicPr>
          <p:cNvPr id="31" name="Imagen 30">
            <a:extLst>
              <a:ext uri="{FF2B5EF4-FFF2-40B4-BE49-F238E27FC236}">
                <a16:creationId xmlns:a16="http://schemas.microsoft.com/office/drawing/2014/main" id="{9A0675DF-0844-4844-A335-65D3FA763F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4904" y="4115274"/>
            <a:ext cx="1481157" cy="2647877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A980E24D-4A22-4689-8AB3-B41D489AB502}"/>
              </a:ext>
            </a:extLst>
          </p:cNvPr>
          <p:cNvSpPr txBox="1"/>
          <p:nvPr/>
        </p:nvSpPr>
        <p:spPr>
          <a:xfrm>
            <a:off x="264745" y="3183598"/>
            <a:ext cx="36792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Un argumento de </a:t>
            </a:r>
            <a:r>
              <a:rPr lang="es-MX" b="1" dirty="0">
                <a:latin typeface="Roboto" panose="02000000000000000000" pitchFamily="2" charset="0"/>
                <a:ea typeface="Roboto" panose="02000000000000000000" pitchFamily="2" charset="0"/>
              </a:rPr>
              <a:t>valido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si la </a:t>
            </a:r>
            <a:r>
              <a:rPr lang="es-MX" sz="2000" dirty="0">
                <a:latin typeface="Roboto" panose="02000000000000000000" pitchFamily="2" charset="0"/>
                <a:ea typeface="Roboto" panose="02000000000000000000" pitchFamily="2" charset="0"/>
              </a:rPr>
              <a:t>conclusión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 es verdadera cuando las premisas son verdaderas.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26192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17714" y="96038"/>
            <a:ext cx="1126308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Lógica cuantificacional - Modelo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25CE6D8-9A63-4489-989D-BCD1B20C7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111" y="926582"/>
            <a:ext cx="4049486" cy="3106747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9832ADD2-8BC0-44A1-BC72-FD37E2F0A835}"/>
              </a:ext>
            </a:extLst>
          </p:cNvPr>
          <p:cNvSpPr txBox="1"/>
          <p:nvPr/>
        </p:nvSpPr>
        <p:spPr>
          <a:xfrm>
            <a:off x="187321" y="1102126"/>
            <a:ext cx="618445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dirty="0">
                <a:ea typeface="Roboto" panose="02000000000000000000" pitchFamily="2" charset="0"/>
              </a:rPr>
              <a:t>Un </a:t>
            </a:r>
            <a:r>
              <a:rPr lang="es-MX" sz="2200" b="1" dirty="0">
                <a:ea typeface="Roboto" panose="02000000000000000000" pitchFamily="2" charset="0"/>
              </a:rPr>
              <a:t>modelo</a:t>
            </a:r>
            <a:r>
              <a:rPr lang="es-MX" sz="2200" dirty="0">
                <a:ea typeface="Roboto" panose="02000000000000000000" pitchFamily="2" charset="0"/>
              </a:rPr>
              <a:t> es una representación de la realidad construido a partir de ciertos elementos y reglas.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dirty="0">
                <a:ea typeface="Roboto" panose="02000000000000000000" pitchFamily="2" charset="0"/>
              </a:rPr>
              <a:t>Un modelo permite analizar o explicar un fenómeno.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dirty="0">
                <a:ea typeface="Roboto" panose="02000000000000000000" pitchFamily="2" charset="0"/>
              </a:rPr>
              <a:t>En lógica, un modelo es una interpretación que asigna significado a los símbolos de un lenguaje lógico, y que hace que un conjunto de fórmulas sea verdadero.</a:t>
            </a:r>
            <a:endParaRPr lang="es-CO" sz="2200" dirty="0"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9834D157-38E5-47DB-A5C3-81F2E37019DF}"/>
                  </a:ext>
                </a:extLst>
              </p:cNvPr>
              <p:cNvSpPr txBox="1"/>
              <p:nvPr/>
            </p:nvSpPr>
            <p:spPr>
              <a:xfrm>
                <a:off x="422038" y="4287477"/>
                <a:ext cx="1085443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000" b="1" dirty="0">
                    <a:ea typeface="Roboto" panose="02000000000000000000" pitchFamily="2" charset="0"/>
                  </a:rPr>
                  <a:t>Lógica proposicional</a:t>
                </a:r>
                <a:r>
                  <a:rPr lang="es-MX" sz="2000" dirty="0">
                    <a:ea typeface="Roboto" panose="02000000000000000000" pitchFamily="2" charset="0"/>
                  </a:rPr>
                  <a:t>: El modelo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𝑤</m:t>
                    </m:r>
                  </m:oMath>
                </a14:m>
                <a:r>
                  <a:rPr lang="es-CO" sz="2000" dirty="0">
                    <a:ea typeface="Roboto" panose="02000000000000000000" pitchFamily="2" charset="0"/>
                  </a:rPr>
                  <a:t> mapea símbolos proposicionales a tablas de verdad.</a:t>
                </a: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9834D157-38E5-47DB-A5C3-81F2E3701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38" y="4287477"/>
                <a:ext cx="10854438" cy="400110"/>
              </a:xfrm>
              <a:prstGeom prst="rect">
                <a:avLst/>
              </a:prstGeom>
              <a:blipFill>
                <a:blip r:embed="rId4"/>
                <a:stretch>
                  <a:fillRect l="-561" t="-7576" b="-2575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82351D50-9F38-414E-AB39-B17514AD8AB4}"/>
              </a:ext>
            </a:extLst>
          </p:cNvPr>
          <p:cNvSpPr txBox="1"/>
          <p:nvPr/>
        </p:nvSpPr>
        <p:spPr>
          <a:xfrm>
            <a:off x="383035" y="5755874"/>
            <a:ext cx="108544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ea typeface="Roboto" panose="02000000000000000000" pitchFamily="2" charset="0"/>
              </a:rPr>
              <a:t>Lógica cuantificacional</a:t>
            </a:r>
            <a:r>
              <a:rPr lang="es-MX" sz="2000" dirty="0">
                <a:ea typeface="Roboto" panose="02000000000000000000" pitchFamily="2" charset="0"/>
              </a:rPr>
              <a:t>: </a:t>
            </a:r>
            <a:r>
              <a:rPr lang="es-CO" sz="2000" dirty="0"/>
              <a:t>Continuaremos con lo que empezamos la clase anterior.</a:t>
            </a:r>
            <a:endParaRPr lang="es-CO" sz="2000" dirty="0">
              <a:ea typeface="Roboto" panose="02000000000000000000" pitchFamily="2" charset="0"/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CF043ABC-7313-4FA7-B11B-F8460481241A}"/>
              </a:ext>
            </a:extLst>
          </p:cNvPr>
          <p:cNvGrpSpPr/>
          <p:nvPr/>
        </p:nvGrpSpPr>
        <p:grpSpPr>
          <a:xfrm>
            <a:off x="1857829" y="4873550"/>
            <a:ext cx="8490857" cy="790872"/>
            <a:chOff x="1631052" y="5373233"/>
            <a:chExt cx="8490857" cy="7908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20016BA4-C4F1-4E1C-81A0-365CE70DC12D}"/>
                    </a:ext>
                  </a:extLst>
                </p:cNvPr>
                <p:cNvSpPr txBox="1"/>
                <p:nvPr/>
              </p:nvSpPr>
              <p:spPr>
                <a:xfrm>
                  <a:off x="1631052" y="5373233"/>
                  <a:ext cx="849085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𝑤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𝐶𝑙𝑜𝑡𝑖𝑙𝑑𝑒𝐷𝑜𝑚𝑖𝑛𝑎𝐶𝑎𝑙𝑐𝑢𝑙𝑜</m:t>
                            </m:r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:1, </m:t>
                            </m:r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𝑅𝑎𝑚𝑜𝑛𝐷𝑜𝑚𝑖𝑛𝑎𝐶𝑎𝑙𝑐𝑢𝑙𝑜</m:t>
                            </m:r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:0</m:t>
                            </m:r>
                          </m:e>
                        </m:d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={</m:t>
                        </m:r>
                        <m:r>
                          <a:rPr lang="es-MX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𝑝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,¬</m:t>
                        </m:r>
                        <m:r>
                          <a:rPr lang="es-MX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𝑞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}</m:t>
                        </m:r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06A7F82F-5DD2-4545-B60C-6E2CA4CF14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1052" y="5373233"/>
                  <a:ext cx="8490857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5152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0648E30E-5F2F-4639-8534-9F4E78075762}"/>
                    </a:ext>
                  </a:extLst>
                </p:cNvPr>
                <p:cNvSpPr txBox="1"/>
                <p:nvPr/>
              </p:nvSpPr>
              <p:spPr>
                <a:xfrm>
                  <a:off x="4039139" y="5836195"/>
                  <a:ext cx="203517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s-CO" sz="2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1B3F406E-716A-4E91-AC47-8624527F3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9139" y="5836195"/>
                  <a:ext cx="203517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30303" r="-30303" b="-2352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5EF038AA-E5DF-4F26-B998-261EBD4B01F2}"/>
                    </a:ext>
                  </a:extLst>
                </p:cNvPr>
                <p:cNvSpPr txBox="1"/>
                <p:nvPr/>
              </p:nvSpPr>
              <p:spPr>
                <a:xfrm>
                  <a:off x="6996392" y="5856328"/>
                  <a:ext cx="20332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s-CO" sz="20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3D52DEFC-E610-485B-9670-0C98900AA9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6392" y="5856328"/>
                  <a:ext cx="203325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30303" r="-30303" b="-26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Abrir llave 20">
              <a:extLst>
                <a:ext uri="{FF2B5EF4-FFF2-40B4-BE49-F238E27FC236}">
                  <a16:creationId xmlns:a16="http://schemas.microsoft.com/office/drawing/2014/main" id="{AD0128FA-B7CD-4EBC-9971-B0940C7262CC}"/>
                </a:ext>
              </a:extLst>
            </p:cNvPr>
            <p:cNvSpPr/>
            <p:nvPr/>
          </p:nvSpPr>
          <p:spPr>
            <a:xfrm rot="16200000">
              <a:off x="4037591" y="4259220"/>
              <a:ext cx="177119" cy="2914652"/>
            </a:xfrm>
            <a:prstGeom prst="leftBrace">
              <a:avLst>
                <a:gd name="adj1" fmla="val 47807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Abrir llave 21">
              <a:extLst>
                <a:ext uri="{FF2B5EF4-FFF2-40B4-BE49-F238E27FC236}">
                  <a16:creationId xmlns:a16="http://schemas.microsoft.com/office/drawing/2014/main" id="{4B7F2155-9045-44B6-B2C0-6C2C28E686F5}"/>
                </a:ext>
              </a:extLst>
            </p:cNvPr>
            <p:cNvSpPr/>
            <p:nvPr/>
          </p:nvSpPr>
          <p:spPr>
            <a:xfrm rot="16200000">
              <a:off x="7016171" y="4304105"/>
              <a:ext cx="134979" cy="2809875"/>
            </a:xfrm>
            <a:prstGeom prst="leftBrace">
              <a:avLst>
                <a:gd name="adj1" fmla="val 47807"/>
                <a:gd name="adj2" fmla="val 50000"/>
              </a:avLst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3633780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60659" y="96038"/>
            <a:ext cx="1110562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Lógica cuantificacional – Conceptos importantes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" name="Google Shape;310;p34">
            <a:extLst>
              <a:ext uri="{FF2B5EF4-FFF2-40B4-BE49-F238E27FC236}">
                <a16:creationId xmlns:a16="http://schemas.microsoft.com/office/drawing/2014/main" id="{15132392-447A-479D-974B-EBE2BCDD0331}"/>
              </a:ext>
            </a:extLst>
          </p:cNvPr>
          <p:cNvSpPr txBox="1">
            <a:spLocks/>
          </p:cNvSpPr>
          <p:nvPr/>
        </p:nvSpPr>
        <p:spPr>
          <a:xfrm>
            <a:off x="73746" y="915291"/>
            <a:ext cx="1089078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En lógica de predicados es importante tener claros los siguientes conceptos:</a:t>
            </a:r>
          </a:p>
        </p:txBody>
      </p:sp>
      <p:pic>
        <p:nvPicPr>
          <p:cNvPr id="11" name="Picture 2" descr="Cut Down in His Optimus Prime | Robot Chicken Wiki | Fandom">
            <a:extLst>
              <a:ext uri="{FF2B5EF4-FFF2-40B4-BE49-F238E27FC236}">
                <a16:creationId xmlns:a16="http://schemas.microsoft.com/office/drawing/2014/main" id="{487C3BB6-5AA1-4D21-A31F-09D5845BF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619" y="4621125"/>
            <a:ext cx="2017052" cy="1510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310;p34">
            <a:extLst>
              <a:ext uri="{FF2B5EF4-FFF2-40B4-BE49-F238E27FC236}">
                <a16:creationId xmlns:a16="http://schemas.microsoft.com/office/drawing/2014/main" id="{B5AAD902-AD8E-4B53-B720-76EE0C0A154C}"/>
              </a:ext>
            </a:extLst>
          </p:cNvPr>
          <p:cNvSpPr txBox="1">
            <a:spLocks/>
          </p:cNvSpPr>
          <p:nvPr/>
        </p:nvSpPr>
        <p:spPr>
          <a:xfrm>
            <a:off x="242570" y="6131967"/>
            <a:ext cx="340324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dirty="0">
                <a:latin typeface="+mn-lt"/>
                <a:ea typeface="Roboto" panose="02000000000000000000" pitchFamily="2" charset="0"/>
              </a:rPr>
              <a:t>Optimus Prime </a:t>
            </a:r>
            <a:r>
              <a:rPr lang="es-MX" sz="2000" dirty="0">
                <a:solidFill>
                  <a:srgbClr val="C00000"/>
                </a:solidFill>
                <a:latin typeface="+mn-lt"/>
                <a:ea typeface="Roboto" panose="02000000000000000000" pitchFamily="2" charset="0"/>
              </a:rPr>
              <a:t>esta enfermo</a:t>
            </a:r>
          </a:p>
        </p:txBody>
      </p:sp>
      <p:sp>
        <p:nvSpPr>
          <p:cNvPr id="13" name="Google Shape;310;p34">
            <a:extLst>
              <a:ext uri="{FF2B5EF4-FFF2-40B4-BE49-F238E27FC236}">
                <a16:creationId xmlns:a16="http://schemas.microsoft.com/office/drawing/2014/main" id="{A095A417-545D-443A-8D20-8EF85FD4C705}"/>
              </a:ext>
            </a:extLst>
          </p:cNvPr>
          <p:cNvSpPr txBox="1">
            <a:spLocks/>
          </p:cNvSpPr>
          <p:nvPr/>
        </p:nvSpPr>
        <p:spPr>
          <a:xfrm>
            <a:off x="36527" y="1420252"/>
            <a:ext cx="4081579" cy="3084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200" dirty="0">
                <a:solidFill>
                  <a:srgbClr val="002060"/>
                </a:solidFill>
                <a:latin typeface="+mn-lt"/>
                <a:ea typeface="Roboto" panose="02000000000000000000" pitchFamily="2" charset="0"/>
              </a:rPr>
              <a:t>Universo o dominio</a:t>
            </a:r>
          </a:p>
          <a:p>
            <a:r>
              <a:rPr lang="es-MX" sz="2200" dirty="0">
                <a:solidFill>
                  <a:srgbClr val="002060"/>
                </a:solidFill>
                <a:latin typeface="+mn-lt"/>
                <a:ea typeface="Roboto" panose="02000000000000000000" pitchFamily="2" charset="0"/>
              </a:rPr>
              <a:t>Objetos o individuos</a:t>
            </a:r>
          </a:p>
          <a:p>
            <a:r>
              <a:rPr lang="es-MX" sz="2200" dirty="0">
                <a:solidFill>
                  <a:srgbClr val="002060"/>
                </a:solidFill>
                <a:latin typeface="+mn-lt"/>
                <a:ea typeface="Roboto" panose="02000000000000000000" pitchFamily="2" charset="0"/>
              </a:rPr>
              <a:t>Predicados</a:t>
            </a:r>
          </a:p>
          <a:p>
            <a:r>
              <a:rPr lang="es-MX" sz="2200" dirty="0">
                <a:solidFill>
                  <a:srgbClr val="002060"/>
                </a:solidFill>
                <a:latin typeface="+mn-lt"/>
                <a:ea typeface="Roboto" panose="02000000000000000000" pitchFamily="2" charset="0"/>
              </a:rPr>
              <a:t>Variables</a:t>
            </a:r>
          </a:p>
          <a:p>
            <a:r>
              <a:rPr lang="es-MX" sz="2200" dirty="0">
                <a:solidFill>
                  <a:srgbClr val="002060"/>
                </a:solidFill>
                <a:latin typeface="+mn-lt"/>
                <a:ea typeface="Roboto" panose="02000000000000000000" pitchFamily="2" charset="0"/>
              </a:rPr>
              <a:t>Conjunto de verdad</a:t>
            </a:r>
          </a:p>
          <a:p>
            <a:r>
              <a:rPr lang="es-MX" sz="2200" dirty="0">
                <a:solidFill>
                  <a:srgbClr val="C00000"/>
                </a:solidFill>
                <a:latin typeface="+mn-lt"/>
                <a:ea typeface="Roboto" panose="02000000000000000000" pitchFamily="2" charset="0"/>
              </a:rPr>
              <a:t>Cuantificadores.</a:t>
            </a:r>
          </a:p>
          <a:p>
            <a:r>
              <a:rPr lang="es-MX" sz="2200" dirty="0">
                <a:solidFill>
                  <a:srgbClr val="002060"/>
                </a:solidFill>
                <a:latin typeface="+mn-lt"/>
                <a:ea typeface="Roboto" panose="02000000000000000000" pitchFamily="2" charset="0"/>
              </a:rPr>
              <a:t>Funciones proposicionales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a 15">
                <a:extLst>
                  <a:ext uri="{FF2B5EF4-FFF2-40B4-BE49-F238E27FC236}">
                    <a16:creationId xmlns:a16="http://schemas.microsoft.com/office/drawing/2014/main" id="{28BF49D6-F035-4D34-9E5A-ACBE758891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6955879"/>
                  </p:ext>
                </p:extLst>
              </p:nvPr>
            </p:nvGraphicFramePr>
            <p:xfrm>
              <a:off x="3778287" y="4233546"/>
              <a:ext cx="8254055" cy="22860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271207">
                      <a:extLst>
                        <a:ext uri="{9D8B030D-6E8A-4147-A177-3AD203B41FA5}">
                          <a16:colId xmlns:a16="http://schemas.microsoft.com/office/drawing/2014/main" val="1162124380"/>
                        </a:ext>
                      </a:extLst>
                    </a:gridCol>
                    <a:gridCol w="2976905">
                      <a:extLst>
                        <a:ext uri="{9D8B030D-6E8A-4147-A177-3AD203B41FA5}">
                          <a16:colId xmlns:a16="http://schemas.microsoft.com/office/drawing/2014/main" val="1595205971"/>
                        </a:ext>
                      </a:extLst>
                    </a:gridCol>
                    <a:gridCol w="4005943">
                      <a:extLst>
                        <a:ext uri="{9D8B030D-6E8A-4147-A177-3AD203B41FA5}">
                          <a16:colId xmlns:a16="http://schemas.microsoft.com/office/drawing/2014/main" val="1776074947"/>
                        </a:ext>
                      </a:extLst>
                    </a:gridCol>
                  </a:tblGrid>
                  <a:tr h="276552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Concepto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Representación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Expresión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7804505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Universo</a:t>
                          </a:r>
                          <a:endParaRPr lang="es-CO" sz="2000" b="1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Transformers (Autobots y Decepticons)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𝑈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={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𝑂𝑝𝑡𝑖𝑚𝑢𝑠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, 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𝐵𝑢𝑏𝑢𝑚𝑏𝑙𝑒𝑏𝑒𝑒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,…}</m:t>
                                </m:r>
                              </m:oMath>
                            </m:oMathPara>
                          </a14:m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7720013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Objeto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Optimus Prime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𝑂𝑝𝑡𝑖𝑚𝑢𝑠</m:t>
                                </m:r>
                              </m:oMath>
                            </m:oMathPara>
                          </a14:m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5900105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Predicado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</a:rPr>
                            <a:t> está enfermo</a:t>
                          </a:r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𝑒𝑛𝑓𝑒𝑟𝑚𝑜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2000" dirty="0">
                            <a:solidFill>
                              <a:srgbClr val="C00000"/>
                            </a:solidFill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2956890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Variables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Cualquier transformer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59150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a 15">
                <a:extLst>
                  <a:ext uri="{FF2B5EF4-FFF2-40B4-BE49-F238E27FC236}">
                    <a16:creationId xmlns:a16="http://schemas.microsoft.com/office/drawing/2014/main" id="{28BF49D6-F035-4D34-9E5A-ACBE758891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6955879"/>
                  </p:ext>
                </p:extLst>
              </p:nvPr>
            </p:nvGraphicFramePr>
            <p:xfrm>
              <a:off x="3778287" y="4233546"/>
              <a:ext cx="8254055" cy="22860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271207">
                      <a:extLst>
                        <a:ext uri="{9D8B030D-6E8A-4147-A177-3AD203B41FA5}">
                          <a16:colId xmlns:a16="http://schemas.microsoft.com/office/drawing/2014/main" val="1162124380"/>
                        </a:ext>
                      </a:extLst>
                    </a:gridCol>
                    <a:gridCol w="2976905">
                      <a:extLst>
                        <a:ext uri="{9D8B030D-6E8A-4147-A177-3AD203B41FA5}">
                          <a16:colId xmlns:a16="http://schemas.microsoft.com/office/drawing/2014/main" val="1595205971"/>
                        </a:ext>
                      </a:extLst>
                    </a:gridCol>
                    <a:gridCol w="4005943">
                      <a:extLst>
                        <a:ext uri="{9D8B030D-6E8A-4147-A177-3AD203B41FA5}">
                          <a16:colId xmlns:a16="http://schemas.microsoft.com/office/drawing/2014/main" val="177607494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Concepto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Representación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Expresión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780450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Universo</a:t>
                          </a:r>
                          <a:endParaRPr lang="es-CO" sz="2000" b="1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Transformers (Autobots y Decepticons)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5927" t="-60870" r="-304" b="-1852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772001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Objeto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Optimus Prime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5927" t="-280303" r="-304" b="-22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59001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Predicado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2828" t="-386154" r="-135246" b="-1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5927" t="-386154" r="-304" b="-1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295689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Variables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Cualquier transformer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5927" t="-486154" r="-304" b="-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591502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7" name="Picture 4">
            <a:extLst>
              <a:ext uri="{FF2B5EF4-FFF2-40B4-BE49-F238E27FC236}">
                <a16:creationId xmlns:a16="http://schemas.microsoft.com/office/drawing/2014/main" id="{C4EBE94A-8504-4817-BC45-C1858565A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743" y="2545442"/>
            <a:ext cx="3443302" cy="895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Insignia - Transformers Wiki">
            <a:extLst>
              <a:ext uri="{FF2B5EF4-FFF2-40B4-BE49-F238E27FC236}">
                <a16:creationId xmlns:a16="http://schemas.microsoft.com/office/drawing/2014/main" id="{5EC2116F-D1AE-4C8F-8EED-8C1BAFF63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9490" y="2523737"/>
            <a:ext cx="2111682" cy="1108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3808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96038"/>
            <a:ext cx="8687250" cy="949500"/>
          </a:xfrm>
        </p:spPr>
        <p:txBody>
          <a:bodyPr/>
          <a:lstStyle/>
          <a:p>
            <a:r>
              <a:rPr lang="es-CO" b="0" dirty="0">
                <a:solidFill>
                  <a:schemeClr val="tx1"/>
                </a:solidFill>
                <a:latin typeface="+mj-lt"/>
              </a:rPr>
              <a:t>Cuantificadores</a:t>
            </a:r>
          </a:p>
        </p:txBody>
      </p:sp>
      <p:sp>
        <p:nvSpPr>
          <p:cNvPr id="11" name="Google Shape;310;p34">
            <a:extLst>
              <a:ext uri="{FF2B5EF4-FFF2-40B4-BE49-F238E27FC236}">
                <a16:creationId xmlns:a16="http://schemas.microsoft.com/office/drawing/2014/main" id="{78146662-92BC-4B5F-A914-12A25273420E}"/>
              </a:ext>
            </a:extLst>
          </p:cNvPr>
          <p:cNvSpPr txBox="1">
            <a:spLocks/>
          </p:cNvSpPr>
          <p:nvPr/>
        </p:nvSpPr>
        <p:spPr>
          <a:xfrm>
            <a:off x="497424" y="949615"/>
            <a:ext cx="11420256" cy="165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200" dirty="0">
                <a:latin typeface="+mn-lt"/>
                <a:ea typeface="Roboto" panose="02000000000000000000" pitchFamily="2" charset="0"/>
              </a:rPr>
              <a:t>El mayor cambio de la lógica proposicional a la lógica de primer orden es el uso de cuantificadores.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Un </a:t>
            </a:r>
            <a:r>
              <a:rPr lang="es-MX" sz="2200" b="1" dirty="0">
                <a:latin typeface="+mn-lt"/>
                <a:ea typeface="Roboto" panose="02000000000000000000" pitchFamily="2" charset="0"/>
              </a:rPr>
              <a:t>cuantificador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 es una afirmación que expresa que una propiedad es verdadera para algunas o todas las opciones posibles.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8800057E-7CCB-42EB-A6D3-8B253FEFC077}"/>
              </a:ext>
            </a:extLst>
          </p:cNvPr>
          <p:cNvGrpSpPr/>
          <p:nvPr/>
        </p:nvGrpSpPr>
        <p:grpSpPr>
          <a:xfrm>
            <a:off x="1830124" y="2702510"/>
            <a:ext cx="8531752" cy="1549451"/>
            <a:chOff x="1501864" y="5007329"/>
            <a:chExt cx="8531752" cy="1549451"/>
          </a:xfrm>
        </p:grpSpPr>
        <p:pic>
          <p:nvPicPr>
            <p:cNvPr id="1026" name="Picture 2" descr="Ralph Wiggum | Simpson Wiki en Español | Fandom">
              <a:extLst>
                <a:ext uri="{FF2B5EF4-FFF2-40B4-BE49-F238E27FC236}">
                  <a16:creationId xmlns:a16="http://schemas.microsoft.com/office/drawing/2014/main" id="{821E3C38-BCA6-44E9-AA11-8198AA3E48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9075" y="5170891"/>
              <a:ext cx="743224" cy="13062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Lisa Simpson | Wiki Enciclopedia de 'Los Simpson' | Fandom">
              <a:extLst>
                <a:ext uri="{FF2B5EF4-FFF2-40B4-BE49-F238E27FC236}">
                  <a16:creationId xmlns:a16="http://schemas.microsoft.com/office/drawing/2014/main" id="{008FBE0D-C35E-404E-8E50-DA6C1FA541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1864" y="5096083"/>
              <a:ext cx="898890" cy="14606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Nelson Muntz | Simpson Wiki en Español | Fandom">
              <a:extLst>
                <a:ext uri="{FF2B5EF4-FFF2-40B4-BE49-F238E27FC236}">
                  <a16:creationId xmlns:a16="http://schemas.microsoft.com/office/drawing/2014/main" id="{49C6F7EA-F90C-4354-974D-1B12A57000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0620" y="5007329"/>
              <a:ext cx="898890" cy="14697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Sherri y Terri | Simpson Wiki en Español | Fandom">
              <a:extLst>
                <a:ext uri="{FF2B5EF4-FFF2-40B4-BE49-F238E27FC236}">
                  <a16:creationId xmlns:a16="http://schemas.microsoft.com/office/drawing/2014/main" id="{E44B4F74-59C0-4F31-8273-89FA8A6301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7831" y="5170892"/>
              <a:ext cx="1190625" cy="1385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Bart Simpson | Simpson Wiki en Español | Fandom">
              <a:extLst>
                <a:ext uri="{FF2B5EF4-FFF2-40B4-BE49-F238E27FC236}">
                  <a16:creationId xmlns:a16="http://schemas.microsoft.com/office/drawing/2014/main" id="{51B248CF-276A-4EDD-96DA-7845A74C47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2257" y="5131064"/>
              <a:ext cx="1006679" cy="13858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Milhouse Van Houten | Simpson Wiki en Español | Fandom">
              <a:extLst>
                <a:ext uri="{FF2B5EF4-FFF2-40B4-BE49-F238E27FC236}">
                  <a16:creationId xmlns:a16="http://schemas.microsoft.com/office/drawing/2014/main" id="{EB4A528A-BDFB-4D42-A9F2-E38ED083D8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88" y="5091238"/>
              <a:ext cx="1059628" cy="13858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2219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96038"/>
            <a:ext cx="8687250" cy="949500"/>
          </a:xfrm>
        </p:spPr>
        <p:txBody>
          <a:bodyPr/>
          <a:lstStyle/>
          <a:p>
            <a:r>
              <a:rPr lang="es-CO" b="0" dirty="0">
                <a:solidFill>
                  <a:schemeClr val="tx1"/>
                </a:solidFill>
                <a:latin typeface="+mj-lt"/>
              </a:rPr>
              <a:t>Cuantificadores</a:t>
            </a:r>
          </a:p>
        </p:txBody>
      </p:sp>
      <p:sp>
        <p:nvSpPr>
          <p:cNvPr id="11" name="Google Shape;310;p34">
            <a:extLst>
              <a:ext uri="{FF2B5EF4-FFF2-40B4-BE49-F238E27FC236}">
                <a16:creationId xmlns:a16="http://schemas.microsoft.com/office/drawing/2014/main" id="{78146662-92BC-4B5F-A914-12A25273420E}"/>
              </a:ext>
            </a:extLst>
          </p:cNvPr>
          <p:cNvSpPr txBox="1">
            <a:spLocks/>
          </p:cNvSpPr>
          <p:nvPr/>
        </p:nvSpPr>
        <p:spPr>
          <a:xfrm>
            <a:off x="209122" y="2331236"/>
            <a:ext cx="11420256" cy="44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200" b="1" dirty="0">
                <a:latin typeface="+mn-lt"/>
                <a:ea typeface="Roboto" panose="02000000000000000000" pitchFamily="2" charset="0"/>
              </a:rPr>
              <a:t>Con lógica proposicional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: No existen los cuantificadores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6">
                <a:extLst>
                  <a:ext uri="{FF2B5EF4-FFF2-40B4-BE49-F238E27FC236}">
                    <a16:creationId xmlns:a16="http://schemas.microsoft.com/office/drawing/2014/main" id="{DBC69B22-F64B-4602-AF6A-97CDBC6684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1749771"/>
                  </p:ext>
                </p:extLst>
              </p:nvPr>
            </p:nvGraphicFramePr>
            <p:xfrm>
              <a:off x="1238819" y="5097634"/>
              <a:ext cx="9534536" cy="131064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9534536">
                      <a:extLst>
                        <a:ext uri="{9D8B030D-6E8A-4147-A177-3AD203B41FA5}">
                          <a16:colId xmlns:a16="http://schemas.microsoft.com/office/drawing/2014/main" val="283412201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Conocimiento basado en lógica cuantificacional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1249627"/>
                      </a:ext>
                    </a:extLst>
                  </a:tr>
                  <a:tr h="68833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s-MX" sz="1800" b="0" i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Student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Lisa</m:t>
                                    </m:r>
                                  </m:e>
                                </m:d>
                                <m:r>
                                  <a:rPr lang="es-MX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800" b="0" i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Student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Rafa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b="0" i="0" dirty="0">
                            <a:latin typeface="Cambria Math" panose="02040503050406030204" pitchFamily="18" charset="0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800" b="0" i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Student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800" b="0" i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Person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800" b="0" i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Student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s-MX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800" b="0" i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Creative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14595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6">
                <a:extLst>
                  <a:ext uri="{FF2B5EF4-FFF2-40B4-BE49-F238E27FC236}">
                    <a16:creationId xmlns:a16="http://schemas.microsoft.com/office/drawing/2014/main" id="{DBC69B22-F64B-4602-AF6A-97CDBC6684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1749771"/>
                  </p:ext>
                </p:extLst>
              </p:nvPr>
            </p:nvGraphicFramePr>
            <p:xfrm>
              <a:off x="1238819" y="5097634"/>
              <a:ext cx="9534536" cy="131064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9534536">
                      <a:extLst>
                        <a:ext uri="{9D8B030D-6E8A-4147-A177-3AD203B41FA5}">
                          <a16:colId xmlns:a16="http://schemas.microsoft.com/office/drawing/2014/main" val="283412201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Conocimiento basado en lógica cuantificacional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124962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64" t="-45695" r="-64" b="-6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145952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7" name="Grupo 6">
            <a:extLst>
              <a:ext uri="{FF2B5EF4-FFF2-40B4-BE49-F238E27FC236}">
                <a16:creationId xmlns:a16="http://schemas.microsoft.com/office/drawing/2014/main" id="{8800057E-7CCB-42EB-A6D3-8B253FEFC077}"/>
              </a:ext>
            </a:extLst>
          </p:cNvPr>
          <p:cNvGrpSpPr/>
          <p:nvPr/>
        </p:nvGrpSpPr>
        <p:grpSpPr>
          <a:xfrm>
            <a:off x="2241604" y="1045539"/>
            <a:ext cx="7862516" cy="1286182"/>
            <a:chOff x="1501864" y="5007329"/>
            <a:chExt cx="8531752" cy="1549451"/>
          </a:xfrm>
        </p:grpSpPr>
        <p:pic>
          <p:nvPicPr>
            <p:cNvPr id="1026" name="Picture 2" descr="Ralph Wiggum | Simpson Wiki en Español | Fandom">
              <a:extLst>
                <a:ext uri="{FF2B5EF4-FFF2-40B4-BE49-F238E27FC236}">
                  <a16:creationId xmlns:a16="http://schemas.microsoft.com/office/drawing/2014/main" id="{821E3C38-BCA6-44E9-AA11-8198AA3E48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9075" y="5170891"/>
              <a:ext cx="743224" cy="13062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Lisa Simpson | Wiki Enciclopedia de 'Los Simpson' | Fandom">
              <a:extLst>
                <a:ext uri="{FF2B5EF4-FFF2-40B4-BE49-F238E27FC236}">
                  <a16:creationId xmlns:a16="http://schemas.microsoft.com/office/drawing/2014/main" id="{008FBE0D-C35E-404E-8E50-DA6C1FA541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1864" y="5096083"/>
              <a:ext cx="898890" cy="14606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Nelson Muntz | Simpson Wiki en Español | Fandom">
              <a:extLst>
                <a:ext uri="{FF2B5EF4-FFF2-40B4-BE49-F238E27FC236}">
                  <a16:creationId xmlns:a16="http://schemas.microsoft.com/office/drawing/2014/main" id="{49C6F7EA-F90C-4354-974D-1B12A57000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0620" y="5007329"/>
              <a:ext cx="898890" cy="14697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Sherri y Terri | Simpson Wiki en Español | Fandom">
              <a:extLst>
                <a:ext uri="{FF2B5EF4-FFF2-40B4-BE49-F238E27FC236}">
                  <a16:creationId xmlns:a16="http://schemas.microsoft.com/office/drawing/2014/main" id="{E44B4F74-59C0-4F31-8273-89FA8A6301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7831" y="5170892"/>
              <a:ext cx="1190625" cy="1385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Bart Simpson | Simpson Wiki en Español | Fandom">
              <a:extLst>
                <a:ext uri="{FF2B5EF4-FFF2-40B4-BE49-F238E27FC236}">
                  <a16:creationId xmlns:a16="http://schemas.microsoft.com/office/drawing/2014/main" id="{51B248CF-276A-4EDD-96DA-7845A74C47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2257" y="5131064"/>
              <a:ext cx="1006679" cy="13858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Milhouse Van Houten | Simpson Wiki en Español | Fandom">
              <a:extLst>
                <a:ext uri="{FF2B5EF4-FFF2-40B4-BE49-F238E27FC236}">
                  <a16:creationId xmlns:a16="http://schemas.microsoft.com/office/drawing/2014/main" id="{EB4A528A-BDFB-4D42-A9F2-E38ED083D8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88" y="5091238"/>
              <a:ext cx="1059628" cy="13858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Google Shape;310;p34">
            <a:extLst>
              <a:ext uri="{FF2B5EF4-FFF2-40B4-BE49-F238E27FC236}">
                <a16:creationId xmlns:a16="http://schemas.microsoft.com/office/drawing/2014/main" id="{B1770E28-E959-4245-8F92-B3286962509D}"/>
              </a:ext>
            </a:extLst>
          </p:cNvPr>
          <p:cNvSpPr txBox="1">
            <a:spLocks/>
          </p:cNvSpPr>
          <p:nvPr/>
        </p:nvSpPr>
        <p:spPr>
          <a:xfrm>
            <a:off x="209122" y="4203326"/>
            <a:ext cx="11420256" cy="786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200" b="1" dirty="0">
                <a:latin typeface="+mn-lt"/>
                <a:ea typeface="Roboto" panose="02000000000000000000" pitchFamily="2" charset="0"/>
              </a:rPr>
              <a:t>Con lógica cuantificacional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: Mediante el uso de cuantificadores se pueden hablar de varios objetos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a 6">
                <a:extLst>
                  <a:ext uri="{FF2B5EF4-FFF2-40B4-BE49-F238E27FC236}">
                    <a16:creationId xmlns:a16="http://schemas.microsoft.com/office/drawing/2014/main" id="{F56D5B5E-32ED-4EF5-AF9A-B6E28CF931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6847167"/>
                  </p:ext>
                </p:extLst>
              </p:nvPr>
            </p:nvGraphicFramePr>
            <p:xfrm>
              <a:off x="1260542" y="2830415"/>
              <a:ext cx="9512813" cy="131064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9512813">
                      <a:extLst>
                        <a:ext uri="{9D8B030D-6E8A-4147-A177-3AD203B41FA5}">
                          <a16:colId xmlns:a16="http://schemas.microsoft.com/office/drawing/2014/main" val="389145034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Conocimiento basado en lógica proposicional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1249627"/>
                      </a:ext>
                    </a:extLst>
                  </a:tr>
                  <a:tr h="68833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s-MX" sz="1800" b="0" i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StudentLisa</m:t>
                                </m:r>
                                <m:r>
                                  <a:rPr lang="es-MX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800" b="0" i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StudentRafa</m:t>
                                </m:r>
                              </m:oMath>
                            </m:oMathPara>
                          </a14:m>
                          <a:endParaRPr lang="es-MX" sz="1800" b="0" i="0" dirty="0">
                            <a:latin typeface="Cambria Math" panose="02040503050406030204" pitchFamily="18" charset="0"/>
                            <a:ea typeface="Roboto" panose="02000000000000000000" pitchFamily="2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StudentLisa</m:t>
                                    </m:r>
                                    <m: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PersonLisa</m:t>
                                    </m:r>
                                  </m:e>
                                </m:d>
                                <m:r>
                                  <a:rPr lang="es-MX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StudentRafa</m:t>
                                    </m:r>
                                    <m: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PersonRafa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b="0" i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StudentLisa</m:t>
                                    </m:r>
                                    <m: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CreativeLisa</m:t>
                                    </m:r>
                                  </m:e>
                                </m:d>
                                <m:r>
                                  <a:rPr lang="es-MX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StudentRafa</m:t>
                                    </m:r>
                                    <m: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CreativeRafa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800" i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14595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a 6">
                <a:extLst>
                  <a:ext uri="{FF2B5EF4-FFF2-40B4-BE49-F238E27FC236}">
                    <a16:creationId xmlns:a16="http://schemas.microsoft.com/office/drawing/2014/main" id="{F56D5B5E-32ED-4EF5-AF9A-B6E28CF931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6847167"/>
                  </p:ext>
                </p:extLst>
              </p:nvPr>
            </p:nvGraphicFramePr>
            <p:xfrm>
              <a:off x="1260542" y="2830415"/>
              <a:ext cx="9512813" cy="131064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9512813">
                      <a:extLst>
                        <a:ext uri="{9D8B030D-6E8A-4147-A177-3AD203B41FA5}">
                          <a16:colId xmlns:a16="http://schemas.microsoft.com/office/drawing/2014/main" val="389145034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Conocimiento basado en lógica proposicional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124962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0"/>
                          <a:stretch>
                            <a:fillRect t="-46358" r="-64" b="-6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14595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07202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ítulo 2">
                <a:extLst>
                  <a:ext uri="{FF2B5EF4-FFF2-40B4-BE49-F238E27FC236}">
                    <a16:creationId xmlns:a16="http://schemas.microsoft.com/office/drawing/2014/main" id="{C98C59EC-F126-45E7-B7C1-9AB9A32ED14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96038"/>
                <a:ext cx="8763450" cy="949500"/>
              </a:xfrm>
            </p:spPr>
            <p:txBody>
              <a:bodyPr/>
              <a:lstStyle/>
              <a:p>
                <a:r>
                  <a:rPr lang="es-CO" b="0" dirty="0">
                    <a:solidFill>
                      <a:schemeClr val="tx1"/>
                    </a:solidFill>
                    <a:latin typeface="+mj-lt"/>
                  </a:rPr>
                  <a:t>Cuantificador Universal (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s-CO" b="0" dirty="0">
                    <a:solidFill>
                      <a:schemeClr val="tx1"/>
                    </a:solidFill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3" name="Título 2">
                <a:extLst>
                  <a:ext uri="{FF2B5EF4-FFF2-40B4-BE49-F238E27FC236}">
                    <a16:creationId xmlns:a16="http://schemas.microsoft.com/office/drawing/2014/main" id="{C98C59EC-F126-45E7-B7C1-9AB9A32ED1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96038"/>
                <a:ext cx="8763450" cy="949500"/>
              </a:xfrm>
              <a:blipFill>
                <a:blip r:embed="rId3"/>
                <a:stretch>
                  <a:fillRect l="-2851" t="-7051" b="-1730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310;p34">
            <a:extLst>
              <a:ext uri="{FF2B5EF4-FFF2-40B4-BE49-F238E27FC236}">
                <a16:creationId xmlns:a16="http://schemas.microsoft.com/office/drawing/2014/main" id="{78146662-92BC-4B5F-A914-12A25273420E}"/>
              </a:ext>
            </a:extLst>
          </p:cNvPr>
          <p:cNvSpPr txBox="1">
            <a:spLocks/>
          </p:cNvSpPr>
          <p:nvPr/>
        </p:nvSpPr>
        <p:spPr>
          <a:xfrm>
            <a:off x="320040" y="1045538"/>
            <a:ext cx="11414760" cy="821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Este cuantificador afirma que la propiedad o relación que le sigue es verdadera para todos los elementos del dominio de discurso considerado.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a 4">
                <a:extLst>
                  <a:ext uri="{FF2B5EF4-FFF2-40B4-BE49-F238E27FC236}">
                    <a16:creationId xmlns:a16="http://schemas.microsoft.com/office/drawing/2014/main" id="{3471A70B-CDF2-442F-8F42-720D489B7E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7350692"/>
                  </p:ext>
                </p:extLst>
              </p:nvPr>
            </p:nvGraphicFramePr>
            <p:xfrm>
              <a:off x="946600" y="2255520"/>
              <a:ext cx="10161639" cy="28956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512880">
                      <a:extLst>
                        <a:ext uri="{9D8B030D-6E8A-4147-A177-3AD203B41FA5}">
                          <a16:colId xmlns:a16="http://schemas.microsoft.com/office/drawing/2014/main" val="2212776800"/>
                        </a:ext>
                      </a:extLst>
                    </a:gridCol>
                    <a:gridCol w="1386840">
                      <a:extLst>
                        <a:ext uri="{9D8B030D-6E8A-4147-A177-3AD203B41FA5}">
                          <a16:colId xmlns:a16="http://schemas.microsoft.com/office/drawing/2014/main" val="3724117940"/>
                        </a:ext>
                      </a:extLst>
                    </a:gridCol>
                    <a:gridCol w="6261919">
                      <a:extLst>
                        <a:ext uri="{9D8B030D-6E8A-4147-A177-3AD203B41FA5}">
                          <a16:colId xmlns:a16="http://schemas.microsoft.com/office/drawing/2014/main" val="133611756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Símbolo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3507432"/>
                      </a:ext>
                    </a:extLst>
                  </a:tr>
                  <a:tr h="243775">
                    <a:tc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Lectura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"Para todo", "Para cada", "Para cualquier"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9179385"/>
                      </a:ext>
                    </a:extLst>
                  </a:tr>
                  <a:tr h="243775">
                    <a:tc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Formato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CO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 significa</a:t>
                          </a:r>
                          <a:r>
                            <a:rPr lang="es-CO" sz="2000" baseline="0" dirty="0">
                              <a:latin typeface="+mn-lt"/>
                              <a:ea typeface="Roboto" panose="02000000000000000000" pitchFamily="2" charset="0"/>
                            </a:rPr>
                            <a:t> que “</a:t>
                          </a:r>
                          <a:r>
                            <a:rPr lang="es-MX" sz="2000" baseline="0" dirty="0">
                              <a:latin typeface="+mn-lt"/>
                              <a:ea typeface="Roboto" panose="02000000000000000000" pitchFamily="2" charset="0"/>
                            </a:rPr>
                            <a:t>Para todo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MX" sz="2000" baseline="0" dirty="0">
                              <a:latin typeface="+mn-lt"/>
                              <a:ea typeface="Roboto" panose="02000000000000000000" pitchFamily="2" charset="0"/>
                            </a:rPr>
                            <a:t>, la propiedad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s-MX" sz="2000" baseline="0" dirty="0">
                              <a:latin typeface="+mn-lt"/>
                              <a:ea typeface="Roboto" panose="02000000000000000000" pitchFamily="2" charset="0"/>
                            </a:rPr>
                            <a:t> es verdadera para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CO" sz="2000" baseline="0" dirty="0">
                              <a:latin typeface="+mn-lt"/>
                              <a:ea typeface="Roboto" panose="02000000000000000000" pitchFamily="2" charset="0"/>
                            </a:rPr>
                            <a:t>”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4437075"/>
                      </a:ext>
                    </a:extLst>
                  </a:tr>
                  <a:tr h="243775">
                    <a:tc rowSpan="2"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Valor de verdad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Verdadero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La sentencia</a:t>
                          </a:r>
                          <a:r>
                            <a:rPr lang="es-CO" sz="2000" dirty="0">
                              <a:latin typeface="+mn-lt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CO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es </a:t>
                          </a: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verdadera</a:t>
                          </a: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si, y solo si,</a:t>
                          </a:r>
                          <a:r>
                            <a:rPr lang="es-MX" sz="2000" baseline="0" dirty="0">
                              <a:latin typeface="+mn-lt"/>
                              <a:ea typeface="Roboto" panose="02000000000000000000" pitchFamily="2" charset="0"/>
                            </a:rPr>
                            <a:t> sin</a:t>
                          </a: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importar el elemento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"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"</m:t>
                              </m:r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del dominio que se elija,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es verdadero.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13379027"/>
                      </a:ext>
                    </a:extLst>
                  </a:tr>
                  <a:tr h="243775">
                    <a:tc vMerge="1"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18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Falso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Si es encuentra un elemento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"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"</m:t>
                              </m:r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del dominio para</a:t>
                          </a:r>
                          <a:r>
                            <a:rPr lang="es-MX" sz="2000" baseline="0" dirty="0">
                              <a:latin typeface="+mn-lt"/>
                              <a:ea typeface="Roboto" panose="02000000000000000000" pitchFamily="2" charset="0"/>
                            </a:rPr>
                            <a:t> el que</a:t>
                          </a: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es falso,</a:t>
                          </a:r>
                          <a:r>
                            <a:rPr lang="es-MX" sz="2000" baseline="0" dirty="0">
                              <a:latin typeface="+mn-lt"/>
                              <a:ea typeface="Roboto" panose="02000000000000000000" pitchFamily="2" charset="0"/>
                            </a:rPr>
                            <a:t> la sentencia </a:t>
                          </a:r>
                          <a14:m>
                            <m:oMath xmlns:m="http://schemas.openxmlformats.org/officeDocument/2006/math">
                              <m:r>
                                <a:rPr lang="es-CO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es </a:t>
                          </a: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falsa</a:t>
                          </a: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. 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00081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a 4">
                <a:extLst>
                  <a:ext uri="{FF2B5EF4-FFF2-40B4-BE49-F238E27FC236}">
                    <a16:creationId xmlns:a16="http://schemas.microsoft.com/office/drawing/2014/main" id="{3471A70B-CDF2-442F-8F42-720D489B7E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7350692"/>
                  </p:ext>
                </p:extLst>
              </p:nvPr>
            </p:nvGraphicFramePr>
            <p:xfrm>
              <a:off x="946600" y="2255520"/>
              <a:ext cx="10161639" cy="28956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512880">
                      <a:extLst>
                        <a:ext uri="{9D8B030D-6E8A-4147-A177-3AD203B41FA5}">
                          <a16:colId xmlns:a16="http://schemas.microsoft.com/office/drawing/2014/main" val="2212776800"/>
                        </a:ext>
                      </a:extLst>
                    </a:gridCol>
                    <a:gridCol w="1386840">
                      <a:extLst>
                        <a:ext uri="{9D8B030D-6E8A-4147-A177-3AD203B41FA5}">
                          <a16:colId xmlns:a16="http://schemas.microsoft.com/office/drawing/2014/main" val="3724117940"/>
                        </a:ext>
                      </a:extLst>
                    </a:gridCol>
                    <a:gridCol w="6261919">
                      <a:extLst>
                        <a:ext uri="{9D8B030D-6E8A-4147-A177-3AD203B41FA5}">
                          <a16:colId xmlns:a16="http://schemas.microsoft.com/office/drawing/2014/main" val="133611756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Símbolo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2882" t="-7692" r="-80" b="-65846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350743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Lectura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"Para todo", "Para cada", "Para cualquier"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917938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Formato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2882" t="-207692" r="-80" b="-45846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4437075"/>
                      </a:ext>
                    </a:extLst>
                  </a:tr>
                  <a:tr h="1005840">
                    <a:tc rowSpan="2"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Valor de verdad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Verdadero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2354" t="-121212" r="-97" b="-806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3379027"/>
                      </a:ext>
                    </a:extLst>
                  </a:tr>
                  <a:tr h="701040">
                    <a:tc vMerge="1"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18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Falso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2354" t="-317391" r="-97" b="-156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00081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72621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ítulo 2">
                <a:extLst>
                  <a:ext uri="{FF2B5EF4-FFF2-40B4-BE49-F238E27FC236}">
                    <a16:creationId xmlns:a16="http://schemas.microsoft.com/office/drawing/2014/main" id="{C98C59EC-F126-45E7-B7C1-9AB9A32ED14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96038"/>
                <a:ext cx="8763450" cy="949500"/>
              </a:xfrm>
            </p:spPr>
            <p:txBody>
              <a:bodyPr/>
              <a:lstStyle/>
              <a:p>
                <a:r>
                  <a:rPr lang="es-CO" b="0" dirty="0">
                    <a:solidFill>
                      <a:schemeClr val="tx1"/>
                    </a:solidFill>
                    <a:latin typeface="+mj-lt"/>
                  </a:rPr>
                  <a:t>Cuantificador Universal (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s-CO" b="0" dirty="0">
                    <a:solidFill>
                      <a:schemeClr val="tx1"/>
                    </a:solidFill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3" name="Título 2">
                <a:extLst>
                  <a:ext uri="{FF2B5EF4-FFF2-40B4-BE49-F238E27FC236}">
                    <a16:creationId xmlns:a16="http://schemas.microsoft.com/office/drawing/2014/main" id="{C98C59EC-F126-45E7-B7C1-9AB9A32ED1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96038"/>
                <a:ext cx="8763450" cy="949500"/>
              </a:xfrm>
              <a:blipFill>
                <a:blip r:embed="rId3"/>
                <a:stretch>
                  <a:fillRect l="-2851" t="-7051" b="-1730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310;p34">
            <a:extLst>
              <a:ext uri="{FF2B5EF4-FFF2-40B4-BE49-F238E27FC236}">
                <a16:creationId xmlns:a16="http://schemas.microsoft.com/office/drawing/2014/main" id="{78146662-92BC-4B5F-A914-12A25273420E}"/>
              </a:ext>
            </a:extLst>
          </p:cNvPr>
          <p:cNvSpPr txBox="1">
            <a:spLocks/>
          </p:cNvSpPr>
          <p:nvPr/>
        </p:nvSpPr>
        <p:spPr>
          <a:xfrm>
            <a:off x="320040" y="873974"/>
            <a:ext cx="11414760" cy="821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Este cuantificador afirma que la propiedad o relación que le sigue es verdadera para todos los elementos del dominio de discurso considerado.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7890D56-003F-4C36-88DB-26E9CEA70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3595" y="2061257"/>
            <a:ext cx="3153386" cy="16506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661F6E55-842E-4E1C-B6C3-BAC0140F9618}"/>
                  </a:ext>
                </a:extLst>
              </p:cNvPr>
              <p:cNvSpPr txBox="1"/>
              <p:nvPr/>
            </p:nvSpPr>
            <p:spPr>
              <a:xfrm>
                <a:off x="4021066" y="3838680"/>
                <a:ext cx="17701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s-MX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MX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MX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𝑠𝑚𝑖𝑙𝑖𝑛𝑔</m:t>
                      </m:r>
                      <m:r>
                        <a:rPr lang="es-MX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661F6E55-842E-4E1C-B6C3-BAC0140F9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1066" y="3838680"/>
                <a:ext cx="1770134" cy="307777"/>
              </a:xfrm>
              <a:prstGeom prst="rect">
                <a:avLst/>
              </a:prstGeom>
              <a:blipFill>
                <a:blip r:embed="rId5"/>
                <a:stretch>
                  <a:fillRect t="-4000" r="-1724" b="-36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upo 1">
            <a:extLst>
              <a:ext uri="{FF2B5EF4-FFF2-40B4-BE49-F238E27FC236}">
                <a16:creationId xmlns:a16="http://schemas.microsoft.com/office/drawing/2014/main" id="{97D889F6-956C-4E08-AA1A-32C74E5C40E6}"/>
              </a:ext>
            </a:extLst>
          </p:cNvPr>
          <p:cNvGrpSpPr/>
          <p:nvPr/>
        </p:nvGrpSpPr>
        <p:grpSpPr>
          <a:xfrm>
            <a:off x="826920" y="2198846"/>
            <a:ext cx="1839839" cy="1719254"/>
            <a:chOff x="826920" y="2198846"/>
            <a:chExt cx="1839839" cy="17192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19570BF8-7998-48DE-944A-32625BD063E6}"/>
                    </a:ext>
                  </a:extLst>
                </p:cNvPr>
                <p:cNvSpPr txBox="1"/>
                <p:nvPr/>
              </p:nvSpPr>
              <p:spPr>
                <a:xfrm>
                  <a:off x="1606005" y="2268190"/>
                  <a:ext cx="20172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19570BF8-7998-48DE-944A-32625BD063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6005" y="2268190"/>
                  <a:ext cx="201722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14706" r="-11765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EE702820-0A96-4E26-8A42-07B7405E6072}"/>
                </a:ext>
              </a:extLst>
            </p:cNvPr>
            <p:cNvGrpSpPr/>
            <p:nvPr/>
          </p:nvGrpSpPr>
          <p:grpSpPr>
            <a:xfrm>
              <a:off x="826920" y="2198846"/>
              <a:ext cx="1839839" cy="1719254"/>
              <a:chOff x="1111199" y="5094743"/>
              <a:chExt cx="1839839" cy="17192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CuadroTexto 17">
                    <a:extLst>
                      <a:ext uri="{FF2B5EF4-FFF2-40B4-BE49-F238E27FC236}">
                        <a16:creationId xmlns:a16="http://schemas.microsoft.com/office/drawing/2014/main" id="{0B547F3D-23D1-479B-BF91-B0B5E2173505}"/>
                      </a:ext>
                    </a:extLst>
                  </p:cNvPr>
                  <p:cNvSpPr txBox="1"/>
                  <p:nvPr/>
                </p:nvSpPr>
                <p:spPr>
                  <a:xfrm>
                    <a:off x="1650104" y="5738799"/>
                    <a:ext cx="1300934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𝑠𝑚𝑖𝑙𝑖𝑛𝑔</m:t>
                          </m:r>
                          <m:r>
                            <a:rPr lang="es-MX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O" sz="2000" dirty="0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CuadroTexto 17">
                    <a:extLst>
                      <a:ext uri="{FF2B5EF4-FFF2-40B4-BE49-F238E27FC236}">
                        <a16:creationId xmlns:a16="http://schemas.microsoft.com/office/drawing/2014/main" id="{0B547F3D-23D1-479B-BF91-B0B5E21735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50104" y="5738799"/>
                    <a:ext cx="1300934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103" t="-1961" r="-6573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" name="Grupo 3">
                <a:extLst>
                  <a:ext uri="{FF2B5EF4-FFF2-40B4-BE49-F238E27FC236}">
                    <a16:creationId xmlns:a16="http://schemas.microsoft.com/office/drawing/2014/main" id="{85AE9FC6-8CD8-4AB0-8C3D-52D429B24F40}"/>
                  </a:ext>
                </a:extLst>
              </p:cNvPr>
              <p:cNvGrpSpPr/>
              <p:nvPr/>
            </p:nvGrpSpPr>
            <p:grpSpPr>
              <a:xfrm>
                <a:off x="1111199" y="5094743"/>
                <a:ext cx="779085" cy="1719254"/>
                <a:chOff x="1111199" y="5079753"/>
                <a:chExt cx="779085" cy="1719254"/>
              </a:xfrm>
            </p:grpSpPr>
            <p:sp>
              <p:nvSpPr>
                <p:cNvPr id="15" name="Elipse 14">
                  <a:extLst>
                    <a:ext uri="{FF2B5EF4-FFF2-40B4-BE49-F238E27FC236}">
                      <a16:creationId xmlns:a16="http://schemas.microsoft.com/office/drawing/2014/main" id="{4C5876A7-1E1A-47B8-BAEC-654736BB83A6}"/>
                    </a:ext>
                  </a:extLst>
                </p:cNvPr>
                <p:cNvSpPr/>
                <p:nvPr/>
              </p:nvSpPr>
              <p:spPr>
                <a:xfrm>
                  <a:off x="1266397" y="5079753"/>
                  <a:ext cx="462650" cy="463716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pic>
              <p:nvPicPr>
                <p:cNvPr id="16" name="Imagen 15">
                  <a:extLst>
                    <a:ext uri="{FF2B5EF4-FFF2-40B4-BE49-F238E27FC236}">
                      <a16:creationId xmlns:a16="http://schemas.microsoft.com/office/drawing/2014/main" id="{9C284640-09A4-4A01-B3D2-A7D0137731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11199" y="6084846"/>
                  <a:ext cx="779085" cy="714161"/>
                </a:xfrm>
                <a:prstGeom prst="rect">
                  <a:avLst/>
                </a:prstGeom>
              </p:spPr>
            </p:pic>
            <p:cxnSp>
              <p:nvCxnSpPr>
                <p:cNvPr id="21" name="Conector recto de flecha 20">
                  <a:extLst>
                    <a:ext uri="{FF2B5EF4-FFF2-40B4-BE49-F238E27FC236}">
                      <a16:creationId xmlns:a16="http://schemas.microsoft.com/office/drawing/2014/main" id="{A7AF1928-FD8A-4125-96D5-4C53FD8FA1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89506" y="5619131"/>
                  <a:ext cx="0" cy="531147"/>
                </a:xfrm>
                <a:prstGeom prst="straightConnector1">
                  <a:avLst/>
                </a:prstGeom>
                <a:ln w="19050">
                  <a:solidFill>
                    <a:schemeClr val="accent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FF9B5759-0BFD-4F18-9523-6CED7A35C7A1}"/>
                  </a:ext>
                </a:extLst>
              </p:cNvPr>
              <p:cNvSpPr txBox="1"/>
              <p:nvPr/>
            </p:nvSpPr>
            <p:spPr>
              <a:xfrm>
                <a:off x="567840" y="4417118"/>
                <a:ext cx="11060280" cy="101566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ea typeface="Roboto" panose="02000000000000000000" pitchFamily="2" charset="0"/>
                  </a:rPr>
                  <a:t>Método del contraejemplo</a:t>
                </a:r>
                <a:r>
                  <a:rPr lang="es-CO" sz="2000" dirty="0">
                    <a:ea typeface="Roboto" panose="02000000000000000000" pitchFamily="2" charset="0"/>
                  </a:rPr>
                  <a:t>: </a:t>
                </a:r>
                <a:r>
                  <a:rPr lang="es-MX" sz="2000" dirty="0">
                    <a:ea typeface="Roboto" panose="02000000000000000000" pitchFamily="2" charset="0"/>
                  </a:rPr>
                  <a:t>técnica de refutación que consiste en </a:t>
                </a:r>
                <a:r>
                  <a:rPr lang="es-MX" sz="2000" b="1" dirty="0">
                    <a:ea typeface="Roboto" panose="02000000000000000000" pitchFamily="2" charset="0"/>
                  </a:rPr>
                  <a:t>encontrar un solo caso</a:t>
                </a:r>
                <a:r>
                  <a:rPr lang="es-MX" sz="2000" dirty="0">
                    <a:ea typeface="Roboto" panose="02000000000000000000" pitchFamily="2" charset="0"/>
                  </a:rPr>
                  <a:t> donde una proposición que afirma que algo es siempre verdadero (es decir, usa un cuantificador universal </a:t>
                </a: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s-MX" sz="2000" dirty="0">
                    <a:ea typeface="Roboto" panose="02000000000000000000" pitchFamily="2" charset="0"/>
                  </a:rPr>
                  <a:t>) </a:t>
                </a:r>
                <a:r>
                  <a:rPr lang="es-MX" sz="2000" b="1" dirty="0">
                    <a:ea typeface="Roboto" panose="02000000000000000000" pitchFamily="2" charset="0"/>
                  </a:rPr>
                  <a:t>no se cumple</a:t>
                </a:r>
                <a:r>
                  <a:rPr lang="es-MX" sz="2000" dirty="0">
                    <a:ea typeface="Roboto" panose="02000000000000000000" pitchFamily="2" charset="0"/>
                  </a:rPr>
                  <a:t>. Esto es encontrar un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CO" sz="2000" dirty="0">
                    <a:ea typeface="Roboto" panose="02000000000000000000" pitchFamily="2" charset="0"/>
                  </a:rPr>
                  <a:t> tal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𝑃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(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  <m:sub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0</m:t>
                        </m:r>
                      </m:sub>
                    </m:sSub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)</m:t>
                    </m:r>
                  </m:oMath>
                </a14:m>
                <a:r>
                  <a:rPr lang="es-CO" sz="2000" dirty="0">
                    <a:ea typeface="Roboto" panose="02000000000000000000" pitchFamily="2" charset="0"/>
                  </a:rPr>
                  <a:t> se falsa.</a:t>
                </a:r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FF9B5759-0BFD-4F18-9523-6CED7A35C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0" y="4417118"/>
                <a:ext cx="11060280" cy="1015663"/>
              </a:xfrm>
              <a:prstGeom prst="rect">
                <a:avLst/>
              </a:prstGeom>
              <a:blipFill>
                <a:blip r:embed="rId9"/>
                <a:stretch>
                  <a:fillRect l="-551" t="-3614" b="-102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3542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ítulo 2">
                <a:extLst>
                  <a:ext uri="{FF2B5EF4-FFF2-40B4-BE49-F238E27FC236}">
                    <a16:creationId xmlns:a16="http://schemas.microsoft.com/office/drawing/2014/main" id="{C98C59EC-F126-45E7-B7C1-9AB9A32ED14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89560" y="98778"/>
                <a:ext cx="8655372" cy="949500"/>
              </a:xfrm>
            </p:spPr>
            <p:txBody>
              <a:bodyPr/>
              <a:lstStyle/>
              <a:p>
                <a:r>
                  <a:rPr lang="es-CO" b="0" dirty="0">
                    <a:solidFill>
                      <a:schemeClr val="tx1"/>
                    </a:solidFill>
                    <a:latin typeface="+mj-lt"/>
                  </a:rPr>
                  <a:t>Cuantificadores (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s-CO" b="0" dirty="0">
                    <a:solidFill>
                      <a:schemeClr val="tx1"/>
                    </a:solidFill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3" name="Título 2">
                <a:extLst>
                  <a:ext uri="{FF2B5EF4-FFF2-40B4-BE49-F238E27FC236}">
                    <a16:creationId xmlns:a16="http://schemas.microsoft.com/office/drawing/2014/main" id="{C98C59EC-F126-45E7-B7C1-9AB9A32ED1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89560" y="98778"/>
                <a:ext cx="8655372" cy="949500"/>
              </a:xfrm>
              <a:blipFill>
                <a:blip r:embed="rId3"/>
                <a:stretch>
                  <a:fillRect l="-2889" t="-6410" b="-1730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310;p34">
            <a:extLst>
              <a:ext uri="{FF2B5EF4-FFF2-40B4-BE49-F238E27FC236}">
                <a16:creationId xmlns:a16="http://schemas.microsoft.com/office/drawing/2014/main" id="{78146662-92BC-4B5F-A914-12A25273420E}"/>
              </a:ext>
            </a:extLst>
          </p:cNvPr>
          <p:cNvSpPr txBox="1">
            <a:spLocks/>
          </p:cNvSpPr>
          <p:nvPr/>
        </p:nvSpPr>
        <p:spPr>
          <a:xfrm>
            <a:off x="139034" y="1048278"/>
            <a:ext cx="11913930" cy="753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Este cuantificador afirma que hay al menos un elemento en el dominio de discurso que satisface la propiedad o relación que le sigue.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a 4">
                <a:extLst>
                  <a:ext uri="{FF2B5EF4-FFF2-40B4-BE49-F238E27FC236}">
                    <a16:creationId xmlns:a16="http://schemas.microsoft.com/office/drawing/2014/main" id="{3471A70B-CDF2-442F-8F42-720D489B7E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7207775"/>
                  </p:ext>
                </p:extLst>
              </p:nvPr>
            </p:nvGraphicFramePr>
            <p:xfrm>
              <a:off x="1015180" y="2162911"/>
              <a:ext cx="10161639" cy="35052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694717">
                      <a:extLst>
                        <a:ext uri="{9D8B030D-6E8A-4147-A177-3AD203B41FA5}">
                          <a16:colId xmlns:a16="http://schemas.microsoft.com/office/drawing/2014/main" val="2212776800"/>
                        </a:ext>
                      </a:extLst>
                    </a:gridCol>
                    <a:gridCol w="1464329">
                      <a:extLst>
                        <a:ext uri="{9D8B030D-6E8A-4147-A177-3AD203B41FA5}">
                          <a16:colId xmlns:a16="http://schemas.microsoft.com/office/drawing/2014/main" val="3724117940"/>
                        </a:ext>
                      </a:extLst>
                    </a:gridCol>
                    <a:gridCol w="6002593">
                      <a:extLst>
                        <a:ext uri="{9D8B030D-6E8A-4147-A177-3AD203B41FA5}">
                          <a16:colId xmlns:a16="http://schemas.microsoft.com/office/drawing/2014/main" val="133611756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Símbolo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∃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3507432"/>
                      </a:ext>
                    </a:extLst>
                  </a:tr>
                  <a:tr h="243775">
                    <a:tc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Lectura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"Existe al menos uno", "Para algún", "Hay algún".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9179385"/>
                      </a:ext>
                    </a:extLst>
                  </a:tr>
                  <a:tr h="243775">
                    <a:tc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Formato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CO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∃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 significa</a:t>
                          </a:r>
                          <a:r>
                            <a:rPr lang="es-CO" sz="2000" baseline="0" dirty="0">
                              <a:latin typeface="+mn-lt"/>
                              <a:ea typeface="Roboto" panose="02000000000000000000" pitchFamily="2" charset="0"/>
                            </a:rPr>
                            <a:t> que “</a:t>
                          </a:r>
                          <a:r>
                            <a:rPr lang="es-MX" sz="2000" baseline="0" dirty="0">
                              <a:latin typeface="+mn-lt"/>
                              <a:ea typeface="Roboto" panose="02000000000000000000" pitchFamily="2" charset="0"/>
                            </a:rPr>
                            <a:t>Existe al menos un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MX" sz="2000" baseline="0" dirty="0">
                              <a:latin typeface="+mn-lt"/>
                              <a:ea typeface="Roboto" panose="02000000000000000000" pitchFamily="2" charset="0"/>
                            </a:rPr>
                            <a:t> tal que la propiedad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s-MX" sz="2000" baseline="0" dirty="0">
                              <a:latin typeface="+mn-lt"/>
                              <a:ea typeface="Roboto" panose="02000000000000000000" pitchFamily="2" charset="0"/>
                            </a:rPr>
                            <a:t> es verdadera para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CO" sz="2000" baseline="0" dirty="0">
                              <a:latin typeface="+mn-lt"/>
                              <a:ea typeface="Roboto" panose="02000000000000000000" pitchFamily="2" charset="0"/>
                            </a:rPr>
                            <a:t>”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4437075"/>
                      </a:ext>
                    </a:extLst>
                  </a:tr>
                  <a:tr h="243775">
                    <a:tc rowSpan="2"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Valor de verdad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Verdadero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La sentencia </a:t>
                          </a:r>
                          <a14:m>
                            <m:oMath xmlns:m="http://schemas.openxmlformats.org/officeDocument/2006/math">
                              <m:r>
                                <a:rPr lang="es-CO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∃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es </a:t>
                          </a: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verdadera</a:t>
                          </a: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si, y solo si,</a:t>
                          </a:r>
                          <a:r>
                            <a:rPr lang="es-MX" sz="2000" baseline="0" dirty="0">
                              <a:latin typeface="+mn-lt"/>
                              <a:ea typeface="Roboto" panose="02000000000000000000" pitchFamily="2" charset="0"/>
                            </a:rPr>
                            <a:t> se puede encontrar al menos un </a:t>
                          </a: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elemento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"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"</m:t>
                              </m:r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del dominio para el cual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es verdadero.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13379027"/>
                      </a:ext>
                    </a:extLst>
                  </a:tr>
                  <a:tr h="243775">
                    <a:tc vMerge="1"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18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Falso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Si se comprueban todos los elementos y para ninguno de ellos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es verdadero, entonces,</a:t>
                          </a:r>
                          <a:r>
                            <a:rPr lang="es-MX" sz="2000" baseline="0" dirty="0">
                              <a:latin typeface="+mn-lt"/>
                              <a:ea typeface="Roboto" panose="02000000000000000000" pitchFamily="2" charset="0"/>
                            </a:rPr>
                            <a:t> la sentencia </a:t>
                          </a:r>
                          <a14:m>
                            <m:oMath xmlns:m="http://schemas.openxmlformats.org/officeDocument/2006/math">
                              <m:r>
                                <a:rPr lang="es-CO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∃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es </a:t>
                          </a: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falsa</a:t>
                          </a: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.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00081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a 4">
                <a:extLst>
                  <a:ext uri="{FF2B5EF4-FFF2-40B4-BE49-F238E27FC236}">
                    <a16:creationId xmlns:a16="http://schemas.microsoft.com/office/drawing/2014/main" id="{3471A70B-CDF2-442F-8F42-720D489B7E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7207775"/>
                  </p:ext>
                </p:extLst>
              </p:nvPr>
            </p:nvGraphicFramePr>
            <p:xfrm>
              <a:off x="1015180" y="2162911"/>
              <a:ext cx="10161639" cy="35052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694717">
                      <a:extLst>
                        <a:ext uri="{9D8B030D-6E8A-4147-A177-3AD203B41FA5}">
                          <a16:colId xmlns:a16="http://schemas.microsoft.com/office/drawing/2014/main" val="2212776800"/>
                        </a:ext>
                      </a:extLst>
                    </a:gridCol>
                    <a:gridCol w="1464329">
                      <a:extLst>
                        <a:ext uri="{9D8B030D-6E8A-4147-A177-3AD203B41FA5}">
                          <a16:colId xmlns:a16="http://schemas.microsoft.com/office/drawing/2014/main" val="3724117940"/>
                        </a:ext>
                      </a:extLst>
                    </a:gridCol>
                    <a:gridCol w="6002593">
                      <a:extLst>
                        <a:ext uri="{9D8B030D-6E8A-4147-A177-3AD203B41FA5}">
                          <a16:colId xmlns:a16="http://schemas.microsoft.com/office/drawing/2014/main" val="133611756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Símbolo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6134" t="-7692" r="-163" b="-81384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350743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Lectura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"Existe al menos uno", "Para algún", "Hay algún".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917938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Formato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6134" t="-117391" r="-163" b="-30347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4437075"/>
                      </a:ext>
                    </a:extLst>
                  </a:tr>
                  <a:tr h="1005840">
                    <a:tc rowSpan="2"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Valor de verdad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Verdadero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9442" t="-150602" r="-203" b="-1102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3379027"/>
                      </a:ext>
                    </a:extLst>
                  </a:tr>
                  <a:tr h="1005840">
                    <a:tc vMerge="1"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18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Falso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9442" t="-252121" r="-203" b="-1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00081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4922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ítulo 2">
                <a:extLst>
                  <a:ext uri="{FF2B5EF4-FFF2-40B4-BE49-F238E27FC236}">
                    <a16:creationId xmlns:a16="http://schemas.microsoft.com/office/drawing/2014/main" id="{C98C59EC-F126-45E7-B7C1-9AB9A32ED14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89560" y="98778"/>
                <a:ext cx="8655372" cy="949500"/>
              </a:xfrm>
            </p:spPr>
            <p:txBody>
              <a:bodyPr/>
              <a:lstStyle/>
              <a:p>
                <a:r>
                  <a:rPr lang="es-CO" b="0" dirty="0">
                    <a:solidFill>
                      <a:schemeClr val="tx1"/>
                    </a:solidFill>
                    <a:latin typeface="+mj-lt"/>
                  </a:rPr>
                  <a:t>Cuantificadores (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s-CO" b="0" dirty="0">
                    <a:solidFill>
                      <a:schemeClr val="tx1"/>
                    </a:solidFill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3" name="Título 2">
                <a:extLst>
                  <a:ext uri="{FF2B5EF4-FFF2-40B4-BE49-F238E27FC236}">
                    <a16:creationId xmlns:a16="http://schemas.microsoft.com/office/drawing/2014/main" id="{C98C59EC-F126-45E7-B7C1-9AB9A32ED1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89560" y="98778"/>
                <a:ext cx="8655372" cy="949500"/>
              </a:xfrm>
              <a:blipFill>
                <a:blip r:embed="rId3"/>
                <a:stretch>
                  <a:fillRect l="-2889" t="-6410" b="-1730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310;p34">
            <a:extLst>
              <a:ext uri="{FF2B5EF4-FFF2-40B4-BE49-F238E27FC236}">
                <a16:creationId xmlns:a16="http://schemas.microsoft.com/office/drawing/2014/main" id="{78146662-92BC-4B5F-A914-12A25273420E}"/>
              </a:ext>
            </a:extLst>
          </p:cNvPr>
          <p:cNvSpPr txBox="1">
            <a:spLocks/>
          </p:cNvSpPr>
          <p:nvPr/>
        </p:nvSpPr>
        <p:spPr>
          <a:xfrm>
            <a:off x="140910" y="861498"/>
            <a:ext cx="11913930" cy="753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Este cuantificador afirma que hay al menos un elemento en el dominio de discurso que satisface la propiedad o relación que le sigue.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EB2C6083-B296-4C0C-A840-7F56B20D82F1}"/>
              </a:ext>
            </a:extLst>
          </p:cNvPr>
          <p:cNvGrpSpPr/>
          <p:nvPr/>
        </p:nvGrpSpPr>
        <p:grpSpPr>
          <a:xfrm>
            <a:off x="2775604" y="1987369"/>
            <a:ext cx="6015025" cy="2054423"/>
            <a:chOff x="718204" y="2017849"/>
            <a:chExt cx="6015025" cy="2054423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85917347-C9B8-4A45-BEA3-AFC78AF54B67}"/>
                </a:ext>
              </a:extLst>
            </p:cNvPr>
            <p:cNvGrpSpPr/>
            <p:nvPr/>
          </p:nvGrpSpPr>
          <p:grpSpPr>
            <a:xfrm>
              <a:off x="718204" y="2353018"/>
              <a:ext cx="1839839" cy="1719254"/>
              <a:chOff x="1434484" y="2365281"/>
              <a:chExt cx="1839839" cy="17192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CuadroTexto 16">
                    <a:extLst>
                      <a:ext uri="{FF2B5EF4-FFF2-40B4-BE49-F238E27FC236}">
                        <a16:creationId xmlns:a16="http://schemas.microsoft.com/office/drawing/2014/main" id="{19570BF8-7998-48DE-944A-32625BD063E6}"/>
                      </a:ext>
                    </a:extLst>
                  </p:cNvPr>
                  <p:cNvSpPr txBox="1"/>
                  <p:nvPr/>
                </p:nvSpPr>
                <p:spPr>
                  <a:xfrm>
                    <a:off x="2103944" y="2445729"/>
                    <a:ext cx="201722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s-CO" dirty="0"/>
                  </a:p>
                </p:txBody>
              </p:sp>
            </mc:Choice>
            <mc:Fallback xmlns="">
              <p:sp>
                <p:nvSpPr>
                  <p:cNvPr id="17" name="CuadroTexto 16">
                    <a:extLst>
                      <a:ext uri="{FF2B5EF4-FFF2-40B4-BE49-F238E27FC236}">
                        <a16:creationId xmlns:a16="http://schemas.microsoft.com/office/drawing/2014/main" id="{19570BF8-7998-48DE-944A-32625BD063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03944" y="2445729"/>
                    <a:ext cx="201722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5152" r="-15152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" name="Grupo 4">
                <a:extLst>
                  <a:ext uri="{FF2B5EF4-FFF2-40B4-BE49-F238E27FC236}">
                    <a16:creationId xmlns:a16="http://schemas.microsoft.com/office/drawing/2014/main" id="{EE702820-0A96-4E26-8A42-07B7405E6072}"/>
                  </a:ext>
                </a:extLst>
              </p:cNvPr>
              <p:cNvGrpSpPr/>
              <p:nvPr/>
            </p:nvGrpSpPr>
            <p:grpSpPr>
              <a:xfrm>
                <a:off x="1434484" y="2365281"/>
                <a:ext cx="1839839" cy="1719254"/>
                <a:chOff x="1111199" y="5094743"/>
                <a:chExt cx="1839839" cy="17192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CuadroTexto 17">
                      <a:extLst>
                        <a:ext uri="{FF2B5EF4-FFF2-40B4-BE49-F238E27FC236}">
                          <a16:creationId xmlns:a16="http://schemas.microsoft.com/office/drawing/2014/main" id="{0B547F3D-23D1-479B-BF91-B0B5E21735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50104" y="5738799"/>
                      <a:ext cx="1300934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s-MX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𝑠𝑚𝑖𝑙𝑖𝑛𝑔</m:t>
                            </m:r>
                            <m:r>
                              <a:rPr lang="es-MX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MX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MX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s-CO" sz="2000" dirty="0">
                        <a:solidFill>
                          <a:srgbClr val="C0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CuadroTexto 17">
                      <a:extLst>
                        <a:ext uri="{FF2B5EF4-FFF2-40B4-BE49-F238E27FC236}">
                          <a16:creationId xmlns:a16="http://schemas.microsoft.com/office/drawing/2014/main" id="{0B547F3D-23D1-479B-BF91-B0B5E217350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50104" y="5738799"/>
                      <a:ext cx="1300934" cy="307777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6573" t="-4000" r="-6573" b="-36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4" name="Grupo 3">
                  <a:extLst>
                    <a:ext uri="{FF2B5EF4-FFF2-40B4-BE49-F238E27FC236}">
                      <a16:creationId xmlns:a16="http://schemas.microsoft.com/office/drawing/2014/main" id="{85AE9FC6-8CD8-4AB0-8C3D-52D429B24F40}"/>
                    </a:ext>
                  </a:extLst>
                </p:cNvPr>
                <p:cNvGrpSpPr/>
                <p:nvPr/>
              </p:nvGrpSpPr>
              <p:grpSpPr>
                <a:xfrm>
                  <a:off x="1111199" y="5094743"/>
                  <a:ext cx="779085" cy="1719254"/>
                  <a:chOff x="1111199" y="5079753"/>
                  <a:chExt cx="779085" cy="1719254"/>
                </a:xfrm>
              </p:grpSpPr>
              <p:sp>
                <p:nvSpPr>
                  <p:cNvPr id="15" name="Elipse 14">
                    <a:extLst>
                      <a:ext uri="{FF2B5EF4-FFF2-40B4-BE49-F238E27FC236}">
                        <a16:creationId xmlns:a16="http://schemas.microsoft.com/office/drawing/2014/main" id="{4C5876A7-1E1A-47B8-BAEC-654736BB83A6}"/>
                      </a:ext>
                    </a:extLst>
                  </p:cNvPr>
                  <p:cNvSpPr/>
                  <p:nvPr/>
                </p:nvSpPr>
                <p:spPr>
                  <a:xfrm>
                    <a:off x="1266397" y="5079753"/>
                    <a:ext cx="462650" cy="463716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95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/>
                  </a:p>
                </p:txBody>
              </p:sp>
              <p:pic>
                <p:nvPicPr>
                  <p:cNvPr id="16" name="Imagen 15">
                    <a:extLst>
                      <a:ext uri="{FF2B5EF4-FFF2-40B4-BE49-F238E27FC236}">
                        <a16:creationId xmlns:a16="http://schemas.microsoft.com/office/drawing/2014/main" id="{9C284640-09A4-4A01-B3D2-A7D01377318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111199" y="6084846"/>
                    <a:ext cx="779085" cy="714161"/>
                  </a:xfrm>
                  <a:prstGeom prst="rect">
                    <a:avLst/>
                  </a:prstGeom>
                </p:spPr>
              </p:pic>
              <p:cxnSp>
                <p:nvCxnSpPr>
                  <p:cNvPr id="21" name="Conector recto de flecha 20">
                    <a:extLst>
                      <a:ext uri="{FF2B5EF4-FFF2-40B4-BE49-F238E27FC236}">
                        <a16:creationId xmlns:a16="http://schemas.microsoft.com/office/drawing/2014/main" id="{A7AF1928-FD8A-4125-96D5-4C53FD8FA13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89506" y="5619131"/>
                    <a:ext cx="0" cy="531147"/>
                  </a:xfrm>
                  <a:prstGeom prst="straightConnector1">
                    <a:avLst/>
                  </a:prstGeom>
                  <a:ln w="19050">
                    <a:solidFill>
                      <a:schemeClr val="accent2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F21C5D42-1D3F-4D9C-9561-6D549256E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38531" y="2017849"/>
              <a:ext cx="3194698" cy="165067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8D8FB183-3D16-4547-8194-FF8F3AB230FB}"/>
                    </a:ext>
                  </a:extLst>
                </p:cNvPr>
                <p:cNvSpPr txBox="1"/>
                <p:nvPr/>
              </p:nvSpPr>
              <p:spPr>
                <a:xfrm>
                  <a:off x="4310013" y="3764495"/>
                  <a:ext cx="165173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MX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𝑠𝑚𝑖𝑙𝑖𝑛𝑔</m:t>
                        </m:r>
                        <m:r>
                          <a:rPr lang="es-MX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O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8D8FB183-3D16-4547-8194-FF8F3AB23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0013" y="3764495"/>
                  <a:ext cx="1651734" cy="307777"/>
                </a:xfrm>
                <a:prstGeom prst="rect">
                  <a:avLst/>
                </a:prstGeom>
                <a:blipFill>
                  <a:blip r:embed="rId8"/>
                  <a:stretch>
                    <a:fillRect l="-2963" t="-4000" r="-5556" b="-36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34446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32" y="44253"/>
            <a:ext cx="11461978" cy="949500"/>
          </a:xfrm>
        </p:spPr>
        <p:txBody>
          <a:bodyPr/>
          <a:lstStyle/>
          <a:p>
            <a:r>
              <a:rPr lang="es-CO" b="0" dirty="0">
                <a:solidFill>
                  <a:schemeClr val="tx1"/>
                </a:solidFill>
                <a:latin typeface="+mj-lt"/>
              </a:rPr>
              <a:t>Resumen cuantificadores</a:t>
            </a:r>
          </a:p>
        </p:txBody>
      </p:sp>
      <p:sp>
        <p:nvSpPr>
          <p:cNvPr id="11" name="Google Shape;310;p34">
            <a:extLst>
              <a:ext uri="{FF2B5EF4-FFF2-40B4-BE49-F238E27FC236}">
                <a16:creationId xmlns:a16="http://schemas.microsoft.com/office/drawing/2014/main" id="{78146662-92BC-4B5F-A914-12A25273420E}"/>
              </a:ext>
            </a:extLst>
          </p:cNvPr>
          <p:cNvSpPr txBox="1">
            <a:spLocks/>
          </p:cNvSpPr>
          <p:nvPr/>
        </p:nvSpPr>
        <p:spPr>
          <a:xfrm>
            <a:off x="103432" y="625985"/>
            <a:ext cx="10850629" cy="492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dirty="0">
                <a:latin typeface="+mn-lt"/>
                <a:ea typeface="Roboto" panose="02000000000000000000" pitchFamily="2" charset="0"/>
              </a:rPr>
              <a:t>La siguiente tabla muestra un resumen entre los cuantificadores: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a 5">
                <a:extLst>
                  <a:ext uri="{FF2B5EF4-FFF2-40B4-BE49-F238E27FC236}">
                    <a16:creationId xmlns:a16="http://schemas.microsoft.com/office/drawing/2014/main" id="{0126DF3A-3951-47EB-81B1-8FCECF153B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5328142"/>
                  </p:ext>
                </p:extLst>
              </p:nvPr>
            </p:nvGraphicFramePr>
            <p:xfrm>
              <a:off x="438836" y="1192408"/>
              <a:ext cx="11314325" cy="499872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487244">
                      <a:extLst>
                        <a:ext uri="{9D8B030D-6E8A-4147-A177-3AD203B41FA5}">
                          <a16:colId xmlns:a16="http://schemas.microsoft.com/office/drawing/2014/main" val="1345252817"/>
                        </a:ext>
                      </a:extLst>
                    </a:gridCol>
                    <a:gridCol w="4358398">
                      <a:extLst>
                        <a:ext uri="{9D8B030D-6E8A-4147-A177-3AD203B41FA5}">
                          <a16:colId xmlns:a16="http://schemas.microsoft.com/office/drawing/2014/main" val="4015708041"/>
                        </a:ext>
                      </a:extLst>
                    </a:gridCol>
                    <a:gridCol w="4468683">
                      <a:extLst>
                        <a:ext uri="{9D8B030D-6E8A-4147-A177-3AD203B41FA5}">
                          <a16:colId xmlns:a16="http://schemas.microsoft.com/office/drawing/2014/main" val="3816877368"/>
                        </a:ext>
                      </a:extLst>
                    </a:gridCol>
                  </a:tblGrid>
                  <a:tr h="239843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Característica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Cuantificador universal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(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)</m:t>
                              </m:r>
                            </m:oMath>
                          </a14:m>
                          <a:endParaRPr lang="es-CO" sz="2000" b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Cuantificador existencial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(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∃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)</m:t>
                              </m:r>
                            </m:oMath>
                          </a14:m>
                          <a:endParaRPr lang="es-CO" sz="2000" b="1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8850732"/>
                      </a:ext>
                    </a:extLst>
                  </a:tr>
                  <a:tr h="239843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Símbolo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∃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50087425"/>
                      </a:ext>
                    </a:extLst>
                  </a:tr>
                  <a:tr h="23984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</a:rPr>
                            <a:t>Lectura común</a:t>
                          </a:r>
                          <a:endParaRPr lang="es-CO" sz="2000" b="1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"Para todo", "Para cada", "Para cualquier"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"Existe (al menos) un", "Para algún", "Hay algún"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92153765"/>
                      </a:ext>
                    </a:extLst>
                  </a:tr>
                  <a:tr h="23984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sz="2000" b="1" dirty="0">
                              <a:latin typeface="+mn-lt"/>
                            </a:rPr>
                            <a:t>Significado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MX" sz="2000" dirty="0">
                              <a:latin typeface="+mn-lt"/>
                            </a:rPr>
                            <a:t>La propiedad es verdadera para </a:t>
                          </a:r>
                          <a:r>
                            <a:rPr lang="es-MX" sz="2000" b="1" dirty="0">
                              <a:latin typeface="+mn-lt"/>
                            </a:rPr>
                            <a:t>todos</a:t>
                          </a:r>
                          <a:r>
                            <a:rPr lang="es-MX" sz="2000" dirty="0">
                              <a:latin typeface="+mn-lt"/>
                            </a:rPr>
                            <a:t> los elementos del dominio</a:t>
                          </a:r>
                          <a:endParaRPr lang="es-CO" sz="20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La propiedad es verdadera para </a:t>
                          </a:r>
                          <a:r>
                            <a:rPr lang="es-MX" sz="2000" b="1" dirty="0">
                              <a:latin typeface="+mn-lt"/>
                            </a:rPr>
                            <a:t>al menos uno</a:t>
                          </a:r>
                          <a:r>
                            <a:rPr lang="es-MX" sz="2000" dirty="0">
                              <a:latin typeface="+mn-lt"/>
                            </a:rPr>
                            <a:t> del dominio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91561335"/>
                      </a:ext>
                    </a:extLst>
                  </a:tr>
                  <a:tr h="23984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sz="2000" b="1" dirty="0">
                              <a:latin typeface="+mn-lt"/>
                            </a:rPr>
                            <a:t>Estructura típica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85523613"/>
                      </a:ext>
                    </a:extLst>
                  </a:tr>
                  <a:tr h="23984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sz="2000" b="1" dirty="0">
                              <a:latin typeface="+mn-lt"/>
                            </a:rPr>
                            <a:t>Condición de verdad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 es verdadero para todo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0" dirty="0">
                              <a:latin typeface="+mn-lt"/>
                              <a:ea typeface="Cambria Math" panose="02040503050406030204" pitchFamily="18" charset="0"/>
                            </a:rPr>
                            <a:t>Hay algún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MX" sz="2000" b="0" dirty="0">
                              <a:latin typeface="+mn-lt"/>
                              <a:ea typeface="Cambria Math" panose="02040503050406030204" pitchFamily="18" charset="0"/>
                            </a:rPr>
                            <a:t> para</a:t>
                          </a:r>
                          <a:r>
                            <a:rPr lang="es-MX" sz="2000" b="0" baseline="0" dirty="0">
                              <a:latin typeface="+mn-lt"/>
                              <a:ea typeface="Cambria Math" panose="02040503050406030204" pitchFamily="18" charset="0"/>
                            </a:rPr>
                            <a:t> el cual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 es verdadero.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59915265"/>
                      </a:ext>
                    </a:extLst>
                  </a:tr>
                  <a:tr h="23984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sz="2000" b="1" dirty="0">
                              <a:latin typeface="+mn-lt"/>
                            </a:rPr>
                            <a:t>Condición de falsedad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0" dirty="0">
                              <a:latin typeface="+mn-lt"/>
                              <a:ea typeface="Cambria Math" panose="02040503050406030204" pitchFamily="18" charset="0"/>
                            </a:rPr>
                            <a:t>Hay algún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MX" sz="2000" b="0" dirty="0">
                              <a:latin typeface="+mn-lt"/>
                              <a:ea typeface="Cambria Math" panose="02040503050406030204" pitchFamily="18" charset="0"/>
                            </a:rPr>
                            <a:t> para</a:t>
                          </a:r>
                          <a:r>
                            <a:rPr lang="es-MX" sz="2000" b="0" baseline="0" dirty="0">
                              <a:latin typeface="+mn-lt"/>
                              <a:ea typeface="Cambria Math" panose="02040503050406030204" pitchFamily="18" charset="0"/>
                            </a:rPr>
                            <a:t> el cual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 es falso.</a:t>
                          </a:r>
                          <a:endParaRPr lang="es-CO" sz="20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MX" sz="2000" b="0" dirty="0">
                              <a:latin typeface="+mn-lt"/>
                              <a:ea typeface="Cambria Math" panose="02040503050406030204" pitchFamily="18" charset="0"/>
                            </a:rPr>
                            <a:t> es falso para cada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8402189"/>
                      </a:ext>
                    </a:extLst>
                  </a:tr>
                  <a:tr h="23984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sz="2000" b="1" dirty="0">
                              <a:latin typeface="+mn-lt"/>
                            </a:rPr>
                            <a:t>Palabras claves asociadas (al lenguaje natural)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Todos, cada, cualquiera, ninguno (usado con negación), siempre, para todo.</a:t>
                          </a:r>
                          <a:endParaRPr lang="es-CO" sz="20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Existe, algún, algunos, hay, al menos uno, a veces, para algún.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422703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a 5">
                <a:extLst>
                  <a:ext uri="{FF2B5EF4-FFF2-40B4-BE49-F238E27FC236}">
                    <a16:creationId xmlns:a16="http://schemas.microsoft.com/office/drawing/2014/main" id="{0126DF3A-3951-47EB-81B1-8FCECF153B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5328142"/>
                  </p:ext>
                </p:extLst>
              </p:nvPr>
            </p:nvGraphicFramePr>
            <p:xfrm>
              <a:off x="438836" y="1192408"/>
              <a:ext cx="11314325" cy="499872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487244">
                      <a:extLst>
                        <a:ext uri="{9D8B030D-6E8A-4147-A177-3AD203B41FA5}">
                          <a16:colId xmlns:a16="http://schemas.microsoft.com/office/drawing/2014/main" val="1345252817"/>
                        </a:ext>
                      </a:extLst>
                    </a:gridCol>
                    <a:gridCol w="4358398">
                      <a:extLst>
                        <a:ext uri="{9D8B030D-6E8A-4147-A177-3AD203B41FA5}">
                          <a16:colId xmlns:a16="http://schemas.microsoft.com/office/drawing/2014/main" val="4015708041"/>
                        </a:ext>
                      </a:extLst>
                    </a:gridCol>
                    <a:gridCol w="4468683">
                      <a:extLst>
                        <a:ext uri="{9D8B030D-6E8A-4147-A177-3AD203B41FA5}">
                          <a16:colId xmlns:a16="http://schemas.microsoft.com/office/drawing/2014/main" val="381687736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Característica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56983" t="-7692" r="-102654" b="-119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53134" t="-7692" r="-136" b="-119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885073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Símbolo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6983" t="-107692" r="-102654" b="-109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3134" t="-107692" r="-136" b="-109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008742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</a:rPr>
                            <a:t>Lectura común</a:t>
                          </a:r>
                          <a:endParaRPr lang="es-CO" sz="2000" b="1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"Para todo", "Para cada", "Para cualquier"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"Existe (al menos) un", "Para algún", "Hay algún"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9215376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sz="2000" b="1" dirty="0">
                              <a:latin typeface="+mn-lt"/>
                            </a:rPr>
                            <a:t>Significado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MX" sz="2000" dirty="0">
                              <a:latin typeface="+mn-lt"/>
                            </a:rPr>
                            <a:t>La propiedad es verdadera para </a:t>
                          </a:r>
                          <a:r>
                            <a:rPr lang="es-MX" sz="2000" b="1" dirty="0">
                              <a:latin typeface="+mn-lt"/>
                            </a:rPr>
                            <a:t>todos</a:t>
                          </a:r>
                          <a:r>
                            <a:rPr lang="es-MX" sz="2000" dirty="0">
                              <a:latin typeface="+mn-lt"/>
                            </a:rPr>
                            <a:t> los elementos del dominio</a:t>
                          </a:r>
                          <a:endParaRPr lang="es-CO" sz="20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La propiedad es verdadera para </a:t>
                          </a:r>
                          <a:r>
                            <a:rPr lang="es-MX" sz="2000" b="1" dirty="0">
                              <a:latin typeface="+mn-lt"/>
                            </a:rPr>
                            <a:t>al menos uno</a:t>
                          </a:r>
                          <a:r>
                            <a:rPr lang="es-MX" sz="2000" dirty="0">
                              <a:latin typeface="+mn-lt"/>
                            </a:rPr>
                            <a:t> del dominio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9156133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sz="2000" b="1" dirty="0">
                              <a:latin typeface="+mn-lt"/>
                            </a:rPr>
                            <a:t>Estructura típica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6983" t="-553030" r="-102654" b="-6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3134" t="-553030" r="-136" b="-6257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5523613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sz="2000" b="1" dirty="0">
                              <a:latin typeface="+mn-lt"/>
                            </a:rPr>
                            <a:t>Condición de verdad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6983" t="-374783" r="-102654" b="-2591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3134" t="-374783" r="-136" b="-2591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991526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sz="2000" b="1" dirty="0">
                              <a:latin typeface="+mn-lt"/>
                            </a:rPr>
                            <a:t>Condición de falsedad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6983" t="-474783" r="-102654" b="-1591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3134" t="-474783" r="-136" b="-1591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8402189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O" sz="2000" b="1" dirty="0">
                              <a:latin typeface="+mn-lt"/>
                            </a:rPr>
                            <a:t>Palabras claves asociadas (al lenguaje natural)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Todos, cada, cualquiera, ninguno (usado con negación), siempre, para todo.</a:t>
                          </a:r>
                          <a:endParaRPr lang="es-CO" sz="20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Existe, algún, algunos, hay, al menos uno, a veces, para algún.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422703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Google Shape;310;p34">
            <a:extLst>
              <a:ext uri="{FF2B5EF4-FFF2-40B4-BE49-F238E27FC236}">
                <a16:creationId xmlns:a16="http://schemas.microsoft.com/office/drawing/2014/main" id="{7D17647B-C88C-45A8-82B9-12C6117BCF99}"/>
              </a:ext>
            </a:extLst>
          </p:cNvPr>
          <p:cNvSpPr txBox="1">
            <a:spLocks/>
          </p:cNvSpPr>
          <p:nvPr/>
        </p:nvSpPr>
        <p:spPr>
          <a:xfrm>
            <a:off x="438836" y="6268282"/>
            <a:ext cx="11314325" cy="5621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latin typeface="+mn-lt"/>
                <a:ea typeface="Roboto" panose="02000000000000000000" pitchFamily="2" charset="0"/>
              </a:rPr>
              <a:t>Nota importante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: El valor de la verdad para cualquiera de los cuantificadores depende del dominio.</a:t>
            </a:r>
          </a:p>
        </p:txBody>
      </p:sp>
    </p:spTree>
    <p:extLst>
      <p:ext uri="{BB962C8B-B14F-4D97-AF65-F5344CB8AC3E}">
        <p14:creationId xmlns:p14="http://schemas.microsoft.com/office/powerpoint/2010/main" val="3177415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ítulo 2">
                <a:extLst>
                  <a:ext uri="{FF2B5EF4-FFF2-40B4-BE49-F238E27FC236}">
                    <a16:creationId xmlns:a16="http://schemas.microsoft.com/office/drawing/2014/main" id="{C98C59EC-F126-45E7-B7C1-9AB9A32ED14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78432" y="111460"/>
                <a:ext cx="10326728" cy="949500"/>
              </a:xfrm>
            </p:spPr>
            <p:txBody>
              <a:bodyPr/>
              <a:lstStyle/>
              <a:p>
                <a:r>
                  <a:rPr lang="es-CO" b="0" dirty="0">
                    <a:solidFill>
                      <a:schemeClr val="tx1"/>
                    </a:solidFill>
                    <a:latin typeface="+mj-lt"/>
                  </a:rPr>
                  <a:t>Cuantificador de unicidad (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∃!</m:t>
                    </m:r>
                  </m:oMath>
                </a14:m>
                <a:r>
                  <a:rPr lang="es-CO" b="0" dirty="0">
                    <a:solidFill>
                      <a:schemeClr val="tx1"/>
                    </a:solidFill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3" name="Título 2">
                <a:extLst>
                  <a:ext uri="{FF2B5EF4-FFF2-40B4-BE49-F238E27FC236}">
                    <a16:creationId xmlns:a16="http://schemas.microsoft.com/office/drawing/2014/main" id="{C98C59EC-F126-45E7-B7C1-9AB9A32ED1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78432" y="111460"/>
                <a:ext cx="10326728" cy="949500"/>
              </a:xfrm>
              <a:blipFill>
                <a:blip r:embed="rId3"/>
                <a:stretch>
                  <a:fillRect l="-2360" t="-6410" b="-1730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310;p34">
            <a:extLst>
              <a:ext uri="{FF2B5EF4-FFF2-40B4-BE49-F238E27FC236}">
                <a16:creationId xmlns:a16="http://schemas.microsoft.com/office/drawing/2014/main" id="{78146662-92BC-4B5F-A914-12A25273420E}"/>
              </a:ext>
            </a:extLst>
          </p:cNvPr>
          <p:cNvSpPr txBox="1">
            <a:spLocks/>
          </p:cNvSpPr>
          <p:nvPr/>
        </p:nvSpPr>
        <p:spPr>
          <a:xfrm>
            <a:off x="213360" y="1016403"/>
            <a:ext cx="11731782" cy="753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Este cuantificador que permite expresar que </a:t>
            </a:r>
            <a:r>
              <a:rPr lang="es-MX" sz="2200" b="1" dirty="0">
                <a:latin typeface="+mn-lt"/>
                <a:ea typeface="Roboto" panose="02000000000000000000" pitchFamily="2" charset="0"/>
              </a:rPr>
              <a:t>existe exactamente un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 elemento que cumple cierta propiedad.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a 4">
                <a:extLst>
                  <a:ext uri="{FF2B5EF4-FFF2-40B4-BE49-F238E27FC236}">
                    <a16:creationId xmlns:a16="http://schemas.microsoft.com/office/drawing/2014/main" id="{3471A70B-CDF2-442F-8F42-720D489B7E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8048564"/>
                  </p:ext>
                </p:extLst>
              </p:nvPr>
            </p:nvGraphicFramePr>
            <p:xfrm>
              <a:off x="694929" y="1952903"/>
              <a:ext cx="10802142" cy="4550283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864569">
                      <a:extLst>
                        <a:ext uri="{9D8B030D-6E8A-4147-A177-3AD203B41FA5}">
                          <a16:colId xmlns:a16="http://schemas.microsoft.com/office/drawing/2014/main" val="2212776800"/>
                        </a:ext>
                      </a:extLst>
                    </a:gridCol>
                    <a:gridCol w="1931137">
                      <a:extLst>
                        <a:ext uri="{9D8B030D-6E8A-4147-A177-3AD203B41FA5}">
                          <a16:colId xmlns:a16="http://schemas.microsoft.com/office/drawing/2014/main" val="3724117940"/>
                        </a:ext>
                      </a:extLst>
                    </a:gridCol>
                    <a:gridCol w="6006436">
                      <a:extLst>
                        <a:ext uri="{9D8B030D-6E8A-4147-A177-3AD203B41FA5}">
                          <a16:colId xmlns:a16="http://schemas.microsoft.com/office/drawing/2014/main" val="1336117563"/>
                        </a:ext>
                      </a:extLst>
                    </a:gridCol>
                  </a:tblGrid>
                  <a:tr h="2138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Símbolo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!</m:t>
                                </m:r>
                              </m:oMath>
                            </m:oMathPara>
                          </a14:m>
                          <a:endParaRPr lang="es-CO" sz="2000" b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3507432"/>
                      </a:ext>
                    </a:extLst>
                  </a:tr>
                  <a:tr h="213843">
                    <a:tc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Lectura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"Existe un único", “Existe exactamente un", “uno y solo uno".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9179385"/>
                      </a:ext>
                    </a:extLst>
                  </a:tr>
                  <a:tr h="213843">
                    <a:tc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Formato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CO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∃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!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 significa</a:t>
                          </a:r>
                          <a:r>
                            <a:rPr lang="es-CO" sz="2000" baseline="0" dirty="0">
                              <a:latin typeface="+mn-lt"/>
                              <a:ea typeface="Roboto" panose="02000000000000000000" pitchFamily="2" charset="0"/>
                            </a:rPr>
                            <a:t> que “</a:t>
                          </a:r>
                          <a:r>
                            <a:rPr lang="es-MX" sz="2000" baseline="0" dirty="0">
                              <a:latin typeface="+mn-lt"/>
                              <a:ea typeface="Roboto" panose="02000000000000000000" pitchFamily="2" charset="0"/>
                            </a:rPr>
                            <a:t>Existe una única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MX" sz="2000" baseline="0" dirty="0">
                              <a:latin typeface="+mn-lt"/>
                              <a:ea typeface="Roboto" panose="02000000000000000000" pitchFamily="2" charset="0"/>
                            </a:rPr>
                            <a:t> tal que la propiedad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s-MX" sz="2000" baseline="0" dirty="0">
                              <a:latin typeface="+mn-lt"/>
                              <a:ea typeface="Roboto" panose="02000000000000000000" pitchFamily="2" charset="0"/>
                            </a:rPr>
                            <a:t> es verdadera para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CO" sz="2000" baseline="0" dirty="0">
                              <a:latin typeface="+mn-lt"/>
                              <a:ea typeface="Roboto" panose="02000000000000000000" pitchFamily="2" charset="0"/>
                            </a:rPr>
                            <a:t>”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4437075"/>
                      </a:ext>
                    </a:extLst>
                  </a:tr>
                  <a:tr h="855981">
                    <a:tc rowSpan="3"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Forma desarrollada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El cuantificador de unicidad no es realmente necesario ya que la restricción de que existe un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único tal que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se puede expresar como:</a:t>
                          </a:r>
                        </a:p>
                        <a:p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∧∀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  <m:d>
                                          <m:dPr>
                                            <m:ctrlPr>
                                              <a:rPr lang="es-MX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s-MX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d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→</m:t>
                                        </m:r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MX" sz="2000" b="0" dirty="0">
                            <a:latin typeface="+mn-lt"/>
                            <a:ea typeface="Cambria Math" panose="02040503050406030204" pitchFamily="18" charset="0"/>
                          </a:endParaRPr>
                        </a:p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 </a:t>
                          </a:r>
                        </a:p>
                      </a:txBody>
                      <a:tcPr anchor="ctr"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427757"/>
                      </a:ext>
                    </a:extLst>
                  </a:tr>
                  <a:tr h="252724">
                    <a:tc vMerge="1"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Parte 1: Existencia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∃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 -</a:t>
                          </a:r>
                          <a:r>
                            <a:rPr lang="es-CO" sz="2000" baseline="0" dirty="0">
                              <a:latin typeface="+mn-lt"/>
                              <a:ea typeface="Roboto" panose="02000000000000000000" pitchFamily="2" charset="0"/>
                            </a:rPr>
                            <a:t> </a:t>
                          </a: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existe </a:t>
                          </a: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al menos uno</a:t>
                          </a: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que cumple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13379027"/>
                      </a:ext>
                    </a:extLst>
                  </a:tr>
                  <a:tr h="213843">
                    <a:tc vMerge="1"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18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Parte 2: Unicidad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s-MX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 - </a:t>
                          </a: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cualquier otro</a:t>
                          </a: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que lo cumpla debe ser igual a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00081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a 4">
                <a:extLst>
                  <a:ext uri="{FF2B5EF4-FFF2-40B4-BE49-F238E27FC236}">
                    <a16:creationId xmlns:a16="http://schemas.microsoft.com/office/drawing/2014/main" id="{3471A70B-CDF2-442F-8F42-720D489B7E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8048564"/>
                  </p:ext>
                </p:extLst>
              </p:nvPr>
            </p:nvGraphicFramePr>
            <p:xfrm>
              <a:off x="694929" y="1952903"/>
              <a:ext cx="10802142" cy="4550283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864569">
                      <a:extLst>
                        <a:ext uri="{9D8B030D-6E8A-4147-A177-3AD203B41FA5}">
                          <a16:colId xmlns:a16="http://schemas.microsoft.com/office/drawing/2014/main" val="2212776800"/>
                        </a:ext>
                      </a:extLst>
                    </a:gridCol>
                    <a:gridCol w="1931137">
                      <a:extLst>
                        <a:ext uri="{9D8B030D-6E8A-4147-A177-3AD203B41FA5}">
                          <a16:colId xmlns:a16="http://schemas.microsoft.com/office/drawing/2014/main" val="3724117940"/>
                        </a:ext>
                      </a:extLst>
                    </a:gridCol>
                    <a:gridCol w="6006436">
                      <a:extLst>
                        <a:ext uri="{9D8B030D-6E8A-4147-A177-3AD203B41FA5}">
                          <a16:colId xmlns:a16="http://schemas.microsoft.com/office/drawing/2014/main" val="133611756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Símbolo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6043" t="-7692" r="-77" b="-107692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350743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Lectura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"Existe un único", “Existe exactamente un", “uno y solo uno".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917938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Formato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6043" t="-117391" r="-77" b="-45217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4437075"/>
                      </a:ext>
                    </a:extLst>
                  </a:tr>
                  <a:tr h="1654683">
                    <a:tc rowSpan="3"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Forma desarrollada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6043" t="-91912" r="-77" b="-9117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427757"/>
                      </a:ext>
                    </a:extLst>
                  </a:tr>
                  <a:tr h="701040">
                    <a:tc vMerge="1"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Parte 1: Existencia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9919" t="-453913" r="-101" b="-1156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3379027"/>
                      </a:ext>
                    </a:extLst>
                  </a:tr>
                  <a:tr h="701040">
                    <a:tc vMerge="1">
                      <a:txBody>
                        <a:bodyPr/>
                        <a:lstStyle/>
                        <a:p>
                          <a:pPr marL="0" marR="0" lvl="4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18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Parte 2: Unicidad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9919" t="-553913" r="-101" b="-156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00081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75819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ítulo 2">
                <a:extLst>
                  <a:ext uri="{FF2B5EF4-FFF2-40B4-BE49-F238E27FC236}">
                    <a16:creationId xmlns:a16="http://schemas.microsoft.com/office/drawing/2014/main" id="{C98C59EC-F126-45E7-B7C1-9AB9A32ED14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78432" y="111460"/>
                <a:ext cx="10326728" cy="949500"/>
              </a:xfrm>
            </p:spPr>
            <p:txBody>
              <a:bodyPr/>
              <a:lstStyle/>
              <a:p>
                <a:r>
                  <a:rPr lang="es-CO" b="0" dirty="0">
                    <a:solidFill>
                      <a:schemeClr val="tx1"/>
                    </a:solidFill>
                    <a:latin typeface="+mj-lt"/>
                  </a:rPr>
                  <a:t>Cuantificador de unicidad (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∃!</m:t>
                    </m:r>
                  </m:oMath>
                </a14:m>
                <a:r>
                  <a:rPr lang="es-CO" b="0" dirty="0">
                    <a:solidFill>
                      <a:schemeClr val="tx1"/>
                    </a:solidFill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3" name="Título 2">
                <a:extLst>
                  <a:ext uri="{FF2B5EF4-FFF2-40B4-BE49-F238E27FC236}">
                    <a16:creationId xmlns:a16="http://schemas.microsoft.com/office/drawing/2014/main" id="{C98C59EC-F126-45E7-B7C1-9AB9A32ED1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78432" y="111460"/>
                <a:ext cx="10326728" cy="949500"/>
              </a:xfrm>
              <a:blipFill>
                <a:blip r:embed="rId3"/>
                <a:stretch>
                  <a:fillRect l="-2360" t="-6410" b="-1730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310;p34">
            <a:extLst>
              <a:ext uri="{FF2B5EF4-FFF2-40B4-BE49-F238E27FC236}">
                <a16:creationId xmlns:a16="http://schemas.microsoft.com/office/drawing/2014/main" id="{78146662-92BC-4B5F-A914-12A25273420E}"/>
              </a:ext>
            </a:extLst>
          </p:cNvPr>
          <p:cNvSpPr txBox="1">
            <a:spLocks/>
          </p:cNvSpPr>
          <p:nvPr/>
        </p:nvSpPr>
        <p:spPr>
          <a:xfrm>
            <a:off x="3018" y="820523"/>
            <a:ext cx="11945142" cy="753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dirty="0">
                <a:latin typeface="+mn-lt"/>
                <a:ea typeface="Roboto" panose="02000000000000000000" pitchFamily="2" charset="0"/>
              </a:rPr>
              <a:t>Este cuantificador que permite expresar que </a:t>
            </a:r>
            <a:r>
              <a:rPr lang="es-MX" sz="2000" b="1" dirty="0">
                <a:latin typeface="+mn-lt"/>
                <a:ea typeface="Roboto" panose="02000000000000000000" pitchFamily="2" charset="0"/>
              </a:rPr>
              <a:t>existe exactamente un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 elemento que cumple cierta propiedad.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35F6699D-455E-4FB1-AA64-084C05553006}"/>
              </a:ext>
            </a:extLst>
          </p:cNvPr>
          <p:cNvGrpSpPr/>
          <p:nvPr/>
        </p:nvGrpSpPr>
        <p:grpSpPr>
          <a:xfrm>
            <a:off x="1617364" y="2006928"/>
            <a:ext cx="8496570" cy="1739639"/>
            <a:chOff x="1464964" y="2098368"/>
            <a:chExt cx="8496570" cy="17396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19570BF8-7998-48DE-944A-32625BD063E6}"/>
                    </a:ext>
                  </a:extLst>
                </p:cNvPr>
                <p:cNvSpPr txBox="1"/>
                <p:nvPr/>
              </p:nvSpPr>
              <p:spPr>
                <a:xfrm>
                  <a:off x="2134424" y="2199201"/>
                  <a:ext cx="20172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19570BF8-7998-48DE-944A-32625BD063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424" y="2199201"/>
                  <a:ext cx="201722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15152" r="-15152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EE702820-0A96-4E26-8A42-07B7405E6072}"/>
                </a:ext>
              </a:extLst>
            </p:cNvPr>
            <p:cNvGrpSpPr/>
            <p:nvPr/>
          </p:nvGrpSpPr>
          <p:grpSpPr>
            <a:xfrm>
              <a:off x="1464964" y="2118753"/>
              <a:ext cx="1839839" cy="1719254"/>
              <a:chOff x="1111199" y="5094743"/>
              <a:chExt cx="1839839" cy="17192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CuadroTexto 17">
                    <a:extLst>
                      <a:ext uri="{FF2B5EF4-FFF2-40B4-BE49-F238E27FC236}">
                        <a16:creationId xmlns:a16="http://schemas.microsoft.com/office/drawing/2014/main" id="{0B547F3D-23D1-479B-BF91-B0B5E2173505}"/>
                      </a:ext>
                    </a:extLst>
                  </p:cNvPr>
                  <p:cNvSpPr txBox="1"/>
                  <p:nvPr/>
                </p:nvSpPr>
                <p:spPr>
                  <a:xfrm>
                    <a:off x="1650104" y="5738799"/>
                    <a:ext cx="1300934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𝑠𝑚𝑖𝑙𝑖𝑛𝑔</m:t>
                          </m:r>
                          <m:r>
                            <a:rPr lang="es-MX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O" sz="2000" dirty="0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CuadroTexto 17">
                    <a:extLst>
                      <a:ext uri="{FF2B5EF4-FFF2-40B4-BE49-F238E27FC236}">
                        <a16:creationId xmlns:a16="http://schemas.microsoft.com/office/drawing/2014/main" id="{0B547F3D-23D1-479B-BF91-B0B5E21735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50104" y="5738799"/>
                    <a:ext cx="1300934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6573" t="-1961" r="-6573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" name="Grupo 3">
                <a:extLst>
                  <a:ext uri="{FF2B5EF4-FFF2-40B4-BE49-F238E27FC236}">
                    <a16:creationId xmlns:a16="http://schemas.microsoft.com/office/drawing/2014/main" id="{85AE9FC6-8CD8-4AB0-8C3D-52D429B24F40}"/>
                  </a:ext>
                </a:extLst>
              </p:cNvPr>
              <p:cNvGrpSpPr/>
              <p:nvPr/>
            </p:nvGrpSpPr>
            <p:grpSpPr>
              <a:xfrm>
                <a:off x="1111199" y="5094743"/>
                <a:ext cx="779085" cy="1719254"/>
                <a:chOff x="1111199" y="5079753"/>
                <a:chExt cx="779085" cy="1719254"/>
              </a:xfrm>
            </p:grpSpPr>
            <p:sp>
              <p:nvSpPr>
                <p:cNvPr id="15" name="Elipse 14">
                  <a:extLst>
                    <a:ext uri="{FF2B5EF4-FFF2-40B4-BE49-F238E27FC236}">
                      <a16:creationId xmlns:a16="http://schemas.microsoft.com/office/drawing/2014/main" id="{4C5876A7-1E1A-47B8-BAEC-654736BB83A6}"/>
                    </a:ext>
                  </a:extLst>
                </p:cNvPr>
                <p:cNvSpPr/>
                <p:nvPr/>
              </p:nvSpPr>
              <p:spPr>
                <a:xfrm>
                  <a:off x="1266397" y="5079753"/>
                  <a:ext cx="462650" cy="463716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sz="2000"/>
                </a:p>
              </p:txBody>
            </p:sp>
            <p:pic>
              <p:nvPicPr>
                <p:cNvPr id="16" name="Imagen 15">
                  <a:extLst>
                    <a:ext uri="{FF2B5EF4-FFF2-40B4-BE49-F238E27FC236}">
                      <a16:creationId xmlns:a16="http://schemas.microsoft.com/office/drawing/2014/main" id="{9C284640-09A4-4A01-B3D2-A7D0137731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11199" y="6084846"/>
                  <a:ext cx="779085" cy="714161"/>
                </a:xfrm>
                <a:prstGeom prst="rect">
                  <a:avLst/>
                </a:prstGeom>
              </p:spPr>
            </p:pic>
            <p:cxnSp>
              <p:nvCxnSpPr>
                <p:cNvPr id="21" name="Conector recto de flecha 20">
                  <a:extLst>
                    <a:ext uri="{FF2B5EF4-FFF2-40B4-BE49-F238E27FC236}">
                      <a16:creationId xmlns:a16="http://schemas.microsoft.com/office/drawing/2014/main" id="{A7AF1928-FD8A-4125-96D5-4C53FD8FA1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89506" y="5619131"/>
                  <a:ext cx="0" cy="531147"/>
                </a:xfrm>
                <a:prstGeom prst="straightConnector1">
                  <a:avLst/>
                </a:prstGeom>
                <a:ln w="19050">
                  <a:solidFill>
                    <a:schemeClr val="accent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F21C5D42-1D3F-4D9C-9561-6D549256E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64672" y="2098368"/>
              <a:ext cx="3194698" cy="165067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8D8FB183-3D16-4547-8194-FF8F3AB230FB}"/>
                    </a:ext>
                  </a:extLst>
                </p:cNvPr>
                <p:cNvSpPr txBox="1"/>
                <p:nvPr/>
              </p:nvSpPr>
              <p:spPr>
                <a:xfrm>
                  <a:off x="8193293" y="2778197"/>
                  <a:ext cx="176824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∃!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MX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MX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𝑠𝑚𝑖𝑙𝑖𝑛𝑔</m:t>
                        </m:r>
                        <m:r>
                          <a:rPr lang="es-MX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O" sz="2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8D8FB183-3D16-4547-8194-FF8F3AB23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3293" y="2778197"/>
                  <a:ext cx="1768241" cy="307777"/>
                </a:xfrm>
                <a:prstGeom prst="rect">
                  <a:avLst/>
                </a:prstGeom>
                <a:blipFill>
                  <a:blip r:embed="rId8"/>
                  <a:stretch>
                    <a:fillRect l="-2414" t="-4000" r="-4828" b="-36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44186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959" y="96038"/>
            <a:ext cx="10858391" cy="949500"/>
          </a:xfrm>
        </p:spPr>
        <p:txBody>
          <a:bodyPr/>
          <a:lstStyle/>
          <a:p>
            <a:r>
              <a:rPr lang="es-CO" b="0" dirty="0">
                <a:solidFill>
                  <a:schemeClr val="tx1"/>
                </a:solidFill>
                <a:latin typeface="+mj-lt"/>
              </a:rPr>
              <a:t>Propiedades de los cuantificadores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310;p34">
                <a:extLst>
                  <a:ext uri="{FF2B5EF4-FFF2-40B4-BE49-F238E27FC236}">
                    <a16:creationId xmlns:a16="http://schemas.microsoft.com/office/drawing/2014/main" id="{78146662-92BC-4B5F-A914-12A2527342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58" y="1045538"/>
                <a:ext cx="11323320" cy="78326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El valor de verdad de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∃</m:t>
                    </m:r>
                    <m:r>
                      <a:rPr lang="es-MX" sz="22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2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2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depende tanto de la función proposicional </a:t>
                </a:r>
                <a14:m>
                  <m:oMath xmlns:m="http://schemas.openxmlformats.org/officeDocument/2006/math">
                    <m:r>
                      <a:rPr lang="es-MX" sz="22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como del dominio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𝑈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Google Shape;310;p34">
                <a:extLst>
                  <a:ext uri="{FF2B5EF4-FFF2-40B4-BE49-F238E27FC236}">
                    <a16:creationId xmlns:a16="http://schemas.microsoft.com/office/drawing/2014/main" id="{78146662-92BC-4B5F-A914-12A252734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58" y="1045538"/>
                <a:ext cx="11323320" cy="783261"/>
              </a:xfrm>
              <a:prstGeom prst="rect">
                <a:avLst/>
              </a:prstGeom>
              <a:blipFill>
                <a:blip r:embed="rId3"/>
                <a:stretch>
                  <a:fillRect b="-210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Google Shape;310;p34">
                <a:extLst>
                  <a:ext uri="{FF2B5EF4-FFF2-40B4-BE49-F238E27FC236}">
                    <a16:creationId xmlns:a16="http://schemas.microsoft.com/office/drawing/2014/main" id="{161E3AAA-C6D6-4605-85BC-7C126A306B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58" y="1888356"/>
                <a:ext cx="11470242" cy="43448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Ejemplos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</a:t>
                </a:r>
              </a:p>
              <a:p>
                <a:pPr marL="584200" indent="-457200">
                  <a:buFont typeface="+mj-lt"/>
                  <a:buAutoNum type="arabicPeriod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𝑈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corresponde a los enteros positivos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es el enunciado </a:t>
                </a:r>
                <a14:m>
                  <m:oMath xmlns:m="http://schemas.openxmlformats.org/officeDocument/2006/math">
                    <m: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&lt;2"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entonces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∃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es </a:t>
                </a:r>
                <a:r>
                  <a:rPr lang="es-MX" sz="2000" b="1" dirty="0">
                    <a:solidFill>
                      <a:srgbClr val="00B050"/>
                    </a:solidFill>
                    <a:latin typeface="+mn-lt"/>
                    <a:ea typeface="Roboto" panose="02000000000000000000" pitchFamily="2" charset="0"/>
                  </a:rPr>
                  <a:t>verdadero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pero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es </a:t>
                </a:r>
                <a:r>
                  <a:rPr lang="es-MX" sz="2000" b="1" dirty="0">
                    <a:solidFill>
                      <a:srgbClr val="FF0000"/>
                    </a:solidFill>
                    <a:latin typeface="+mn-lt"/>
                    <a:ea typeface="Roboto" panose="02000000000000000000" pitchFamily="2" charset="0"/>
                  </a:rPr>
                  <a:t>falso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</a:t>
                </a:r>
              </a:p>
              <a:p>
                <a:pPr marL="584200" indent="-457200">
                  <a:buFont typeface="+mj-lt"/>
                  <a:buAutoNum type="arabicPeriod"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584200" indent="-457200">
                  <a:buFont typeface="+mj-lt"/>
                  <a:buAutoNum type="arabicPeriod"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584200" indent="-457200">
                  <a:buFont typeface="+mj-lt"/>
                  <a:buAutoNum type="arabicPeriod"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584200" indent="-457200">
                  <a:buFont typeface="+mj-lt"/>
                  <a:buAutoNum type="arabicPeriod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𝑈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corresponde a los enteros negativos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P(x) es el enunciado </a:t>
                </a:r>
                <a14:m>
                  <m:oMath xmlns:m="http://schemas.openxmlformats.org/officeDocument/2006/math">
                    <m:r>
                      <a:rPr lang="es-MX" sz="200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&lt;2"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entonces tanto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∃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como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son </a:t>
                </a:r>
                <a:r>
                  <a:rPr lang="es-MX" sz="2000" b="1" dirty="0">
                    <a:solidFill>
                      <a:srgbClr val="00B050"/>
                    </a:solidFill>
                    <a:latin typeface="+mn-lt"/>
                    <a:ea typeface="Roboto" panose="02000000000000000000" pitchFamily="2" charset="0"/>
                  </a:rPr>
                  <a:t>verdaderos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</a:t>
                </a:r>
              </a:p>
              <a:p>
                <a:pPr marL="584200" indent="-457200">
                  <a:buFont typeface="+mj-lt"/>
                  <a:buAutoNum type="arabicPeriod"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584200" indent="-457200">
                  <a:buFont typeface="+mj-lt"/>
                  <a:buAutoNum type="arabicPeriod"/>
                </a:pPr>
                <a:endParaRPr lang="es-MX" sz="18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20" name="Google Shape;310;p34">
                <a:extLst>
                  <a:ext uri="{FF2B5EF4-FFF2-40B4-BE49-F238E27FC236}">
                    <a16:creationId xmlns:a16="http://schemas.microsoft.com/office/drawing/2014/main" id="{161E3AAA-C6D6-4605-85BC-7C126A306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58" y="1888356"/>
                <a:ext cx="11470242" cy="43448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4221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959" y="96038"/>
            <a:ext cx="10858391" cy="949500"/>
          </a:xfrm>
        </p:spPr>
        <p:txBody>
          <a:bodyPr/>
          <a:lstStyle/>
          <a:p>
            <a:r>
              <a:rPr lang="es-CO" b="0" dirty="0">
                <a:solidFill>
                  <a:schemeClr val="tx1"/>
                </a:solidFill>
                <a:latin typeface="+mj-lt"/>
              </a:rPr>
              <a:t>Propiedades de los cuantificadores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310;p34">
                <a:extLst>
                  <a:ext uri="{FF2B5EF4-FFF2-40B4-BE49-F238E27FC236}">
                    <a16:creationId xmlns:a16="http://schemas.microsoft.com/office/drawing/2014/main" id="{78146662-92BC-4B5F-A914-12A2527342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58" y="1045538"/>
                <a:ext cx="11323320" cy="78326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El valor de verdad de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∃</m:t>
                    </m:r>
                    <m:r>
                      <a:rPr lang="es-MX" sz="22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2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2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depende tanto de la función proposicional </a:t>
                </a:r>
                <a14:m>
                  <m:oMath xmlns:m="http://schemas.openxmlformats.org/officeDocument/2006/math">
                    <m:r>
                      <a:rPr lang="es-MX" sz="22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como del dominio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𝑈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Google Shape;310;p34">
                <a:extLst>
                  <a:ext uri="{FF2B5EF4-FFF2-40B4-BE49-F238E27FC236}">
                    <a16:creationId xmlns:a16="http://schemas.microsoft.com/office/drawing/2014/main" id="{78146662-92BC-4B5F-A914-12A252734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58" y="1045538"/>
                <a:ext cx="11323320" cy="783261"/>
              </a:xfrm>
              <a:prstGeom prst="rect">
                <a:avLst/>
              </a:prstGeom>
              <a:blipFill>
                <a:blip r:embed="rId3"/>
                <a:stretch>
                  <a:fillRect b="-210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Google Shape;310;p34">
                <a:extLst>
                  <a:ext uri="{FF2B5EF4-FFF2-40B4-BE49-F238E27FC236}">
                    <a16:creationId xmlns:a16="http://schemas.microsoft.com/office/drawing/2014/main" id="{161E3AAA-C6D6-4605-85BC-7C126A306B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58" y="1888356"/>
                <a:ext cx="11515962" cy="43448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Ejemplos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</a:t>
                </a:r>
              </a:p>
              <a:p>
                <a:pPr marL="584200" indent="-457200">
                  <a:buFont typeface="+mj-lt"/>
                  <a:buAutoNum type="arabicPeriod" startAt="3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𝑈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consta de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3, 4 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y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5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y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es el enunciado </a:t>
                </a:r>
                <a14:m>
                  <m:oMath xmlns:m="http://schemas.openxmlformats.org/officeDocument/2006/math">
                    <m:r>
                      <a:rPr lang="es-MX" sz="200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&gt;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2"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entonces tanto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∃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como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son </a:t>
                </a:r>
                <a:r>
                  <a:rPr lang="es-MX" sz="2000" b="1" dirty="0">
                    <a:solidFill>
                      <a:srgbClr val="00B050"/>
                    </a:solidFill>
                    <a:latin typeface="+mn-lt"/>
                    <a:ea typeface="Roboto" panose="02000000000000000000" pitchFamily="2" charset="0"/>
                  </a:rPr>
                  <a:t>verdaderos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 Pero si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es el enunciado </a:t>
                </a:r>
                <a14:m>
                  <m:oMath xmlns:m="http://schemas.openxmlformats.org/officeDocument/2006/math">
                    <m:r>
                      <a:rPr lang="es-MX" sz="200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&lt;2"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entonces tanto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∃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como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son </a:t>
                </a:r>
                <a:r>
                  <a:rPr lang="es-MX" sz="2000" b="1" dirty="0">
                    <a:solidFill>
                      <a:srgbClr val="FF0000"/>
                    </a:solidFill>
                    <a:latin typeface="+mn-lt"/>
                    <a:ea typeface="Roboto" panose="02000000000000000000" pitchFamily="2" charset="0"/>
                  </a:rPr>
                  <a:t>falsos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0" name="Google Shape;310;p34">
                <a:extLst>
                  <a:ext uri="{FF2B5EF4-FFF2-40B4-BE49-F238E27FC236}">
                    <a16:creationId xmlns:a16="http://schemas.microsoft.com/office/drawing/2014/main" id="{161E3AAA-C6D6-4605-85BC-7C126A306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58" y="1888356"/>
                <a:ext cx="11515962" cy="43448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1507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098" y="96038"/>
            <a:ext cx="11667804" cy="949500"/>
          </a:xfrm>
        </p:spPr>
        <p:txBody>
          <a:bodyPr/>
          <a:lstStyle/>
          <a:p>
            <a:r>
              <a:rPr lang="es-CO" b="0" dirty="0">
                <a:solidFill>
                  <a:schemeClr val="tx1"/>
                </a:solidFill>
                <a:latin typeface="+mj-lt"/>
              </a:rPr>
              <a:t>Precedencia de cuantificadores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310;p34">
                <a:extLst>
                  <a:ext uri="{FF2B5EF4-FFF2-40B4-BE49-F238E27FC236}">
                    <a16:creationId xmlns:a16="http://schemas.microsoft.com/office/drawing/2014/main" id="{78146662-92BC-4B5F-A914-12A2527342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2098" y="862150"/>
                <a:ext cx="11731782" cy="41518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Es el orden en que se interpretan los cuantificadores (como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∃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) cuando aparecen anidados o en combinaciones. </a:t>
                </a: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Aunque los cuantificadores no tienen una "precedencia rígida" como los operadores aritméticos, su 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orden importa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muchísimo porque cambia completamente el significado de una expresión.</a:t>
                </a: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Los cuantificadores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∃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tienen mayor precedencia que todos los operadores lógicos.</a:t>
                </a:r>
              </a:p>
              <a:p>
                <a:pPr lvl="1"/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Ejemplo 1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𝑥𝑃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es la disyunción de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𝑥𝑃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𝑄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en otras palabra esta expresión es equivalente 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∀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𝑥𝑃</m:t>
                        </m:r>
                        <m:d>
                          <m:dPr>
                            <m:ctrlP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no a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𝑃</m:t>
                        </m:r>
                        <m:d>
                          <m:dPr>
                            <m:ctrlP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𝑥</m:t>
                            </m:r>
                          </m:e>
                        </m:d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 </a:t>
                </a:r>
              </a:p>
              <a:p>
                <a:pPr lvl="1"/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Ejemplo 2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Aunque las expresiones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∃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𝑦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(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𝑦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)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∃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𝑦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(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𝑦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)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tienen los mismos símbolos, no significan lo mismo.</a:t>
                </a:r>
              </a:p>
            </p:txBody>
          </p:sp>
        </mc:Choice>
        <mc:Fallback xmlns="">
          <p:sp>
            <p:nvSpPr>
              <p:cNvPr id="11" name="Google Shape;310;p34">
                <a:extLst>
                  <a:ext uri="{FF2B5EF4-FFF2-40B4-BE49-F238E27FC236}">
                    <a16:creationId xmlns:a16="http://schemas.microsoft.com/office/drawing/2014/main" id="{78146662-92BC-4B5F-A914-12A252734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98" y="862150"/>
                <a:ext cx="11731782" cy="4151810"/>
              </a:xfrm>
              <a:prstGeom prst="rect">
                <a:avLst/>
              </a:prstGeom>
              <a:blipFill>
                <a:blip r:embed="rId3"/>
                <a:stretch>
                  <a:fillRect b="-16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904E8660-1387-425C-B042-3AC2B57570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3736939"/>
                  </p:ext>
                </p:extLst>
              </p:nvPr>
            </p:nvGraphicFramePr>
            <p:xfrm>
              <a:off x="1586230" y="5231432"/>
              <a:ext cx="9232900" cy="109728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918712">
                      <a:extLst>
                        <a:ext uri="{9D8B030D-6E8A-4147-A177-3AD203B41FA5}">
                          <a16:colId xmlns:a16="http://schemas.microsoft.com/office/drawing/2014/main" val="2103425881"/>
                        </a:ext>
                      </a:extLst>
                    </a:gridCol>
                    <a:gridCol w="7314188">
                      <a:extLst>
                        <a:ext uri="{9D8B030D-6E8A-4147-A177-3AD203B41FA5}">
                          <a16:colId xmlns:a16="http://schemas.microsoft.com/office/drawing/2014/main" val="22346506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Expresión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Significado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9954996"/>
                      </a:ext>
                    </a:extLst>
                  </a:tr>
                  <a:tr h="246549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∀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∃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𝑦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 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𝑃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(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,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𝑦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 </a:t>
                          </a:r>
                          <a:endParaRPr lang="es-CO" sz="18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Para </a:t>
                          </a:r>
                          <a:r>
                            <a:rPr lang="es-MX" sz="1800" b="1" dirty="0">
                              <a:latin typeface="+mn-lt"/>
                              <a:ea typeface="Roboto" panose="02000000000000000000" pitchFamily="2" charset="0"/>
                            </a:rPr>
                            <a:t>cada </a:t>
                          </a:r>
                          <a14:m>
                            <m:oMath xmlns:m="http://schemas.openxmlformats.org/officeDocument/2006/math">
                              <m:r>
                                <a:rPr lang="es-MX" sz="1800" b="1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, existe </a:t>
                          </a:r>
                          <a:r>
                            <a:rPr lang="es-MX" sz="1800" b="1" dirty="0">
                              <a:latin typeface="+mn-lt"/>
                              <a:ea typeface="Roboto" panose="02000000000000000000" pitchFamily="2" charset="0"/>
                            </a:rPr>
                            <a:t>un </a:t>
                          </a:r>
                          <a14:m>
                            <m:oMath xmlns:m="http://schemas.openxmlformats.org/officeDocument/2006/math">
                              <m:r>
                                <a:rPr lang="es-MX" sz="1800" b="1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𝒚</m:t>
                              </m:r>
                            </m:oMath>
                          </a14:m>
                          <a:r>
                            <a:rPr lang="es-MX" sz="1800" b="1" dirty="0">
                              <a:latin typeface="+mn-lt"/>
                              <a:ea typeface="Roboto" panose="02000000000000000000" pitchFamily="2" charset="0"/>
                            </a:rPr>
                            <a:t> distinto</a:t>
                          </a:r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 (posiblemente) que cumple con </a:t>
                          </a:r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18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𝑥</m:t>
                                  </m:r>
                                  <m:r>
                                    <a:rPr lang="es-MX" sz="18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,</m:t>
                                  </m:r>
                                  <m:r>
                                    <a:rPr lang="es-MX" sz="18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𝑦</m:t>
                                  </m:r>
                                </m:e>
                              </m:d>
                            </m:oMath>
                          </a14:m>
                          <a:endParaRPr lang="es-CO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6055354"/>
                      </a:ext>
                    </a:extLst>
                  </a:tr>
                  <a:tr h="246549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MX" sz="180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∃</m:t>
                              </m:r>
                              <m:r>
                                <a:rPr lang="es-MX" sz="180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𝑦</m:t>
                              </m:r>
                              <m:r>
                                <a:rPr lang="es-MX" sz="180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∀</m:t>
                              </m:r>
                              <m:r>
                                <a:rPr lang="es-MX" sz="180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  <m:r>
                                <a:rPr lang="es-MX" sz="180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 </m:t>
                              </m:r>
                              <m:r>
                                <a:rPr lang="es-MX" sz="180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𝑃</m:t>
                              </m:r>
                              <m:r>
                                <a:rPr lang="es-MX" sz="180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(</m:t>
                              </m:r>
                              <m:r>
                                <a:rPr lang="es-MX" sz="180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  <m:r>
                                <a:rPr lang="es-MX" sz="180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,</m:t>
                              </m:r>
                              <m:r>
                                <a:rPr lang="es-MX" sz="180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𝑦</m:t>
                              </m:r>
                              <m:r>
                                <a:rPr lang="es-MX" sz="180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 </a:t>
                          </a:r>
                          <a:endParaRPr lang="es-CO" sz="18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Hay </a:t>
                          </a:r>
                          <a:r>
                            <a:rPr lang="es-MX" sz="1800" b="1" dirty="0">
                              <a:latin typeface="+mn-lt"/>
                              <a:ea typeface="Roboto" panose="02000000000000000000" pitchFamily="2" charset="0"/>
                            </a:rPr>
                            <a:t>un único </a:t>
                          </a:r>
                          <a14:m>
                            <m:oMath xmlns:m="http://schemas.openxmlformats.org/officeDocument/2006/math">
                              <m:r>
                                <a:rPr lang="es-MX" sz="1800" b="1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𝒚</m:t>
                              </m:r>
                            </m:oMath>
                          </a14:m>
                          <a:r>
                            <a:rPr lang="es-MX" sz="1800" dirty="0">
                              <a:latin typeface="+mn-lt"/>
                              <a:ea typeface="Roboto" panose="02000000000000000000" pitchFamily="2" charset="0"/>
                            </a:rPr>
                            <a:t> que sirve para </a:t>
                          </a:r>
                          <a:r>
                            <a:rPr lang="es-MX" sz="1800" b="1" dirty="0">
                              <a:latin typeface="+mn-lt"/>
                              <a:ea typeface="Roboto" panose="02000000000000000000" pitchFamily="2" charset="0"/>
                            </a:rPr>
                            <a:t>todos los </a:t>
                          </a:r>
                          <a14:m>
                            <m:oMath xmlns:m="http://schemas.openxmlformats.org/officeDocument/2006/math">
                              <m:r>
                                <a:rPr lang="es-MX" sz="1800" b="1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𝒙</m:t>
                              </m:r>
                            </m:oMath>
                          </a14:m>
                          <a:endParaRPr lang="es-CO" sz="1800" b="1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68568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904E8660-1387-425C-B042-3AC2B57570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3736939"/>
                  </p:ext>
                </p:extLst>
              </p:nvPr>
            </p:nvGraphicFramePr>
            <p:xfrm>
              <a:off x="1586230" y="5231432"/>
              <a:ext cx="9232900" cy="109728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918712">
                      <a:extLst>
                        <a:ext uri="{9D8B030D-6E8A-4147-A177-3AD203B41FA5}">
                          <a16:colId xmlns:a16="http://schemas.microsoft.com/office/drawing/2014/main" val="2103425881"/>
                        </a:ext>
                      </a:extLst>
                    </a:gridCol>
                    <a:gridCol w="7314188">
                      <a:extLst>
                        <a:ext uri="{9D8B030D-6E8A-4147-A177-3AD203B41FA5}">
                          <a16:colId xmlns:a16="http://schemas.microsoft.com/office/drawing/2014/main" val="22346506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Expresión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Significado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995499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17" t="-106557" r="-38158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6333" t="-106557" r="-167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605535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17" t="-210000" r="-381587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6333" t="-210000" r="-167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68568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29183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96038"/>
            <a:ext cx="10940070" cy="949500"/>
          </a:xfrm>
        </p:spPr>
        <p:txBody>
          <a:bodyPr/>
          <a:lstStyle/>
          <a:p>
            <a:r>
              <a:rPr lang="es-CO" b="0" dirty="0">
                <a:solidFill>
                  <a:schemeClr val="tx1"/>
                </a:solidFill>
                <a:latin typeface="+mn-lt"/>
              </a:rPr>
              <a:t>Cuantificadores como funciones y disyunciones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310;p34">
                <a:extLst>
                  <a:ext uri="{FF2B5EF4-FFF2-40B4-BE49-F238E27FC236}">
                    <a16:creationId xmlns:a16="http://schemas.microsoft.com/office/drawing/2014/main" id="{78146662-92BC-4B5F-A914-12A2527342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5280" y="895519"/>
                <a:ext cx="11521440" cy="5688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En lógica de primer orden (cuantificacional), los cuantificadores tienen una relación estrecha con las conjunciones (</a:t>
                </a: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) y disyunciones (</a:t>
                </a: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) cuando los interpretamos en 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dominios finitos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 </a:t>
                </a: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Estas relaciones son las siguientes:</a:t>
                </a:r>
              </a:p>
              <a:p>
                <a:pPr marL="1041400" lvl="1" indent="-457200">
                  <a:buFont typeface="+mj-lt"/>
                  <a:buAutoNum type="arabicPeriod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Una proposición cuantificada universalmente (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) es equivalente a una conjunción de proposiciones sin cuantificadores.</a:t>
                </a:r>
              </a:p>
              <a:p>
                <a:pPr marL="1041400" lvl="1" indent="-457200">
                  <a:buFont typeface="+mj-lt"/>
                  <a:buAutoNum type="arabicPeriod"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041400" lvl="1" indent="-457200">
                  <a:buFont typeface="+mj-lt"/>
                  <a:buAutoNum type="arabicPeriod"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041400" lvl="1" indent="-457200">
                  <a:buFont typeface="+mj-lt"/>
                  <a:buAutoNum type="arabicPeriod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Una proposición cuantificada existencialmente (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) es equivalente a una disyunción de proposiciones sin cuantificadores.</a:t>
                </a:r>
              </a:p>
              <a:p>
                <a:pPr marL="1041400" lvl="1" indent="-457200">
                  <a:buFont typeface="+mj-lt"/>
                  <a:buAutoNum type="arabicPeriod"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Esta relación no se puede aplicar en dominios infinitos.</a:t>
                </a: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1" name="Google Shape;310;p34">
                <a:extLst>
                  <a:ext uri="{FF2B5EF4-FFF2-40B4-BE49-F238E27FC236}">
                    <a16:creationId xmlns:a16="http://schemas.microsoft.com/office/drawing/2014/main" id="{78146662-92BC-4B5F-A914-12A252734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" y="895519"/>
                <a:ext cx="11521440" cy="5688161"/>
              </a:xfrm>
              <a:prstGeom prst="rect">
                <a:avLst/>
              </a:prstGeom>
              <a:blipFill>
                <a:blip r:embed="rId3"/>
                <a:stretch>
                  <a:fillRect r="-3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4257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ítulo 2">
                <a:extLst>
                  <a:ext uri="{FF2B5EF4-FFF2-40B4-BE49-F238E27FC236}">
                    <a16:creationId xmlns:a16="http://schemas.microsoft.com/office/drawing/2014/main" id="{C98C59EC-F126-45E7-B7C1-9AB9A32ED14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73208" y="145372"/>
                <a:ext cx="10802142" cy="1244470"/>
              </a:xfrm>
            </p:spPr>
            <p:txBody>
              <a:bodyPr/>
              <a:lstStyle/>
              <a:p>
                <a:r>
                  <a:rPr lang="es-MX" dirty="0">
                    <a:solidFill>
                      <a:schemeClr val="tx1"/>
                    </a:solidFill>
                    <a:latin typeface="+mj-lt"/>
                  </a:rPr>
                  <a:t>Cuantificador universal (</a:t>
                </a:r>
                <a14:m>
                  <m:oMath xmlns:m="http://schemas.openxmlformats.org/officeDocument/2006/math">
                    <m:r>
                      <a:rPr lang="es-MX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s-MX" dirty="0">
                    <a:solidFill>
                      <a:schemeClr val="tx1"/>
                    </a:solidFill>
                    <a:latin typeface="+mj-lt"/>
                  </a:rPr>
                  <a:t>) </a:t>
                </a:r>
                <a14:m>
                  <m:oMath xmlns:m="http://schemas.openxmlformats.org/officeDocument/2006/math">
                    <m:r>
                      <a:rPr lang="es-MX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s-MX" dirty="0">
                    <a:solidFill>
                      <a:schemeClr val="tx1"/>
                    </a:solidFill>
                    <a:latin typeface="+mj-lt"/>
                  </a:rPr>
                  <a:t> Conjunción (</a:t>
                </a:r>
                <a14:m>
                  <m:oMath xmlns:m="http://schemas.openxmlformats.org/officeDocument/2006/math">
                    <m:r>
                      <a:rPr lang="es-MX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s-MX" dirty="0">
                    <a:solidFill>
                      <a:schemeClr val="tx1"/>
                    </a:solidFill>
                    <a:latin typeface="+mj-lt"/>
                  </a:rPr>
                  <a:t>)</a:t>
                </a:r>
                <a:endParaRPr lang="es-CO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" name="Título 2">
                <a:extLst>
                  <a:ext uri="{FF2B5EF4-FFF2-40B4-BE49-F238E27FC236}">
                    <a16:creationId xmlns:a16="http://schemas.microsoft.com/office/drawing/2014/main" id="{C98C59EC-F126-45E7-B7C1-9AB9A32ED1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73208" y="145372"/>
                <a:ext cx="10802142" cy="1244470"/>
              </a:xfrm>
              <a:blipFill>
                <a:blip r:embed="rId3"/>
                <a:stretch>
                  <a:fillRect l="-2314" b="-147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310;p34">
                <a:extLst>
                  <a:ext uri="{FF2B5EF4-FFF2-40B4-BE49-F238E27FC236}">
                    <a16:creationId xmlns:a16="http://schemas.microsoft.com/office/drawing/2014/main" id="{78146662-92BC-4B5F-A914-12A2527342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7530" y="1184904"/>
                <a:ext cx="11519190" cy="22554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El cuantificador universal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afirma que </a:t>
                </a:r>
                <a14:m>
                  <m:oMath xmlns:m="http://schemas.openxmlformats.org/officeDocument/2006/math">
                    <m:r>
                      <a:rPr lang="es-MX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s-MX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MX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es verdadero para 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todos los elementos del dominio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lo cual hace que este pueda ser representado como una conjunción entre sus elementos.</a:t>
                </a: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En un dominio finito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𝑈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1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 </m:t>
                        </m:r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la equivalencia es:</a:t>
                </a: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𝑃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𝑃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𝑃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(</m:t>
                      </m:r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𝑛</m:t>
                          </m:r>
                        </m:sub>
                      </m:sSub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)</m:t>
                      </m:r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1" name="Google Shape;310;p34">
                <a:extLst>
                  <a:ext uri="{FF2B5EF4-FFF2-40B4-BE49-F238E27FC236}">
                    <a16:creationId xmlns:a16="http://schemas.microsoft.com/office/drawing/2014/main" id="{78146662-92BC-4B5F-A914-12A252734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30" y="1184904"/>
                <a:ext cx="11519190" cy="22554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4EEDCA82-C99A-4FD7-BE24-6CA6AFA2C7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3208" y="3236487"/>
                <a:ext cx="10825742" cy="33010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Ejemplo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Según lo anterior, si se tiene:</a:t>
                </a: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Enunciado: “Todos los estudiantes aprobaron”</a:t>
                </a: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Dominio: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𝑈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𝑀𝑎𝑟𝑡𝑖𝑛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 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𝑁𝑒𝑙𝑠𝑜𝑛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 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𝐵𝑎𝑟𝑡</m:t>
                        </m:r>
                      </m:e>
                    </m:d>
                  </m:oMath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Predicado: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𝑎𝑝𝑟𝑜𝑏𝑜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: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aprobo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“</m:t>
                    </m:r>
                  </m:oMath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La expresión lógica asociada al problema queda:</a:t>
                </a:r>
              </a:p>
              <a:p>
                <a:pPr marL="127000" indent="0">
                  <a:buNone/>
                </a:pPr>
                <a:endParaRPr lang="es-MX" sz="2000" b="0" i="1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∀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𝑎𝑝𝑟𝑜𝑏𝑜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</m:t>
                          </m:r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r>
                        <a:rPr lang="es-MX" sz="200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𝑎𝑝𝑟𝑜𝑏𝑜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𝑀𝑎𝑟𝑡𝑖𝑛</m:t>
                          </m:r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𝑎𝑝𝑟𝑜𝑏𝑜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𝑁𝑒𝑙𝑠𝑜𝑛</m:t>
                          </m:r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𝑎𝑝𝑟𝑜𝑏𝑜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𝐵𝑎𝑟𝑡</m:t>
                          </m:r>
                        </m:e>
                      </m:d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4EEDCA82-C99A-4FD7-BE24-6CA6AFA2C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208" y="3236487"/>
                <a:ext cx="10825742" cy="33010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o 3">
            <a:extLst>
              <a:ext uri="{FF2B5EF4-FFF2-40B4-BE49-F238E27FC236}">
                <a16:creationId xmlns:a16="http://schemas.microsoft.com/office/drawing/2014/main" id="{E54B02EC-CD3D-41D4-B1C5-01391657D4CD}"/>
              </a:ext>
            </a:extLst>
          </p:cNvPr>
          <p:cNvGrpSpPr/>
          <p:nvPr/>
        </p:nvGrpSpPr>
        <p:grpSpPr>
          <a:xfrm>
            <a:off x="7162802" y="3236487"/>
            <a:ext cx="3545198" cy="1828800"/>
            <a:chOff x="7741922" y="3921621"/>
            <a:chExt cx="3545198" cy="1828800"/>
          </a:xfrm>
        </p:grpSpPr>
        <p:pic>
          <p:nvPicPr>
            <p:cNvPr id="7" name="Picture 3" descr="Martin Prince - Wikisimpsons, the Simpsons Wiki">
              <a:extLst>
                <a:ext uri="{FF2B5EF4-FFF2-40B4-BE49-F238E27FC236}">
                  <a16:creationId xmlns:a16="http://schemas.microsoft.com/office/drawing/2014/main" id="{EDF7115A-F8F4-47FA-AF63-278EEB6D94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1922" y="4102924"/>
              <a:ext cx="788155" cy="1647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5" descr="Nelson Muntz | Simpson Wiki en Español | Fandom">
              <a:extLst>
                <a:ext uri="{FF2B5EF4-FFF2-40B4-BE49-F238E27FC236}">
                  <a16:creationId xmlns:a16="http://schemas.microsoft.com/office/drawing/2014/main" id="{CDBC2023-5EED-4C29-8156-C5EC11AD9E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33553" y="3921621"/>
              <a:ext cx="1105189" cy="18125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" descr="Bart Simpson | Simpson Wiki en Español | Fandom">
              <a:extLst>
                <a:ext uri="{FF2B5EF4-FFF2-40B4-BE49-F238E27FC236}">
                  <a16:creationId xmlns:a16="http://schemas.microsoft.com/office/drawing/2014/main" id="{C551B4C3-7476-4023-82FD-189035AD4C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02478" y="4102925"/>
              <a:ext cx="1184642" cy="16312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056966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ítulo 2">
                <a:extLst>
                  <a:ext uri="{FF2B5EF4-FFF2-40B4-BE49-F238E27FC236}">
                    <a16:creationId xmlns:a16="http://schemas.microsoft.com/office/drawing/2014/main" id="{C98C59EC-F126-45E7-B7C1-9AB9A32ED14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61443" y="283779"/>
                <a:ext cx="11469114" cy="1007980"/>
              </a:xfrm>
            </p:spPr>
            <p:txBody>
              <a:bodyPr/>
              <a:lstStyle/>
              <a:p>
                <a:r>
                  <a:rPr lang="es-MX" b="0" dirty="0">
                    <a:solidFill>
                      <a:schemeClr val="tx1"/>
                    </a:solidFill>
                    <a:latin typeface="+mj-lt"/>
                  </a:rPr>
                  <a:t>Cuantificador Existencial (</a:t>
                </a:r>
                <a14:m>
                  <m:oMath xmlns:m="http://schemas.openxmlformats.org/officeDocument/2006/math">
                    <m:r>
                      <a:rPr lang="es-MX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s-MX" b="0" dirty="0">
                    <a:solidFill>
                      <a:schemeClr val="tx1"/>
                    </a:solidFill>
                    <a:latin typeface="+mj-lt"/>
                  </a:rPr>
                  <a:t>) </a:t>
                </a:r>
                <a14:m>
                  <m:oMath xmlns:m="http://schemas.openxmlformats.org/officeDocument/2006/math">
                    <m:r>
                      <a:rPr lang="es-MX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s-MX" b="0" dirty="0">
                    <a:solidFill>
                      <a:schemeClr val="tx1"/>
                    </a:solidFill>
                    <a:latin typeface="+mj-lt"/>
                  </a:rPr>
                  <a:t> Disyunción (</a:t>
                </a:r>
                <a14:m>
                  <m:oMath xmlns:m="http://schemas.openxmlformats.org/officeDocument/2006/math">
                    <m:r>
                      <a:rPr lang="es-MX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s-MX" b="0" dirty="0">
                    <a:solidFill>
                      <a:schemeClr val="tx1"/>
                    </a:solidFill>
                    <a:latin typeface="+mj-lt"/>
                  </a:rPr>
                  <a:t>)</a:t>
                </a:r>
                <a:endParaRPr lang="es-CO" b="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" name="Título 2">
                <a:extLst>
                  <a:ext uri="{FF2B5EF4-FFF2-40B4-BE49-F238E27FC236}">
                    <a16:creationId xmlns:a16="http://schemas.microsoft.com/office/drawing/2014/main" id="{C98C59EC-F126-45E7-B7C1-9AB9A32ED1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61443" y="283779"/>
                <a:ext cx="11469114" cy="1007980"/>
              </a:xfrm>
              <a:blipFill>
                <a:blip r:embed="rId3"/>
                <a:stretch>
                  <a:fillRect l="-2125" t="-3636" b="-1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310;p34">
                <a:extLst>
                  <a:ext uri="{FF2B5EF4-FFF2-40B4-BE49-F238E27FC236}">
                    <a16:creationId xmlns:a16="http://schemas.microsoft.com/office/drawing/2014/main" id="{78146662-92BC-4B5F-A914-12A2527342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610" y="1246358"/>
                <a:ext cx="10802142" cy="1955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El cuantificador existencial </a:t>
                </a: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afirma que 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existe al menos un </a:t>
                </a:r>
                <a14:m>
                  <m:oMath xmlns:m="http://schemas.openxmlformats.org/officeDocument/2006/math">
                    <m:r>
                      <a:rPr lang="es-MX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para el 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es verdadero. </a:t>
                </a: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En un dominio finito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𝑈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1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 </m:t>
                        </m:r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la equivalencia es:</a:t>
                </a: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𝑃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𝑃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𝑃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(</m:t>
                      </m:r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𝑛</m:t>
                          </m:r>
                        </m:sub>
                      </m:sSub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)</m:t>
                      </m:r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1" name="Google Shape;310;p34">
                <a:extLst>
                  <a:ext uri="{FF2B5EF4-FFF2-40B4-BE49-F238E27FC236}">
                    <a16:creationId xmlns:a16="http://schemas.microsoft.com/office/drawing/2014/main" id="{78146662-92BC-4B5F-A914-12A252734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10" y="1246358"/>
                <a:ext cx="10802142" cy="19559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3313D6C1-6B2E-4782-8942-5CF9718833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1443" y="3202296"/>
                <a:ext cx="10802142" cy="33010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Ejemplo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Según lo anterior, si se tiene:</a:t>
                </a: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Enunciado: “Algunos estudiantes aprobaron”</a:t>
                </a: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Dominio: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𝑈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𝑀𝑎𝑟𝑡𝑖𝑛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 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𝑁𝑒𝑙𝑠𝑜𝑛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 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𝐵𝑎𝑟𝑡</m:t>
                        </m:r>
                      </m:e>
                    </m:d>
                  </m:oMath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Predicado: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𝑎𝑝𝑟𝑜𝑏𝑜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: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aprobo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“</m:t>
                    </m:r>
                  </m:oMath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La expresión lógica asociada al problema queda:</a:t>
                </a:r>
              </a:p>
              <a:p>
                <a:pPr marL="127000" indent="0">
                  <a:buNone/>
                </a:pPr>
                <a:endParaRPr lang="es-MX" sz="2000" b="0" i="1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∃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𝑎𝑝𝑟𝑜𝑏𝑜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𝑎𝑝𝑟𝑜𝑏𝑜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𝑀𝑎𝑟𝑡𝑖𝑛</m:t>
                          </m:r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𝑎𝑝𝑟𝑜𝑏𝑜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𝑁𝑒𝑙𝑠𝑜𝑛</m:t>
                          </m:r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𝑎𝑝𝑟𝑜𝑏𝑜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𝐵𝑎𝑟𝑡</m:t>
                          </m:r>
                        </m:e>
                      </m:d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3313D6C1-6B2E-4782-8942-5CF971883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443" y="3202296"/>
                <a:ext cx="10802142" cy="33010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o 9">
            <a:extLst>
              <a:ext uri="{FF2B5EF4-FFF2-40B4-BE49-F238E27FC236}">
                <a16:creationId xmlns:a16="http://schemas.microsoft.com/office/drawing/2014/main" id="{E4910E30-2FD9-4363-B9F3-F7AC1FFD1DB8}"/>
              </a:ext>
            </a:extLst>
          </p:cNvPr>
          <p:cNvGrpSpPr/>
          <p:nvPr/>
        </p:nvGrpSpPr>
        <p:grpSpPr>
          <a:xfrm>
            <a:off x="7040882" y="3672521"/>
            <a:ext cx="3545198" cy="1828800"/>
            <a:chOff x="7741922" y="3921621"/>
            <a:chExt cx="3545198" cy="1828800"/>
          </a:xfrm>
        </p:grpSpPr>
        <p:pic>
          <p:nvPicPr>
            <p:cNvPr id="12" name="Picture 3" descr="Martin Prince - Wikisimpsons, the Simpsons Wiki">
              <a:extLst>
                <a:ext uri="{FF2B5EF4-FFF2-40B4-BE49-F238E27FC236}">
                  <a16:creationId xmlns:a16="http://schemas.microsoft.com/office/drawing/2014/main" id="{DC5729CC-AE19-4D25-81D8-44E8B80DEC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1922" y="4102924"/>
              <a:ext cx="788155" cy="1647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5" descr="Nelson Muntz | Simpson Wiki en Español | Fandom">
              <a:extLst>
                <a:ext uri="{FF2B5EF4-FFF2-40B4-BE49-F238E27FC236}">
                  <a16:creationId xmlns:a16="http://schemas.microsoft.com/office/drawing/2014/main" id="{23078328-C274-43F3-BE70-176E4B38D9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33553" y="3921621"/>
              <a:ext cx="1105189" cy="18125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" descr="Bart Simpson | Simpson Wiki en Español | Fandom">
              <a:extLst>
                <a:ext uri="{FF2B5EF4-FFF2-40B4-BE49-F238E27FC236}">
                  <a16:creationId xmlns:a16="http://schemas.microsoft.com/office/drawing/2014/main" id="{C267B9C6-8869-453B-BEDA-2AA5F1DBF0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02478" y="4102925"/>
              <a:ext cx="1184642" cy="16312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40483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350520" y="104110"/>
            <a:ext cx="117043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Ejemplos</a:t>
            </a:r>
            <a:endParaRPr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4352" y="1307752"/>
                <a:ext cx="11240448" cy="47577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584200" indent="-457200">
                  <a:buFont typeface="+mj-lt"/>
                  <a:buAutoNum type="arabicPeriod"/>
                </a:pPr>
                <a:r>
                  <a:rPr lang="es-MX" sz="2200" b="1" dirty="0">
                    <a:latin typeface="+mn-lt"/>
                    <a:ea typeface="Roboto" panose="02000000000000000000" pitchFamily="2" charset="0"/>
                  </a:rPr>
                  <a:t>Verdad y falsedad de los enunciados universales</a:t>
                </a: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.</a:t>
                </a:r>
              </a:p>
              <a:p>
                <a:pPr marL="1041400" lvl="1" indent="-457200">
                  <a:buFont typeface="+mj-lt"/>
                  <a:buAutoNum type="alphaLcPeriod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Sea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𝐷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={1,2,3,4,5}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considere el enunciado:</a:t>
                </a:r>
              </a:p>
              <a:p>
                <a:pPr marL="584200" lvl="1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584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041400" lvl="1" indent="-457200">
                  <a:buFont typeface="+mj-lt"/>
                  <a:buAutoNum type="alphaLcPeriod"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041400" lvl="2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Demuestre que el enunciado es verdadero.</a:t>
                </a:r>
              </a:p>
              <a:p>
                <a:pPr marL="1041400" lvl="2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041400" lvl="1" indent="-457200">
                  <a:buFont typeface="+mj-lt"/>
                  <a:buAutoNum type="alphaLcPeriod" startAt="2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Considere el enunciado.</a:t>
                </a:r>
              </a:p>
              <a:p>
                <a:pPr marL="584200" lvl="1" indent="0">
                  <a:buNone/>
                </a:pPr>
                <a:endParaRPr lang="es-MX" sz="2000" i="1" dirty="0">
                  <a:latin typeface="+mn-lt"/>
                  <a:ea typeface="Cambria Math" panose="02040503050406030204" pitchFamily="18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041400" lvl="1" indent="-457200">
                  <a:buFont typeface="+mj-lt"/>
                  <a:buAutoNum type="alphaLcPeriod" startAt="2"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041400" lvl="2" indent="0">
                  <a:buNone/>
                </a:pPr>
                <a:r>
                  <a:rPr lang="es-MX" sz="2000" dirty="0">
                    <a:latin typeface="+mn-lt"/>
                  </a:rPr>
                  <a:t>Encuentre un contraejemplo para demostrar que este enunciado es falso.</a:t>
                </a:r>
                <a:endParaRPr lang="es-MX" sz="24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52" y="1307752"/>
                <a:ext cx="11240448" cy="47577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3224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320040" y="258445"/>
            <a:ext cx="1155192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Ejemplos </a:t>
            </a:r>
            <a:endParaRPr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040" y="1036320"/>
                <a:ext cx="11292840" cy="50929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584200" indent="-457200">
                  <a:buFont typeface="+mj-lt"/>
                  <a:buAutoNum type="arabicPeriod" startAt="2"/>
                </a:pPr>
                <a:r>
                  <a:rPr lang="es-MX" sz="2200" b="1" dirty="0">
                    <a:latin typeface="+mn-lt"/>
                    <a:ea typeface="Roboto" panose="02000000000000000000" pitchFamily="2" charset="0"/>
                  </a:rPr>
                  <a:t>Verdad y falsedad de los enunciados existenciales</a:t>
                </a: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.</a:t>
                </a:r>
              </a:p>
              <a:p>
                <a:pPr marL="1041400" lvl="1" indent="-457200">
                  <a:buFont typeface="+mj-lt"/>
                  <a:buAutoNum type="alphaLcPeriod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Considere el enunciado:</a:t>
                </a:r>
              </a:p>
              <a:p>
                <a:pPr marL="584200" lvl="1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584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tal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que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041400" lvl="1" indent="-457200">
                  <a:buFont typeface="+mj-lt"/>
                  <a:buAutoNum type="alphaLcPeriod"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041400" lvl="2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Demuestre que el enunciado es verdadero.</a:t>
                </a:r>
              </a:p>
              <a:p>
                <a:pPr marL="1041400" lvl="2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041400" lvl="1" indent="-457200">
                  <a:buFont typeface="+mj-lt"/>
                  <a:buAutoNum type="alphaLcPeriod" startAt="2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Sea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𝐸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5,6,7,8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considere el enunciado:</a:t>
                </a:r>
              </a:p>
              <a:p>
                <a:pPr marL="584200" lvl="1" indent="0">
                  <a:buNone/>
                </a:pPr>
                <a:endParaRPr lang="es-MX" sz="2000" i="1" dirty="0">
                  <a:latin typeface="+mn-lt"/>
                  <a:ea typeface="Cambria Math" panose="02040503050406030204" pitchFamily="18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tal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que</m:t>
                      </m:r>
                      <m:sSup>
                        <m:sSupPr>
                          <m:ctrlP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041400" lvl="2" indent="0">
                  <a:buNone/>
                </a:pPr>
                <a:endParaRPr lang="es-MX" sz="2000" dirty="0">
                  <a:latin typeface="+mn-lt"/>
                </a:endParaRPr>
              </a:p>
              <a:p>
                <a:pPr marL="1041400" lvl="2" indent="0">
                  <a:buNone/>
                </a:pPr>
                <a:r>
                  <a:rPr lang="es-MX" sz="2000" dirty="0">
                    <a:latin typeface="+mn-lt"/>
                  </a:rPr>
                  <a:t>Demuestre que el enunciado es falso.</a:t>
                </a:r>
              </a:p>
              <a:p>
                <a:pPr marL="641350" indent="-514350">
                  <a:buFont typeface="+mj-lt"/>
                  <a:buAutoNum type="arabicPeriod" startAt="3"/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Sea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la afirmación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+1&gt;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. ¿Cuál es el valor de verdad de la cuantificación </a:t>
                </a:r>
                <a14:m>
                  <m:oMath xmlns:m="http://schemas.openxmlformats.org/officeDocument/2006/math">
                    <m:r>
                      <a:rPr lang="es-MX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2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, donde el dominio consiste en todos los números reales?</a:t>
                </a:r>
              </a:p>
              <a:p>
                <a:pPr marL="641350" indent="-514350">
                  <a:buFont typeface="+mj-lt"/>
                  <a:buAutoNum type="arabicPeriod" startAt="3"/>
                </a:pPr>
                <a:endParaRPr lang="es-MX" sz="28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1036320"/>
                <a:ext cx="11292840" cy="5092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7012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335280" y="16700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Ejemplos</a:t>
            </a:r>
            <a:endParaRPr b="1" dirty="0">
              <a:solidFill>
                <a:srgbClr val="0B6937"/>
              </a:solidFill>
              <a:ea typeface="Roboto Slab"/>
              <a:cs typeface="Roboto Slab"/>
              <a:sym typeface="Roboto Slab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5280" y="1292873"/>
                <a:ext cx="11399520" cy="52128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584200" indent="-457200">
                  <a:buFont typeface="+mj-lt"/>
                  <a:buAutoNum type="arabicPeriod" startAt="4"/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Sea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𝑄</m:t>
                    </m:r>
                    <m:d>
                      <m:dPr>
                        <m:ctrlP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la afirmación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&lt;2"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. ¿Cuál es el valor de verdad de la cuantificación</a:t>
                </a:r>
                <a:r>
                  <a:rPr lang="es-MX" sz="2200" dirty="0">
                    <a:latin typeface="+mn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2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, donde el dominio consiste en todos los números reales?</a:t>
                </a:r>
              </a:p>
              <a:p>
                <a:pPr marL="584200" indent="-457200">
                  <a:buFont typeface="+mj-lt"/>
                  <a:buAutoNum type="arabicPeriod" startAt="4"/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¿Cuál es el valor de verdad de la cuantificación</a:t>
                </a:r>
                <a:r>
                  <a:rPr lang="es-MX" sz="2200" dirty="0">
                    <a:latin typeface="+mn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2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, donde el dominio consiste en todos los números reales? </a:t>
                </a:r>
              </a:p>
              <a:p>
                <a:pPr marL="584200" indent="-457200">
                  <a:buFont typeface="+mj-lt"/>
                  <a:buAutoNum type="arabicPeriod" startAt="4"/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¿Qué significa la afirmación </a:t>
                </a:r>
                <a14:m>
                  <m:oMath xmlns:m="http://schemas.openxmlformats.org/officeDocument/2006/math">
                    <m:r>
                      <a:rPr lang="es-MX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si </a:t>
                </a:r>
                <a14:m>
                  <m:oMath xmlns:m="http://schemas.openxmlformats.org/officeDocument/2006/math"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es </a:t>
                </a:r>
                <a14:m>
                  <m:oMath xmlns:m="http://schemas.openxmlformats.org/officeDocument/2006/math">
                    <m: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La</m:t>
                    </m:r>
                    <m: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computadora</m:t>
                    </m:r>
                    <m: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esta</m:t>
                    </m:r>
                    <m: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conectada</m:t>
                    </m:r>
                    <m: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a</m:t>
                    </m:r>
                    <m: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la</m:t>
                    </m:r>
                    <m: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red</m:t>
                    </m:r>
                    <m: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y el dominio consta de todas las computadoras del campus?</a:t>
                </a:r>
              </a:p>
              <a:p>
                <a:pPr marL="584200" indent="-457200">
                  <a:buFont typeface="+mj-lt"/>
                  <a:buAutoNum type="arabicPeriod" startAt="4"/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¿Cuál es el valor de verdad de </a:t>
                </a:r>
                <a14:m>
                  <m:oMath xmlns:m="http://schemas.openxmlformats.org/officeDocument/2006/math">
                    <m:r>
                      <a:rPr lang="es-MX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MX" sz="22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pPr>
                          <m:e>
                            <m:r>
                              <a:rPr lang="es-MX" sz="22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MX" sz="22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sup>
                        </m:sSup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≥</m:t>
                        </m:r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si el dominio está compuesto por todos los números reales? ¿Cuál es el valor de verdad de esta afirmación si el dominio está compuesto por todos los números enteros?</a:t>
                </a:r>
              </a:p>
              <a:p>
                <a:pPr marL="584200" indent="-457200">
                  <a:buFont typeface="+mj-lt"/>
                  <a:buAutoNum type="arabicPeriod" startAt="4"/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Sea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la afirmación </a:t>
                </a:r>
                <a14:m>
                  <m:oMath xmlns:m="http://schemas.openxmlformats.org/officeDocument/2006/math">
                    <m: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&gt;3"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. ¿Cuál es el valor de verdad de la cuantificación </a:t>
                </a:r>
                <a14:m>
                  <m:oMath xmlns:m="http://schemas.openxmlformats.org/officeDocument/2006/math">
                    <m:r>
                      <a:rPr lang="es-MX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2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, donde el dominio está compuesto por todos los números reales?</a:t>
                </a:r>
              </a:p>
              <a:p>
                <a:pPr marL="584200" indent="-457200">
                  <a:buFont typeface="+mj-lt"/>
                  <a:buAutoNum type="arabicPeriod" startAt="4"/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Sea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𝑄</m:t>
                    </m:r>
                    <m:d>
                      <m:dPr>
                        <m:ctrlP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el enunciado </a:t>
                </a:r>
                <a14:m>
                  <m:oMath xmlns:m="http://schemas.openxmlformats.org/officeDocument/2006/math">
                    <m:r>
                      <a:rPr lang="es-MX" sz="22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+1"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. ¿Cuál es el valor de verdad de la cuantificación</a:t>
                </a:r>
                <a:r>
                  <a:rPr lang="es-MX" sz="2200" dirty="0">
                    <a:latin typeface="+mn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𝑄</m:t>
                    </m:r>
                    <m:d>
                      <m:dPr>
                        <m:ctrlP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, donde el dominio consiste en todos los números reales?</a:t>
                </a:r>
              </a:p>
            </p:txBody>
          </p:sp>
        </mc:Choice>
        <mc:Fallback xmlns="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" y="1292873"/>
                <a:ext cx="11399520" cy="5212858"/>
              </a:xfrm>
              <a:prstGeom prst="rect">
                <a:avLst/>
              </a:prstGeom>
              <a:blipFill>
                <a:blip r:embed="rId3"/>
                <a:stretch>
                  <a:fillRect r="-2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45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288706" y="24090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Ejemplo 1</a:t>
            </a:r>
            <a:endParaRPr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8706" y="1262394"/>
                <a:ext cx="11446094" cy="21666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584200" indent="-457200">
                  <a:buFont typeface="+mj-lt"/>
                  <a:buAutoNum type="arabicPeriod"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Verdad y falsedad de los enunciados universales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</a:t>
                </a:r>
              </a:p>
              <a:p>
                <a:pPr marL="1041400" lvl="1" indent="-457200">
                  <a:buFont typeface="+mj-lt"/>
                  <a:buAutoNum type="alphaLcPeriod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Sea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𝐷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={1,2,3,4,5}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considere el enunciado:</a:t>
                </a:r>
              </a:p>
              <a:p>
                <a:pPr marL="584200" lvl="1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584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041400" lvl="1" indent="-457200">
                  <a:buFont typeface="+mj-lt"/>
                  <a:buAutoNum type="alphaLcPeriod"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041400" lvl="2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Demuestre que el enunciado es verdadero.</a:t>
                </a:r>
              </a:p>
              <a:p>
                <a:pPr marL="1041400" lvl="2" indent="0">
                  <a:buNone/>
                </a:pPr>
                <a:endParaRPr lang="es-MX" sz="20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06" y="1262394"/>
                <a:ext cx="11446094" cy="2166606"/>
              </a:xfrm>
              <a:prstGeom prst="rect">
                <a:avLst/>
              </a:prstGeom>
              <a:blipFill>
                <a:blip r:embed="rId3"/>
                <a:stretch>
                  <a:fillRect b="-30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3998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288706" y="14946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Ejemplo 1</a:t>
            </a:r>
            <a:endParaRPr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8706" y="1262394"/>
                <a:ext cx="11614588" cy="2273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584200" indent="-457200">
                  <a:buFont typeface="+mj-lt"/>
                  <a:buAutoNum type="arabicPeriod"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Verdad y falsedad de los enunciados universales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</a:t>
                </a:r>
              </a:p>
              <a:p>
                <a:pPr marL="1041400" lvl="1" indent="-457200">
                  <a:buFont typeface="+mj-lt"/>
                  <a:buAutoNum type="alphaLcPeriod" startAt="2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Considere el enunciado.</a:t>
                </a:r>
              </a:p>
              <a:p>
                <a:pPr marL="584200" lvl="1" indent="0">
                  <a:buNone/>
                </a:pPr>
                <a:endParaRPr lang="es-MX" sz="2000" i="1" dirty="0">
                  <a:latin typeface="+mn-lt"/>
                  <a:ea typeface="Cambria Math" panose="02040503050406030204" pitchFamily="18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041400" lvl="1" indent="-457200">
                  <a:buFont typeface="+mj-lt"/>
                  <a:buAutoNum type="alphaLcPeriod" startAt="2"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041400" lvl="2" indent="0">
                  <a:buNone/>
                </a:pPr>
                <a:r>
                  <a:rPr lang="es-MX" sz="2000" dirty="0">
                    <a:latin typeface="+mn-lt"/>
                  </a:rPr>
                  <a:t>Encuentre un contraejemplo para demostrar que este enunciado es falso</a:t>
                </a:r>
                <a:r>
                  <a:rPr lang="es-MX" sz="2000" dirty="0"/>
                  <a:t>.</a:t>
                </a:r>
                <a:endParaRPr lang="es-MX" sz="20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06" y="1262394"/>
                <a:ext cx="11614588" cy="22732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0234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39624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Ejemplo 2</a:t>
            </a:r>
            <a:endParaRPr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240" y="928252"/>
                <a:ext cx="11536680" cy="2195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584200" indent="-457200">
                  <a:buFont typeface="+mj-lt"/>
                  <a:buAutoNum type="arabicPeriod" startAt="2"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Verdad y falsedad de los enunciados existenciales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</a:t>
                </a:r>
              </a:p>
              <a:p>
                <a:pPr marL="1041400" lvl="1" indent="-457200">
                  <a:buFont typeface="+mj-lt"/>
                  <a:buAutoNum type="alphaLcPeriod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Considere el enunciado:</a:t>
                </a:r>
              </a:p>
              <a:p>
                <a:pPr marL="584200" lvl="1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584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tal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que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041400" lvl="1" indent="-457200">
                  <a:buFont typeface="+mj-lt"/>
                  <a:buAutoNum type="alphaLcPeriod"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041400" lvl="2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Demuestre que el enunciado es verdadero.</a:t>
                </a:r>
              </a:p>
            </p:txBody>
          </p:sp>
        </mc:Choice>
        <mc:Fallback xmlns="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" y="928252"/>
                <a:ext cx="11536680" cy="2195948"/>
              </a:xfrm>
              <a:prstGeom prst="rect">
                <a:avLst/>
              </a:prstGeom>
              <a:blipFill>
                <a:blip r:embed="rId3"/>
                <a:stretch>
                  <a:fillRect b="-16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4590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39624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Ejemplo 2</a:t>
            </a:r>
            <a:endParaRPr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240" y="943492"/>
                <a:ext cx="11263214" cy="21045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584200" indent="-457200">
                  <a:buFont typeface="+mj-lt"/>
                  <a:buAutoNum type="arabicPeriod" startAt="2"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Verdad y falsedad de los enunciados existenciales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</a:t>
                </a:r>
              </a:p>
              <a:p>
                <a:pPr marL="1041400" lvl="1" indent="-457200">
                  <a:buFont typeface="+mj-lt"/>
                  <a:buAutoNum type="alphaLcPeriod" startAt="2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Sea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𝐸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5,6,7,8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considere el enunciado:</a:t>
                </a:r>
              </a:p>
              <a:p>
                <a:pPr marL="584200" lvl="1" indent="0">
                  <a:buNone/>
                </a:pPr>
                <a:endParaRPr lang="es-MX" sz="2000" i="1" dirty="0">
                  <a:latin typeface="+mn-lt"/>
                  <a:ea typeface="Cambria Math" panose="02040503050406030204" pitchFamily="18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tal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que</m:t>
                      </m:r>
                      <m:sSup>
                        <m:sSupPr>
                          <m:ctrlP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041400" lvl="2" indent="0">
                  <a:buNone/>
                </a:pPr>
                <a:endParaRPr lang="es-MX" sz="2000" dirty="0">
                  <a:latin typeface="+mn-lt"/>
                </a:endParaRPr>
              </a:p>
              <a:p>
                <a:pPr marL="1041400" lvl="2" indent="0">
                  <a:buNone/>
                </a:pPr>
                <a:r>
                  <a:rPr lang="es-MX" sz="2000" dirty="0">
                    <a:latin typeface="+mn-lt"/>
                  </a:rPr>
                  <a:t>Demuestre que el enunciado es falso.</a:t>
                </a:r>
              </a:p>
            </p:txBody>
          </p:sp>
        </mc:Choice>
        <mc:Fallback xmlns="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" y="943492"/>
                <a:ext cx="11263214" cy="2104508"/>
              </a:xfrm>
              <a:prstGeom prst="rect">
                <a:avLst/>
              </a:prstGeom>
              <a:blipFill>
                <a:blip r:embed="rId3"/>
                <a:stretch>
                  <a:fillRect b="-63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8236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320040" y="230573"/>
            <a:ext cx="11354653" cy="1062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Ejemplo 3</a:t>
            </a:r>
            <a:endParaRPr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040" y="1165935"/>
                <a:ext cx="10890782" cy="8167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Sea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la afirmación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+1&gt;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 ¿Cuál es el valor de verdad de la cuantificación </a:t>
                </a: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donde el dominio consiste en todos los números reales?</a:t>
                </a:r>
              </a:p>
              <a:p>
                <a:pPr marL="641350" indent="-514350">
                  <a:buFont typeface="+mj-lt"/>
                  <a:buAutoNum type="arabicPeriod" startAt="3"/>
                </a:pPr>
                <a:endParaRPr lang="es-MX" sz="28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1165935"/>
                <a:ext cx="10890782" cy="816767"/>
              </a:xfrm>
              <a:prstGeom prst="rect">
                <a:avLst/>
              </a:prstGeom>
              <a:blipFill>
                <a:blip r:embed="rId3"/>
                <a:stretch>
                  <a:fillRect r="-728" b="-74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59774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384568" y="15359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Ejemplos 4</a:t>
            </a:r>
            <a:endParaRPr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568" y="1098863"/>
                <a:ext cx="11290126" cy="7605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Sea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𝑄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la afirmación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&lt;2"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 ¿Cuál es el valor de verdad de la cuantificación</a:t>
                </a:r>
                <a:r>
                  <a:rPr lang="es-MX" sz="2000" dirty="0">
                    <a:latin typeface="+mn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𝑄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donde el dominio consiste en todos los números reales?</a:t>
                </a:r>
              </a:p>
            </p:txBody>
          </p:sp>
        </mc:Choice>
        <mc:Fallback xmlns="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568" y="1098863"/>
                <a:ext cx="11290126" cy="760579"/>
              </a:xfrm>
              <a:prstGeom prst="rect">
                <a:avLst/>
              </a:prstGeom>
              <a:blipFill>
                <a:blip r:embed="rId3"/>
                <a:stretch>
                  <a:fillRect b="-152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6732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517306" y="18888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Ejemplo 5</a:t>
            </a:r>
            <a:endParaRPr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7306" y="1292874"/>
                <a:ext cx="11157388" cy="8167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Supongamos que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es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  <m:sSup>
                      <m:sSupPr>
                        <m:ctrlPr>
                          <a:rPr lang="es-MX" sz="200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p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  <m:sup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sup>
                    </m:sSup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&gt;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0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 ¿Cuál es el valor de verdad de la cuantificación</a:t>
                </a:r>
                <a:r>
                  <a:rPr lang="es-MX" sz="2000" dirty="0">
                    <a:latin typeface="+mn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donde el dominio consiste en todos los números reales? </a:t>
                </a:r>
              </a:p>
            </p:txBody>
          </p:sp>
        </mc:Choice>
        <mc:Fallback xmlns="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06" y="1292874"/>
                <a:ext cx="11157388" cy="816768"/>
              </a:xfrm>
              <a:prstGeom prst="rect">
                <a:avLst/>
              </a:prstGeom>
              <a:blipFill>
                <a:blip r:embed="rId3"/>
                <a:stretch>
                  <a:fillRect b="-82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6748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347046" y="193837"/>
            <a:ext cx="11327648" cy="816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Ejemplo 6</a:t>
            </a:r>
            <a:endParaRPr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0501" y="988802"/>
                <a:ext cx="11555394" cy="8167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¿Qué significa la afirmación </a:t>
                </a: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si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es </a:t>
                </a:r>
                <a14:m>
                  <m:oMath xmlns:m="http://schemas.openxmlformats.org/officeDocument/2006/math">
                    <m: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La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computadora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esta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conectada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a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la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red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el dominio consta de todas las computadoras del campus?</a:t>
                </a:r>
              </a:p>
            </p:txBody>
          </p:sp>
        </mc:Choice>
        <mc:Fallback xmlns="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01" y="988802"/>
                <a:ext cx="11555394" cy="816768"/>
              </a:xfrm>
              <a:prstGeom prst="rect">
                <a:avLst/>
              </a:prstGeom>
              <a:blipFill>
                <a:blip r:embed="rId3"/>
                <a:stretch>
                  <a:fillRect b="-74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49265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409607" y="1663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Ejemplo 7</a:t>
            </a:r>
            <a:endParaRPr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7371" y="1125905"/>
                <a:ext cx="11515022" cy="11205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¿Cuál es el valor de verdad de </a:t>
                </a: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p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sup>
                        </m:sSup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≥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si el dominio está compuesto por todos los números reales? ¿Cuál es el valor de verdad de esta afirmación si el dominio está compuesto por todos los números enteros?</a:t>
                </a:r>
              </a:p>
            </p:txBody>
          </p:sp>
        </mc:Choice>
        <mc:Fallback xmlns="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71" y="1125905"/>
                <a:ext cx="11515022" cy="11205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3390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374328" y="0"/>
            <a:ext cx="1103376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Ejemplos 8</a:t>
            </a:r>
            <a:endParaRPr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5752" y="917179"/>
                <a:ext cx="11408942" cy="8167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Sea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la afirmación </a:t>
                </a:r>
                <a14:m>
                  <m:oMath xmlns:m="http://schemas.openxmlformats.org/officeDocument/2006/math">
                    <m: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&gt;3"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 ¿Cuál es el valor de verdad de la cuantificación </a:t>
                </a: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donde el dominio está compuesto por todos los números reales?</a:t>
                </a:r>
              </a:p>
            </p:txBody>
          </p:sp>
        </mc:Choice>
        <mc:Fallback xmlns="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52" y="917179"/>
                <a:ext cx="11408942" cy="816768"/>
              </a:xfrm>
              <a:prstGeom prst="rect">
                <a:avLst/>
              </a:prstGeom>
              <a:blipFill>
                <a:blip r:embed="rId3"/>
                <a:stretch>
                  <a:fillRect r="-160" b="-74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1723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381000" y="221709"/>
            <a:ext cx="10515600" cy="816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Ejemplos 9</a:t>
            </a:r>
            <a:endParaRPr b="1" dirty="0">
              <a:solidFill>
                <a:srgbClr val="0B6937"/>
              </a:solidFill>
              <a:ea typeface="Roboto Slab"/>
              <a:cs typeface="Roboto Slab"/>
              <a:sym typeface="Roboto Slab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4320" y="1038477"/>
                <a:ext cx="11400374" cy="8167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Sea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𝑄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el enunciado </a:t>
                </a:r>
                <a14:m>
                  <m:oMath xmlns:m="http://schemas.openxmlformats.org/officeDocument/2006/math">
                    <m: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"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+1"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 ¿Cuál es el valor de verdad de la cuantificación</a:t>
                </a:r>
                <a:r>
                  <a:rPr lang="es-MX" sz="2000" dirty="0">
                    <a:latin typeface="+mn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𝑄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donde el dominio consiste en todos los números reales?</a:t>
                </a:r>
              </a:p>
            </p:txBody>
          </p:sp>
        </mc:Choice>
        <mc:Fallback xmlns="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9BF4EE1B-6490-4DEC-A6E3-D082DF383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" y="1038477"/>
                <a:ext cx="11400374" cy="816768"/>
              </a:xfrm>
              <a:prstGeom prst="rect">
                <a:avLst/>
              </a:prstGeom>
              <a:blipFill>
                <a:blip r:embed="rId3"/>
                <a:stretch>
                  <a:fillRect b="-74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52993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21920" y="96038"/>
            <a:ext cx="1181036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s-ES" dirty="0">
                <a:solidFill>
                  <a:schemeClr val="tx1"/>
                </a:solidFill>
                <a:latin typeface="+mj-lt"/>
              </a:rPr>
              <a:t>Proceso de traducción de lenguaje natural a formal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F8BF374-96BD-402A-B495-128545198BB4}"/>
              </a:ext>
            </a:extLst>
          </p:cNvPr>
          <p:cNvSpPr txBox="1"/>
          <p:nvPr/>
        </p:nvSpPr>
        <p:spPr>
          <a:xfrm>
            <a:off x="244480" y="922223"/>
            <a:ext cx="10914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Formas Aristotélicas</a:t>
            </a:r>
          </a:p>
        </p:txBody>
      </p:sp>
      <p:sp>
        <p:nvSpPr>
          <p:cNvPr id="6" name="Google Shape;310;p34">
            <a:extLst>
              <a:ext uri="{FF2B5EF4-FFF2-40B4-BE49-F238E27FC236}">
                <a16:creationId xmlns:a16="http://schemas.microsoft.com/office/drawing/2014/main" id="{302406F3-BCDD-409B-9EC9-AEFCB1DE196F}"/>
              </a:ext>
            </a:extLst>
          </p:cNvPr>
          <p:cNvSpPr txBox="1">
            <a:spLocks/>
          </p:cNvSpPr>
          <p:nvPr/>
        </p:nvSpPr>
        <p:spPr>
          <a:xfrm>
            <a:off x="121920" y="1246595"/>
            <a:ext cx="11672560" cy="532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200" dirty="0">
                <a:latin typeface="+mn-lt"/>
                <a:ea typeface="Roboto" panose="02000000000000000000" pitchFamily="2" charset="0"/>
              </a:rPr>
              <a:t>Las cuatro formas aristotélicas (A, E, I, O) son muy útiles en lógica de primer orden principalmente como plantillas de traducción del lenguaje natural al lenguaje de predicados.</a:t>
            </a: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latin typeface="+mn-lt"/>
              <a:ea typeface="Roboto" panose="02000000000000000000" pitchFamily="2" charset="0"/>
            </a:endParaRP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Es importante tener en cuenta que las formas aristotélicas son una guía, pero el lenguaje natural puede ser más complejo y requerir combinarlas.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749798DC-A9DF-404D-8657-CBDC7FF442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3385" y="4786205"/>
                <a:ext cx="10914693" cy="100598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b="1" dirty="0">
                    <a:latin typeface="+mn-lt"/>
                  </a:rPr>
                  <a:t>Error común:</a:t>
                </a:r>
                <a:r>
                  <a:rPr lang="es-MX" sz="2000" dirty="0">
                    <a:latin typeface="+mn-lt"/>
                  </a:rPr>
                  <a:t> Para la forma </a:t>
                </a:r>
                <a:r>
                  <a:rPr lang="es-MX" sz="2000" b="1" dirty="0">
                    <a:latin typeface="+mn-lt"/>
                  </a:rPr>
                  <a:t>I</a:t>
                </a:r>
                <a:r>
                  <a:rPr lang="es-MX" sz="2000" dirty="0">
                    <a:latin typeface="+mn-lt"/>
                  </a:rPr>
                  <a:t>, a veces se tiende a escribir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) →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s-MX" sz="2000" dirty="0">
                    <a:latin typeface="+mn-lt"/>
                  </a:rPr>
                  <a:t> en lugar de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) ∧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s-MX" sz="2000" dirty="0">
                    <a:latin typeface="+mn-lt"/>
                  </a:rPr>
                  <a:t>. Con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MX" sz="2000" dirty="0">
                    <a:latin typeface="+mn-lt"/>
                  </a:rPr>
                  <a:t>, la expresión sería verdadera trivialmente cuando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000" dirty="0">
                    <a:latin typeface="+mn-lt"/>
                  </a:rPr>
                  <a:t> es falso para algún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MX" sz="2000" dirty="0">
                    <a:latin typeface="+mn-lt"/>
                  </a:rPr>
                  <a:t>, lo cual no captura el significado de "algún S es P".</a:t>
                </a: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749798DC-A9DF-404D-8657-CBDC7FF44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85" y="4786205"/>
                <a:ext cx="10914693" cy="1005988"/>
              </a:xfrm>
              <a:prstGeom prst="rect">
                <a:avLst/>
              </a:prstGeom>
              <a:blipFill>
                <a:blip r:embed="rId3"/>
                <a:stretch>
                  <a:fillRect b="-145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C4130B07-F685-467A-B812-C7B0B639F9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139999"/>
                  </p:ext>
                </p:extLst>
              </p:nvPr>
            </p:nvGraphicFramePr>
            <p:xfrm>
              <a:off x="961685" y="2438400"/>
              <a:ext cx="9993029" cy="1981200"/>
            </p:xfrm>
            <a:graphic>
              <a:graphicData uri="http://schemas.openxmlformats.org/drawingml/2006/table">
                <a:tbl>
                  <a:tblPr/>
                  <a:tblGrid>
                    <a:gridCol w="911606">
                      <a:extLst>
                        <a:ext uri="{9D8B030D-6E8A-4147-A177-3AD203B41FA5}">
                          <a16:colId xmlns:a16="http://schemas.microsoft.com/office/drawing/2014/main" val="3503387764"/>
                        </a:ext>
                      </a:extLst>
                    </a:gridCol>
                    <a:gridCol w="2307769">
                      <a:extLst>
                        <a:ext uri="{9D8B030D-6E8A-4147-A177-3AD203B41FA5}">
                          <a16:colId xmlns:a16="http://schemas.microsoft.com/office/drawing/2014/main" val="1705867755"/>
                        </a:ext>
                      </a:extLst>
                    </a:gridCol>
                    <a:gridCol w="2006918">
                      <a:extLst>
                        <a:ext uri="{9D8B030D-6E8A-4147-A177-3AD203B41FA5}">
                          <a16:colId xmlns:a16="http://schemas.microsoft.com/office/drawing/2014/main" val="4193806714"/>
                        </a:ext>
                      </a:extLst>
                    </a:gridCol>
                    <a:gridCol w="2471166">
                      <a:extLst>
                        <a:ext uri="{9D8B030D-6E8A-4147-A177-3AD203B41FA5}">
                          <a16:colId xmlns:a16="http://schemas.microsoft.com/office/drawing/2014/main" val="3214856386"/>
                        </a:ext>
                      </a:extLst>
                    </a:gridCol>
                    <a:gridCol w="2295570">
                      <a:extLst>
                        <a:ext uri="{9D8B030D-6E8A-4147-A177-3AD203B41FA5}">
                          <a16:colId xmlns:a16="http://schemas.microsoft.com/office/drawing/2014/main" val="424597107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/>
                            <a:t>Forma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/>
                            <a:t>Nombre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/>
                            <a:t>Enunciado típico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/>
                            <a:t>Traducción en LPO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/>
                            <a:t>Conectivo clave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846145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/>
                            <a:t>A</a:t>
                          </a:r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/>
                            <a:t>Universal afirmativa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/>
                            <a:t>"Todo S es P"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) → 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CO" sz="2000" i="1" dirty="0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</m:oMath>
                          </a14:m>
                          <a:r>
                            <a:rPr lang="es-CO" sz="2000" dirty="0"/>
                            <a:t> con </a:t>
                          </a:r>
                          <a14:m>
                            <m:oMath xmlns:m="http://schemas.openxmlformats.org/officeDocument/2006/math">
                              <m:r>
                                <a:rPr lang="es-CO" sz="2000" i="1" dirty="0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195686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/>
                            <a:t>E</a:t>
                          </a:r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/>
                            <a:t>Universal negativa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/>
                            <a:t>"Ningún S es P"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) → ¬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CO" sz="2000" i="1" dirty="0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</m:oMath>
                          </a14:m>
                          <a:r>
                            <a:rPr lang="es-CO" sz="2000" dirty="0"/>
                            <a:t> con </a:t>
                          </a:r>
                          <a14:m>
                            <m:oMath xmlns:m="http://schemas.openxmlformats.org/officeDocument/2006/math">
                              <m:r>
                                <a:rPr lang="es-CO" sz="2000" i="1" dirty="0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s-CO" sz="2000" dirty="0"/>
                            <a:t> y </a:t>
                          </a:r>
                          <a14:m>
                            <m:oMath xmlns:m="http://schemas.openxmlformats.org/officeDocument/2006/math">
                              <m:r>
                                <a:rPr lang="es-CO" sz="2000" i="1" dirty="0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</m:oMath>
                          </a14:m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7570316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/>
                            <a:t>I</a:t>
                          </a:r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/>
                            <a:t>Particular afirmativa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/>
                            <a:t>"Algún S es P"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) ∧ 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CO" sz="2000" i="1" dirty="0" smtClean="0">
                                  <a:latin typeface="Cambria Math" panose="02040503050406030204" pitchFamily="18" charset="0"/>
                                </a:rPr>
                                <m:t>∃</m:t>
                              </m:r>
                            </m:oMath>
                          </a14:m>
                          <a:r>
                            <a:rPr lang="es-CO" sz="2000" dirty="0"/>
                            <a:t> con </a:t>
                          </a:r>
                          <a14:m>
                            <m:oMath xmlns:m="http://schemas.openxmlformats.org/officeDocument/2006/math">
                              <m:r>
                                <a:rPr lang="es-CO" sz="2000" i="1" dirty="0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</m:oMath>
                          </a14:m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724557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/>
                            <a:t>O</a:t>
                          </a:r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/>
                            <a:t>Particular negativa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"Algún S no es P"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) ∧ ¬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CO" sz="2000" i="1" dirty="0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CO" sz="2000" i="1" dirty="0" smtClean="0">
                                  <a:latin typeface="Cambria Math" panose="02040503050406030204" pitchFamily="18" charset="0"/>
                                </a:rPr>
                                <m:t>∃</m:t>
                              </m:r>
                            </m:oMath>
                          </a14:m>
                          <a:r>
                            <a:rPr lang="es-CO" sz="2000" dirty="0"/>
                            <a:t> con </a:t>
                          </a:r>
                          <a14:m>
                            <m:oMath xmlns:m="http://schemas.openxmlformats.org/officeDocument/2006/math">
                              <m:r>
                                <a:rPr lang="es-CO" sz="2000" i="1" dirty="0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</m:oMath>
                          </a14:m>
                          <a:r>
                            <a:rPr lang="es-CO" sz="2000" dirty="0"/>
                            <a:t> y </a:t>
                          </a:r>
                          <a14:m>
                            <m:oMath xmlns:m="http://schemas.openxmlformats.org/officeDocument/2006/math">
                              <m:r>
                                <a:rPr lang="es-CO" sz="2000" i="1" dirty="0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</m:oMath>
                          </a14:m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806657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C4130B07-F685-467A-B812-C7B0B639F9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139999"/>
                  </p:ext>
                </p:extLst>
              </p:nvPr>
            </p:nvGraphicFramePr>
            <p:xfrm>
              <a:off x="961685" y="2438400"/>
              <a:ext cx="9993029" cy="1981200"/>
            </p:xfrm>
            <a:graphic>
              <a:graphicData uri="http://schemas.openxmlformats.org/drawingml/2006/table">
                <a:tbl>
                  <a:tblPr/>
                  <a:tblGrid>
                    <a:gridCol w="911606">
                      <a:extLst>
                        <a:ext uri="{9D8B030D-6E8A-4147-A177-3AD203B41FA5}">
                          <a16:colId xmlns:a16="http://schemas.microsoft.com/office/drawing/2014/main" val="3503387764"/>
                        </a:ext>
                      </a:extLst>
                    </a:gridCol>
                    <a:gridCol w="2307769">
                      <a:extLst>
                        <a:ext uri="{9D8B030D-6E8A-4147-A177-3AD203B41FA5}">
                          <a16:colId xmlns:a16="http://schemas.microsoft.com/office/drawing/2014/main" val="1705867755"/>
                        </a:ext>
                      </a:extLst>
                    </a:gridCol>
                    <a:gridCol w="2006918">
                      <a:extLst>
                        <a:ext uri="{9D8B030D-6E8A-4147-A177-3AD203B41FA5}">
                          <a16:colId xmlns:a16="http://schemas.microsoft.com/office/drawing/2014/main" val="4193806714"/>
                        </a:ext>
                      </a:extLst>
                    </a:gridCol>
                    <a:gridCol w="2471166">
                      <a:extLst>
                        <a:ext uri="{9D8B030D-6E8A-4147-A177-3AD203B41FA5}">
                          <a16:colId xmlns:a16="http://schemas.microsoft.com/office/drawing/2014/main" val="3214856386"/>
                        </a:ext>
                      </a:extLst>
                    </a:gridCol>
                    <a:gridCol w="2295570">
                      <a:extLst>
                        <a:ext uri="{9D8B030D-6E8A-4147-A177-3AD203B41FA5}">
                          <a16:colId xmlns:a16="http://schemas.microsoft.com/office/drawing/2014/main" val="424597107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/>
                            <a:t>Forma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/>
                            <a:t>Nombre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/>
                            <a:t>Enunciado típico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/>
                            <a:t>Traducción en LPO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/>
                            <a:t>Conectivo clave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846145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/>
                            <a:t>A</a:t>
                          </a:r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/>
                            <a:t>Universal afirmativa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/>
                            <a:t>"Todo S es P"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1576" t="-107692" r="-93350" b="-3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5544" t="-107692" r="-531" b="-3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956865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/>
                            <a:t>E</a:t>
                          </a:r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/>
                            <a:t>Universal negativa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/>
                            <a:t>"Ningún S es P"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1576" t="-207692" r="-93350" b="-2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5544" t="-207692" r="-531" b="-2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57031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/>
                            <a:t>I</a:t>
                          </a:r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/>
                            <a:t>Particular afirmativa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/>
                            <a:t>"Algún S es P"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1576" t="-307692" r="-93350" b="-1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5544" t="-307692" r="-531" b="-1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245579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/>
                            <a:t>O</a:t>
                          </a:r>
                          <a:endParaRPr lang="es-CO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/>
                            <a:t>Particular negativa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/>
                            <a:t>"Algún S no es P"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1576" t="-407692" r="-93350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5544" t="-407692" r="-531" b="-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6657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446295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579120" y="232949"/>
            <a:ext cx="1089078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Lenguaje formal .vs. lenguaje informal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Google Shape;310;p34">
            <a:extLst>
              <a:ext uri="{FF2B5EF4-FFF2-40B4-BE49-F238E27FC236}">
                <a16:creationId xmlns:a16="http://schemas.microsoft.com/office/drawing/2014/main" id="{44AC130B-3A31-42BD-A7D5-934CE25E5DD0}"/>
              </a:ext>
            </a:extLst>
          </p:cNvPr>
          <p:cNvSpPr txBox="1">
            <a:spLocks/>
          </p:cNvSpPr>
          <p:nvPr/>
        </p:nvSpPr>
        <p:spPr>
          <a:xfrm>
            <a:off x="301070" y="1091502"/>
            <a:ext cx="1089078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Traduzca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 el enunciado “Todo estudiante de lógica es curioso” a lógica de primer orden.</a:t>
            </a:r>
          </a:p>
          <a:p>
            <a:pPr marL="584200" indent="-457200">
              <a:buFont typeface="+mj-lt"/>
              <a:buAutoNum type="arabicPeriod" startAt="5"/>
            </a:pPr>
            <a:endParaRPr lang="es-MX" sz="1200" dirty="0">
              <a:latin typeface="+mn-lt"/>
              <a:ea typeface="Roboto" panose="02000000000000000000" pitchFamily="2" charset="0"/>
            </a:endParaRPr>
          </a:p>
          <a:p>
            <a:pPr lvl="2"/>
            <a:endParaRPr lang="es-MX" sz="1200" dirty="0">
              <a:latin typeface="+mn-lt"/>
              <a:ea typeface="Roboto" panose="02000000000000000000" pitchFamily="2" charset="0"/>
            </a:endParaRPr>
          </a:p>
        </p:txBody>
      </p:sp>
      <p:sp>
        <p:nvSpPr>
          <p:cNvPr id="7" name="Google Shape;310;p34">
            <a:extLst>
              <a:ext uri="{FF2B5EF4-FFF2-40B4-BE49-F238E27FC236}">
                <a16:creationId xmlns:a16="http://schemas.microsoft.com/office/drawing/2014/main" id="{7F4CF193-CDAD-4E96-8DC5-98F627AD1F98}"/>
              </a:ext>
            </a:extLst>
          </p:cNvPr>
          <p:cNvSpPr txBox="1">
            <a:spLocks/>
          </p:cNvSpPr>
          <p:nvPr/>
        </p:nvSpPr>
        <p:spPr>
          <a:xfrm>
            <a:off x="301070" y="1656534"/>
            <a:ext cx="1089078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latin typeface="+mn-lt"/>
                <a:ea typeface="Roboto" panose="02000000000000000000" pitchFamily="2" charset="0"/>
              </a:rPr>
              <a:t>Solución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:</a:t>
            </a:r>
          </a:p>
          <a:p>
            <a:pPr marL="584200" indent="-457200">
              <a:buFont typeface="+mj-lt"/>
              <a:buAutoNum type="arabicPeriod" startAt="5"/>
            </a:pPr>
            <a:endParaRPr lang="es-MX" sz="1200" dirty="0">
              <a:latin typeface="+mn-lt"/>
              <a:ea typeface="Roboto" panose="02000000000000000000" pitchFamily="2" charset="0"/>
            </a:endParaRPr>
          </a:p>
          <a:p>
            <a:pPr lvl="2"/>
            <a:endParaRPr lang="es-MX" sz="1200" dirty="0">
              <a:latin typeface="+mn-lt"/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a 2">
                <a:extLst>
                  <a:ext uri="{FF2B5EF4-FFF2-40B4-BE49-F238E27FC236}">
                    <a16:creationId xmlns:a16="http://schemas.microsoft.com/office/drawing/2014/main" id="{DA78281C-4B6B-4D40-B771-79AF47AA95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4363239"/>
                  </p:ext>
                </p:extLst>
              </p:nvPr>
            </p:nvGraphicFramePr>
            <p:xfrm>
              <a:off x="476095" y="2257372"/>
              <a:ext cx="5619905" cy="22860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201127">
                      <a:extLst>
                        <a:ext uri="{9D8B030D-6E8A-4147-A177-3AD203B41FA5}">
                          <a16:colId xmlns:a16="http://schemas.microsoft.com/office/drawing/2014/main" val="55665907"/>
                        </a:ext>
                      </a:extLst>
                    </a:gridCol>
                    <a:gridCol w="3418778">
                      <a:extLst>
                        <a:ext uri="{9D8B030D-6E8A-4147-A177-3AD203B41FA5}">
                          <a16:colId xmlns:a16="http://schemas.microsoft.com/office/drawing/2014/main" val="2393994677"/>
                        </a:ext>
                      </a:extLst>
                    </a:gridCol>
                  </a:tblGrid>
                  <a:tr h="24003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Dominio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0" dirty="0">
                              <a:latin typeface="+mn-lt"/>
                              <a:ea typeface="Roboto" panose="02000000000000000000" pitchFamily="2" charset="0"/>
                            </a:rPr>
                            <a:t>Personas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4054099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Variables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97047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Constantes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736836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Predicados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𝐸𝑠𝑡𝑢𝑑𝑖𝑎𝑛𝑡𝑒𝐷𝑒𝐿𝑜𝑔𝑖𝑐𝑎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𝐶𝑢𝑟𝑖𝑜𝑠𝑜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33263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Cuantificadores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01306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a 2">
                <a:extLst>
                  <a:ext uri="{FF2B5EF4-FFF2-40B4-BE49-F238E27FC236}">
                    <a16:creationId xmlns:a16="http://schemas.microsoft.com/office/drawing/2014/main" id="{DA78281C-4B6B-4D40-B771-79AF47AA95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4363239"/>
                  </p:ext>
                </p:extLst>
              </p:nvPr>
            </p:nvGraphicFramePr>
            <p:xfrm>
              <a:off x="476095" y="2257372"/>
              <a:ext cx="5619905" cy="22860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201127">
                      <a:extLst>
                        <a:ext uri="{9D8B030D-6E8A-4147-A177-3AD203B41FA5}">
                          <a16:colId xmlns:a16="http://schemas.microsoft.com/office/drawing/2014/main" val="55665907"/>
                        </a:ext>
                      </a:extLst>
                    </a:gridCol>
                    <a:gridCol w="3418778">
                      <a:extLst>
                        <a:ext uri="{9D8B030D-6E8A-4147-A177-3AD203B41FA5}">
                          <a16:colId xmlns:a16="http://schemas.microsoft.com/office/drawing/2014/main" val="239399467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Dominio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0" dirty="0">
                              <a:latin typeface="+mn-lt"/>
                              <a:ea typeface="Roboto" panose="02000000000000000000" pitchFamily="2" charset="0"/>
                            </a:rPr>
                            <a:t>Personas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40540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Variables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64528" t="-107692" r="-357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097047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Constantes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736836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Predicados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64528" t="-174783" r="-357" b="-713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29332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Cuantificadores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64528" t="-486154" r="-357" b="-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013063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7" name="Grupo 26">
            <a:extLst>
              <a:ext uri="{FF2B5EF4-FFF2-40B4-BE49-F238E27FC236}">
                <a16:creationId xmlns:a16="http://schemas.microsoft.com/office/drawing/2014/main" id="{E8208DD2-9A73-4F89-BDB2-7DA0FC4DFB3A}"/>
              </a:ext>
            </a:extLst>
          </p:cNvPr>
          <p:cNvGrpSpPr/>
          <p:nvPr/>
        </p:nvGrpSpPr>
        <p:grpSpPr>
          <a:xfrm>
            <a:off x="3694775" y="3565043"/>
            <a:ext cx="8021130" cy="2926591"/>
            <a:chOff x="2355561" y="2575156"/>
            <a:chExt cx="8021130" cy="2926591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026A870F-EA9C-400E-A6CD-8944DFB0EC98}"/>
                </a:ext>
              </a:extLst>
            </p:cNvPr>
            <p:cNvGrpSpPr/>
            <p:nvPr/>
          </p:nvGrpSpPr>
          <p:grpSpPr>
            <a:xfrm>
              <a:off x="5400040" y="2575156"/>
              <a:ext cx="4707426" cy="1767992"/>
              <a:chOff x="5577840" y="2535958"/>
              <a:chExt cx="4707426" cy="1767992"/>
            </a:xfrm>
          </p:grpSpPr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76F751F-F752-400B-A1DB-7169718CC551}"/>
                  </a:ext>
                </a:extLst>
              </p:cNvPr>
              <p:cNvSpPr txBox="1"/>
              <p:nvPr/>
            </p:nvSpPr>
            <p:spPr>
              <a:xfrm>
                <a:off x="5577840" y="3059668"/>
                <a:ext cx="458216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sz="2200" b="1" dirty="0">
                    <a:solidFill>
                      <a:srgbClr val="C00000"/>
                    </a:solidFill>
                    <a:ea typeface="Roboto" panose="02000000000000000000" pitchFamily="2" charset="0"/>
                  </a:rPr>
                  <a:t>Todo</a:t>
                </a:r>
                <a:r>
                  <a:rPr lang="es-MX" sz="2200" b="1" dirty="0">
                    <a:ea typeface="Roboto" panose="02000000000000000000" pitchFamily="2" charset="0"/>
                  </a:rPr>
                  <a:t> </a:t>
                </a:r>
                <a:r>
                  <a:rPr lang="es-MX" sz="2200" b="1" u="sng" dirty="0">
                    <a:ea typeface="Roboto" panose="02000000000000000000" pitchFamily="2" charset="0"/>
                  </a:rPr>
                  <a:t>estudiante</a:t>
                </a:r>
                <a:r>
                  <a:rPr lang="es-MX" sz="2200" b="1" dirty="0">
                    <a:solidFill>
                      <a:srgbClr val="00B050"/>
                    </a:solidFill>
                    <a:ea typeface="Roboto" panose="02000000000000000000" pitchFamily="2" charset="0"/>
                  </a:rPr>
                  <a:t> de lógica</a:t>
                </a:r>
                <a:r>
                  <a:rPr lang="es-MX" sz="2200" b="1" dirty="0">
                    <a:ea typeface="Roboto" panose="02000000000000000000" pitchFamily="2" charset="0"/>
                  </a:rPr>
                  <a:t> </a:t>
                </a:r>
                <a:r>
                  <a:rPr lang="es-MX" sz="2200" b="1" dirty="0">
                    <a:solidFill>
                      <a:srgbClr val="7030A0"/>
                    </a:solidFill>
                    <a:ea typeface="Roboto" panose="02000000000000000000" pitchFamily="2" charset="0"/>
                  </a:rPr>
                  <a:t>es curioso</a:t>
                </a:r>
                <a:endParaRPr lang="es-CO" sz="2200" b="1" dirty="0">
                  <a:solidFill>
                    <a:srgbClr val="7030A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CuadroTexto 3">
                    <a:extLst>
                      <a:ext uri="{FF2B5EF4-FFF2-40B4-BE49-F238E27FC236}">
                        <a16:creationId xmlns:a16="http://schemas.microsoft.com/office/drawing/2014/main" id="{5CF83903-81F3-4BAF-AA72-C23B7EF08D04}"/>
                      </a:ext>
                    </a:extLst>
                  </p:cNvPr>
                  <p:cNvSpPr txBox="1"/>
                  <p:nvPr/>
                </p:nvSpPr>
                <p:spPr>
                  <a:xfrm>
                    <a:off x="5996128" y="3622826"/>
                    <a:ext cx="19716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CO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</m:oMath>
                      </m:oMathPara>
                    </a14:m>
                    <a:endParaRPr lang="es-CO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CuadroTexto 3">
                    <a:extLst>
                      <a:ext uri="{FF2B5EF4-FFF2-40B4-BE49-F238E27FC236}">
                        <a16:creationId xmlns:a16="http://schemas.microsoft.com/office/drawing/2014/main" id="{5CF83903-81F3-4BAF-AA72-C23B7EF08D0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96128" y="3622826"/>
                    <a:ext cx="197169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5000" r="-28125" b="-4348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CuadroTexto 11">
                    <a:extLst>
                      <a:ext uri="{FF2B5EF4-FFF2-40B4-BE49-F238E27FC236}">
                        <a16:creationId xmlns:a16="http://schemas.microsoft.com/office/drawing/2014/main" id="{C24615F9-7D6C-4789-8D5F-1C868695EE22}"/>
                      </a:ext>
                    </a:extLst>
                  </p:cNvPr>
                  <p:cNvSpPr txBox="1"/>
                  <p:nvPr/>
                </p:nvSpPr>
                <p:spPr>
                  <a:xfrm>
                    <a:off x="7289800" y="3500120"/>
                    <a:ext cx="151323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s-CO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CuadroTexto 11">
                    <a:extLst>
                      <a:ext uri="{FF2B5EF4-FFF2-40B4-BE49-F238E27FC236}">
                        <a16:creationId xmlns:a16="http://schemas.microsoft.com/office/drawing/2014/main" id="{C24615F9-7D6C-4789-8D5F-1C868695EE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89800" y="3500120"/>
                    <a:ext cx="151323" cy="21544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6667" r="-8333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CuadroTexto 12">
                    <a:extLst>
                      <a:ext uri="{FF2B5EF4-FFF2-40B4-BE49-F238E27FC236}">
                        <a16:creationId xmlns:a16="http://schemas.microsoft.com/office/drawing/2014/main" id="{965FAD92-5139-4800-8492-48E5D6C044E2}"/>
                      </a:ext>
                    </a:extLst>
                  </p:cNvPr>
                  <p:cNvSpPr txBox="1"/>
                  <p:nvPr/>
                </p:nvSpPr>
                <p:spPr>
                  <a:xfrm>
                    <a:off x="6527122" y="2535958"/>
                    <a:ext cx="1056379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s-MX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personas</m:t>
                          </m:r>
                        </m:oMath>
                      </m:oMathPara>
                    </a14:m>
                    <a:endParaRPr lang="es-CO" sz="2000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CuadroTexto 12">
                    <a:extLst>
                      <a:ext uri="{FF2B5EF4-FFF2-40B4-BE49-F238E27FC236}">
                        <a16:creationId xmlns:a16="http://schemas.microsoft.com/office/drawing/2014/main" id="{965FAD92-5139-4800-8492-48E5D6C044E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27122" y="2535958"/>
                    <a:ext cx="1056379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5747" r="-4598" b="-26000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CuadroTexto 14">
                    <a:extLst>
                      <a:ext uri="{FF2B5EF4-FFF2-40B4-BE49-F238E27FC236}">
                        <a16:creationId xmlns:a16="http://schemas.microsoft.com/office/drawing/2014/main" id="{FF4CCBFF-F7EC-4CD8-9267-87145D8A77A0}"/>
                      </a:ext>
                    </a:extLst>
                  </p:cNvPr>
                  <p:cNvSpPr txBox="1"/>
                  <p:nvPr/>
                </p:nvSpPr>
                <p:spPr>
                  <a:xfrm>
                    <a:off x="6196454" y="3979660"/>
                    <a:ext cx="2774093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𝐸𝑠𝑡𝑢𝑑𝑖𝑎𝑛𝑡𝑒𝐷𝑒𝐿𝑜𝑔𝑖𝑐𝑎</m:t>
                          </m:r>
                          <m:d>
                            <m:dPr>
                              <m:ctrlPr>
                                <a:rPr lang="es-MX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oMath>
                      </m:oMathPara>
                    </a14:m>
                    <a:endParaRPr lang="es-CO" sz="2000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" name="CuadroTexto 14">
                    <a:extLst>
                      <a:ext uri="{FF2B5EF4-FFF2-40B4-BE49-F238E27FC236}">
                        <a16:creationId xmlns:a16="http://schemas.microsoft.com/office/drawing/2014/main" id="{FF4CCBFF-F7EC-4CD8-9267-87145D8A77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96454" y="3979660"/>
                    <a:ext cx="2774093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637" b="-34000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CuadroTexto 15">
                    <a:extLst>
                      <a:ext uri="{FF2B5EF4-FFF2-40B4-BE49-F238E27FC236}">
                        <a16:creationId xmlns:a16="http://schemas.microsoft.com/office/drawing/2014/main" id="{FB9E4699-D6FE-43D1-8ABB-02723B1C7F4E}"/>
                      </a:ext>
                    </a:extLst>
                  </p:cNvPr>
                  <p:cNvSpPr txBox="1"/>
                  <p:nvPr/>
                </p:nvSpPr>
                <p:spPr>
                  <a:xfrm>
                    <a:off x="8970547" y="3996173"/>
                    <a:ext cx="1314719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𝐶𝑢𝑟𝑖𝑜𝑠𝑜</m:t>
                          </m:r>
                          <m:d>
                            <m:dPr>
                              <m:ctrlPr>
                                <a:rPr lang="es-MX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oMath>
                      </m:oMathPara>
                    </a14:m>
                    <a:endParaRPr lang="es-CO" sz="2000" dirty="0"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CuadroTexto 15">
                    <a:extLst>
                      <a:ext uri="{FF2B5EF4-FFF2-40B4-BE49-F238E27FC236}">
                        <a16:creationId xmlns:a16="http://schemas.microsoft.com/office/drawing/2014/main" id="{FB9E4699-D6FE-43D1-8ABB-02723B1C7F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70547" y="3996173"/>
                    <a:ext cx="1314719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704" b="-5882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" name="Abrir llave 4">
                <a:extLst>
                  <a:ext uri="{FF2B5EF4-FFF2-40B4-BE49-F238E27FC236}">
                    <a16:creationId xmlns:a16="http://schemas.microsoft.com/office/drawing/2014/main" id="{A748C020-FDFA-40F7-852A-287E9BBF3E01}"/>
                  </a:ext>
                </a:extLst>
              </p:cNvPr>
              <p:cNvSpPr/>
              <p:nvPr/>
            </p:nvSpPr>
            <p:spPr>
              <a:xfrm rot="16200000">
                <a:off x="5997070" y="3158792"/>
                <a:ext cx="160020" cy="571240"/>
              </a:xfrm>
              <a:prstGeom prst="leftBrace">
                <a:avLst>
                  <a:gd name="adj1" fmla="val 19872"/>
                  <a:gd name="adj2" fmla="val 50000"/>
                </a:avLst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7" name="Abrir llave 16">
                <a:extLst>
                  <a:ext uri="{FF2B5EF4-FFF2-40B4-BE49-F238E27FC236}">
                    <a16:creationId xmlns:a16="http://schemas.microsoft.com/office/drawing/2014/main" id="{0E2802E7-75DD-4AD3-B909-CCB3063DEFA2}"/>
                  </a:ext>
                </a:extLst>
              </p:cNvPr>
              <p:cNvSpPr/>
              <p:nvPr/>
            </p:nvSpPr>
            <p:spPr>
              <a:xfrm rot="16200000">
                <a:off x="6943423" y="2871337"/>
                <a:ext cx="160020" cy="1269337"/>
              </a:xfrm>
              <a:prstGeom prst="leftBrace">
                <a:avLst>
                  <a:gd name="adj1" fmla="val 19872"/>
                  <a:gd name="adj2" fmla="val 50000"/>
                </a:avLst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8" name="Abrir llave 17">
                <a:extLst>
                  <a:ext uri="{FF2B5EF4-FFF2-40B4-BE49-F238E27FC236}">
                    <a16:creationId xmlns:a16="http://schemas.microsoft.com/office/drawing/2014/main" id="{52359CE9-D8CE-47BA-B629-AD66E190DDE4}"/>
                  </a:ext>
                </a:extLst>
              </p:cNvPr>
              <p:cNvSpPr/>
              <p:nvPr/>
            </p:nvSpPr>
            <p:spPr>
              <a:xfrm rot="16200000">
                <a:off x="7503693" y="2585154"/>
                <a:ext cx="159617" cy="2389477"/>
              </a:xfrm>
              <a:prstGeom prst="leftBrace">
                <a:avLst>
                  <a:gd name="adj1" fmla="val 19872"/>
                  <a:gd name="adj2" fmla="val 50000"/>
                </a:avLst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9" name="Abrir llave 18">
                <a:extLst>
                  <a:ext uri="{FF2B5EF4-FFF2-40B4-BE49-F238E27FC236}">
                    <a16:creationId xmlns:a16="http://schemas.microsoft.com/office/drawing/2014/main" id="{A169114A-D909-4613-941E-A618D8983DFA}"/>
                  </a:ext>
                </a:extLst>
              </p:cNvPr>
              <p:cNvSpPr/>
              <p:nvPr/>
            </p:nvSpPr>
            <p:spPr>
              <a:xfrm rot="16200000">
                <a:off x="9318909" y="3171665"/>
                <a:ext cx="159618" cy="1197444"/>
              </a:xfrm>
              <a:prstGeom prst="leftBrace">
                <a:avLst>
                  <a:gd name="adj1" fmla="val 19872"/>
                  <a:gd name="adj2" fmla="val 50000"/>
                </a:avLst>
              </a:prstGeom>
              <a:ln w="2857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0" name="Abrir llave 19">
                <a:extLst>
                  <a:ext uri="{FF2B5EF4-FFF2-40B4-BE49-F238E27FC236}">
                    <a16:creationId xmlns:a16="http://schemas.microsoft.com/office/drawing/2014/main" id="{A8946AA1-682D-48D6-ACC2-BCB040689360}"/>
                  </a:ext>
                </a:extLst>
              </p:cNvPr>
              <p:cNvSpPr/>
              <p:nvPr/>
            </p:nvSpPr>
            <p:spPr>
              <a:xfrm rot="5400000">
                <a:off x="6952311" y="2442853"/>
                <a:ext cx="142242" cy="1269336"/>
              </a:xfrm>
              <a:prstGeom prst="leftBrace">
                <a:avLst>
                  <a:gd name="adj1" fmla="val 19872"/>
                  <a:gd name="adj2" fmla="val 50000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BE474F38-D25C-484E-A534-7EA2156C0BB5}"/>
                </a:ext>
              </a:extLst>
            </p:cNvPr>
            <p:cNvGrpSpPr/>
            <p:nvPr/>
          </p:nvGrpSpPr>
          <p:grpSpPr>
            <a:xfrm>
              <a:off x="2355561" y="5101637"/>
              <a:ext cx="8021130" cy="400110"/>
              <a:chOff x="2355561" y="5101637"/>
              <a:chExt cx="8021130" cy="40011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CuadroTexto 10">
                    <a:extLst>
                      <a:ext uri="{FF2B5EF4-FFF2-40B4-BE49-F238E27FC236}">
                        <a16:creationId xmlns:a16="http://schemas.microsoft.com/office/drawing/2014/main" id="{C41A18FC-FD3B-4336-AB87-689ED8541FEB}"/>
                      </a:ext>
                    </a:extLst>
                  </p:cNvPr>
                  <p:cNvSpPr txBox="1"/>
                  <p:nvPr/>
                </p:nvSpPr>
                <p:spPr>
                  <a:xfrm>
                    <a:off x="5439121" y="5125955"/>
                    <a:ext cx="4937570" cy="34740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CO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s-MX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𝐸𝑠𝑡𝑢𝑑𝑖𝑎𝑛𝑡𝑒𝐷𝑒𝐿𝑜𝑔𝑖𝑐𝑎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s-MX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𝐶𝑢𝑟𝑖𝑜𝑠𝑜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es-CO" sz="2000" dirty="0"/>
                  </a:p>
                </p:txBody>
              </p:sp>
            </mc:Choice>
            <mc:Fallback xmlns="">
              <p:sp>
                <p:nvSpPr>
                  <p:cNvPr id="11" name="CuadroTexto 10">
                    <a:extLst>
                      <a:ext uri="{FF2B5EF4-FFF2-40B4-BE49-F238E27FC236}">
                        <a16:creationId xmlns:a16="http://schemas.microsoft.com/office/drawing/2014/main" id="{C41A18FC-FD3B-4336-AB87-689ED8541F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39121" y="5125955"/>
                    <a:ext cx="4937570" cy="34740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494" b="-26316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B61CF0A1-FC9B-408A-86BD-0249EEAD1D70}"/>
                  </a:ext>
                </a:extLst>
              </p:cNvPr>
              <p:cNvSpPr txBox="1"/>
              <p:nvPr/>
            </p:nvSpPr>
            <p:spPr>
              <a:xfrm>
                <a:off x="2355561" y="5101637"/>
                <a:ext cx="29464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s-CO" sz="2000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Expresión lógica:</a:t>
                </a:r>
                <a:endParaRPr lang="es-CO" sz="20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AD24EEFA-BEB2-4720-9387-0BE9F8311C25}"/>
                </a:ext>
              </a:extLst>
            </p:cNvPr>
            <p:cNvGrpSpPr/>
            <p:nvPr/>
          </p:nvGrpSpPr>
          <p:grpSpPr>
            <a:xfrm>
              <a:off x="7766050" y="4342401"/>
              <a:ext cx="1835116" cy="647700"/>
              <a:chOff x="7766050" y="4342401"/>
              <a:chExt cx="1835116" cy="647700"/>
            </a:xfrm>
          </p:grpSpPr>
          <p:sp>
            <p:nvSpPr>
              <p:cNvPr id="22" name="Flecha: hacia abajo 21">
                <a:extLst>
                  <a:ext uri="{FF2B5EF4-FFF2-40B4-BE49-F238E27FC236}">
                    <a16:creationId xmlns:a16="http://schemas.microsoft.com/office/drawing/2014/main" id="{3B2C290A-E92B-40EF-81A5-1FFAA9772690}"/>
                  </a:ext>
                </a:extLst>
              </p:cNvPr>
              <p:cNvSpPr/>
              <p:nvPr/>
            </p:nvSpPr>
            <p:spPr>
              <a:xfrm>
                <a:off x="7766050" y="4342401"/>
                <a:ext cx="368300" cy="647700"/>
              </a:xfrm>
              <a:prstGeom prst="downArrow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C81B6041-4F4E-4660-84AE-71BBFEA4F79E}"/>
                  </a:ext>
                </a:extLst>
              </p:cNvPr>
              <p:cNvSpPr txBox="1"/>
              <p:nvPr/>
            </p:nvSpPr>
            <p:spPr>
              <a:xfrm>
                <a:off x="8178766" y="4488141"/>
                <a:ext cx="14224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200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Expresión lógica</a:t>
                </a:r>
                <a:endParaRPr lang="es-CO" sz="1200" dirty="0">
                  <a:solidFill>
                    <a:schemeClr val="bg1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80812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413730" y="324638"/>
            <a:ext cx="1089078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Lenguaje formal .vs. lenguaje informal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310;p34">
                <a:extLst>
                  <a:ext uri="{FF2B5EF4-FFF2-40B4-BE49-F238E27FC236}">
                    <a16:creationId xmlns:a16="http://schemas.microsoft.com/office/drawing/2014/main" id="{02DFBE09-B1C4-4231-A034-EC20CAD799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3730" y="1274139"/>
                <a:ext cx="11275350" cy="42732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584200" indent="-457200">
                  <a:buFont typeface="+mj-lt"/>
                  <a:buAutoNum type="arabicPeriod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Reescriba los siguientes enunciados formales en diferentes formas equivalentes pero de manera más informal. No utilice el símbolo </a:t>
                </a: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o </a:t>
                </a: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</a:t>
                </a:r>
              </a:p>
              <a:p>
                <a:pPr marL="1041400" lvl="1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s-MX" sz="2000" b="0" dirty="0">
                  <a:latin typeface="+mn-lt"/>
                  <a:ea typeface="Cambria Math" panose="02040503050406030204" pitchFamily="18" charset="0"/>
                </a:endParaRPr>
              </a:p>
              <a:p>
                <a:pPr marL="1041400" lvl="1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</m:t>
                    </m:r>
                  </m:oMath>
                </a14:m>
                <a:endParaRPr lang="es-MX" sz="2000" b="0" dirty="0">
                  <a:latin typeface="+mn-lt"/>
                  <a:ea typeface="Cambria Math" panose="02040503050406030204" pitchFamily="18" charset="0"/>
                </a:endParaRPr>
              </a:p>
              <a:p>
                <a:pPr marL="1041400" lvl="1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tal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que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s-MX" sz="2000" b="0" dirty="0">
                  <a:latin typeface="+mn-lt"/>
                  <a:ea typeface="Cambria Math" panose="02040503050406030204" pitchFamily="18" charset="0"/>
                </a:endParaRPr>
              </a:p>
              <a:p>
                <a:pPr marL="584200" indent="-457200">
                  <a:buFont typeface="+mj-lt"/>
                  <a:buAutoNum type="arabicPeriod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Reescriba los enunciados siguientes de tal forma que el cuantificador siga al resto de la frase.</a:t>
                </a:r>
              </a:p>
              <a:p>
                <a:pPr marL="1041400" lvl="1" indent="-457200">
                  <a:buFont typeface="+mj-lt"/>
                  <a:buAutoNum type="alphaLcPeriod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Para cualquier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MX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es par.</a:t>
                </a:r>
              </a:p>
              <a:p>
                <a:pPr marL="1041400" lvl="1" indent="-457200">
                  <a:buFont typeface="+mj-lt"/>
                  <a:buAutoNum type="alphaLcPeriod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Existe al menos un numero real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tal que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s-MX" sz="2000" dirty="0">
                  <a:latin typeface="+mn-lt"/>
                  <a:ea typeface="Cambria Math" panose="02040503050406030204" pitchFamily="18" charset="0"/>
                </a:endParaRPr>
              </a:p>
              <a:p>
                <a:pPr marL="584200" indent="-457200">
                  <a:buFont typeface="+mj-lt"/>
                  <a:buAutoNum type="arabicPeriod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Reescriba cada uno de los siguientes enunciados formalmente. Use cuantificadores y variables.</a:t>
                </a:r>
              </a:p>
              <a:p>
                <a:pPr marL="1041400" lvl="1" indent="-457200">
                  <a:buFont typeface="+mj-lt"/>
                  <a:buAutoNum type="arabicPeriod"/>
                </a:pPr>
                <a:r>
                  <a:rPr lang="es-MX" sz="2000" dirty="0">
                    <a:latin typeface="+mn-lt"/>
                  </a:rPr>
                  <a:t>Todos los triángulos tienen tres lados.</a:t>
                </a:r>
              </a:p>
              <a:p>
                <a:pPr marL="1041400" lvl="1" indent="-457200">
                  <a:buFont typeface="+mj-lt"/>
                  <a:buAutoNum type="arabicPeriod"/>
                </a:pPr>
                <a:r>
                  <a:rPr lang="es-MX" sz="2000" dirty="0">
                    <a:latin typeface="+mn-lt"/>
                  </a:rPr>
                  <a:t>Ningún perro tiene alas.</a:t>
                </a:r>
              </a:p>
              <a:p>
                <a:pPr marL="1041400" lvl="1" indent="-457200">
                  <a:buFont typeface="+mj-lt"/>
                  <a:buAutoNum type="arabicPeriod"/>
                </a:pPr>
                <a:r>
                  <a:rPr lang="es-MX" sz="2000" dirty="0">
                    <a:latin typeface="+mn-lt"/>
                  </a:rPr>
                  <a:t>Algunos programas están estructurados.</a:t>
                </a:r>
              </a:p>
            </p:txBody>
          </p:sp>
        </mc:Choice>
        <mc:Fallback xmlns="">
          <p:sp>
            <p:nvSpPr>
              <p:cNvPr id="9" name="Google Shape;310;p34">
                <a:extLst>
                  <a:ext uri="{FF2B5EF4-FFF2-40B4-BE49-F238E27FC236}">
                    <a16:creationId xmlns:a16="http://schemas.microsoft.com/office/drawing/2014/main" id="{02DFBE09-B1C4-4231-A034-EC20CAD79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30" y="1274139"/>
                <a:ext cx="11275350" cy="4273222"/>
              </a:xfrm>
              <a:prstGeom prst="rect">
                <a:avLst/>
              </a:prstGeom>
              <a:blipFill>
                <a:blip r:embed="rId3"/>
                <a:stretch>
                  <a:fillRect r="-54" b="-25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23676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60659" y="197638"/>
            <a:ext cx="1131403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Lenguaje formal .vs. lenguaje informal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310;p34">
                <a:extLst>
                  <a:ext uri="{FF2B5EF4-FFF2-40B4-BE49-F238E27FC236}">
                    <a16:creationId xmlns:a16="http://schemas.microsoft.com/office/drawing/2014/main" id="{02DFBE09-B1C4-4231-A034-EC20CAD799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7306" y="1045538"/>
                <a:ext cx="10890782" cy="482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584200" indent="-457200">
                  <a:buFont typeface="+mj-lt"/>
                  <a:buAutoNum type="arabicPeriod" startAt="4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Sean:</a:t>
                </a:r>
              </a:p>
              <a:p>
                <a:pPr marL="584200" lvl="1" indent="0">
                  <a:buNone/>
                </a:pPr>
                <a:endParaRPr lang="es-MX" sz="2000" dirty="0">
                  <a:latin typeface="+mn-lt"/>
                </a:endParaRPr>
              </a:p>
              <a:p>
                <a:pPr marL="1498600" lvl="3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es</m:t>
                          </m:r>
                          <m: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un</m:t>
                          </m:r>
                          <m: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habitante</m:t>
                          </m:r>
                          <m: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del</m:t>
                          </m:r>
                          <m: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continente</m:t>
                          </m:r>
                          <m: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africano</m:t>
                          </m:r>
                        </m:e>
                      </m:d>
                    </m:oMath>
                  </m:oMathPara>
                </a14:m>
                <a:endParaRPr lang="es-MX" sz="2000" b="0" dirty="0">
                  <a:latin typeface="+mn-lt"/>
                </a:endParaRPr>
              </a:p>
              <a:p>
                <a:pPr marL="1498600" lvl="3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</a:rPr>
                        <m:t>"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</a:rPr>
                        <m:t>Hablan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</a:rPr>
                        <m:t>frances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</a:rPr>
                        <m:t>"</m:t>
                      </m:r>
                    </m:oMath>
                  </m:oMathPara>
                </a14:m>
                <a:endParaRPr lang="es-MX" sz="2000" dirty="0">
                  <a:latin typeface="+mn-lt"/>
                </a:endParaRPr>
              </a:p>
              <a:p>
                <a:pPr marL="584200" lvl="1" indent="0">
                  <a:buNone/>
                </a:pPr>
                <a:endParaRPr lang="es-MX" sz="2000" dirty="0">
                  <a:latin typeface="+mn-lt"/>
                </a:endParaRPr>
              </a:p>
              <a:p>
                <a:pPr marL="584200" lvl="1" indent="0">
                  <a:buNone/>
                </a:pPr>
                <a:r>
                  <a:rPr lang="es-MX" sz="2000" dirty="0">
                    <a:latin typeface="+mn-lt"/>
                  </a:rPr>
                  <a:t>Si </a:t>
                </a:r>
                <a14:m>
                  <m:oMath xmlns:m="http://schemas.openxmlformats.org/officeDocument/2006/math">
                    <m:r>
                      <a:rPr lang="es-MX" sz="2000" b="1" i="1" smtClean="0">
                        <a:latin typeface="Cambria Math" panose="02040503050406030204" pitchFamily="18" charset="0"/>
                      </a:rPr>
                      <m:t>𝒑</m:t>
                    </m:r>
                    <m:d>
                      <m:dPr>
                        <m:ctrlPr>
                          <a:rPr lang="es-MX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MX" sz="2000" b="0" i="0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</a:rPr>
                      <m:t>habla</m:t>
                    </m:r>
                    <m:r>
                      <a:rPr lang="es-MX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</a:rPr>
                      <m:t>frances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endParaRPr lang="es-MX" sz="2000" dirty="0">
                  <a:latin typeface="+mn-lt"/>
                </a:endParaRPr>
              </a:p>
              <a:p>
                <a:pPr marL="584200" lvl="1" indent="0">
                  <a:buNone/>
                </a:pPr>
                <a:endParaRPr lang="es-MX" sz="2000" dirty="0">
                  <a:latin typeface="+mn-lt"/>
                </a:endParaRPr>
              </a:p>
              <a:p>
                <a:pPr marL="584200" lvl="1" indent="0">
                  <a:buNone/>
                </a:pPr>
                <a:r>
                  <a:rPr lang="es-MX" sz="2000" dirty="0">
                    <a:latin typeface="+mn-lt"/>
                  </a:rPr>
                  <a:t>Escriba en lenguaje informar las siguientes expresiones formales: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s-MX" sz="2000" b="0" dirty="0">
                  <a:latin typeface="+mn-lt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MX" sz="2000" dirty="0">
                  <a:latin typeface="+mn-lt"/>
                </a:endParaRPr>
              </a:p>
              <a:p>
                <a:pPr lvl="1"/>
                <a:endParaRPr lang="es-MX" sz="2000" dirty="0">
                  <a:latin typeface="+mn-lt"/>
                </a:endParaRPr>
              </a:p>
              <a:p>
                <a:pPr marL="584200" indent="-457200">
                  <a:buFont typeface="+mj-lt"/>
                  <a:buAutoNum type="arabicPeriod" startAt="5"/>
                </a:pPr>
                <a:r>
                  <a:rPr lang="es-MX" sz="2000" dirty="0">
                    <a:latin typeface="+mn-lt"/>
                  </a:rPr>
                  <a:t>Traduzca la siguiente oración a lógica de predicados: “Todos los estudiantes de esta clase han tomado un curso de Java”.</a:t>
                </a:r>
              </a:p>
              <a:p>
                <a:pPr marL="584200" indent="-457200">
                  <a:buFont typeface="+mj-lt"/>
                  <a:buAutoNum type="arabicPeriod" startAt="5"/>
                </a:pPr>
                <a:r>
                  <a:rPr lang="es-MX" sz="2000" dirty="0">
                    <a:latin typeface="+mn-lt"/>
                  </a:rPr>
                  <a:t>Traduzca la siguiente oración a lógica de predicados: “Algún estudiante de esta clase ha tomado un curso de Java”.</a:t>
                </a:r>
              </a:p>
            </p:txBody>
          </p:sp>
        </mc:Choice>
        <mc:Fallback xmlns="">
          <p:sp>
            <p:nvSpPr>
              <p:cNvPr id="9" name="Google Shape;310;p34">
                <a:extLst>
                  <a:ext uri="{FF2B5EF4-FFF2-40B4-BE49-F238E27FC236}">
                    <a16:creationId xmlns:a16="http://schemas.microsoft.com/office/drawing/2014/main" id="{02DFBE09-B1C4-4231-A034-EC20CAD79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06" y="1045538"/>
                <a:ext cx="10890782" cy="4826713"/>
              </a:xfrm>
              <a:prstGeom prst="rect">
                <a:avLst/>
              </a:prstGeom>
              <a:blipFill>
                <a:blip r:embed="rId3"/>
                <a:stretch>
                  <a:fillRect b="-79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25363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98490" y="187478"/>
            <a:ext cx="1144299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Lenguaje formal .vs. lenguaje informal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5" name="Google Shape;310;p34">
            <a:extLst>
              <a:ext uri="{FF2B5EF4-FFF2-40B4-BE49-F238E27FC236}">
                <a16:creationId xmlns:a16="http://schemas.microsoft.com/office/drawing/2014/main" id="{BF996000-E2F9-4449-AD78-D505CA130289}"/>
              </a:ext>
            </a:extLst>
          </p:cNvPr>
          <p:cNvSpPr txBox="1">
            <a:spLocks/>
          </p:cNvSpPr>
          <p:nvPr/>
        </p:nvSpPr>
        <p:spPr>
          <a:xfrm>
            <a:off x="398490" y="1136978"/>
            <a:ext cx="8593110" cy="2728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584200" indent="-457200">
              <a:buFont typeface="+mj-lt"/>
              <a:buAutoNum type="arabicPeriod" startAt="7"/>
            </a:pPr>
            <a:r>
              <a:rPr lang="es-MX" sz="2000" dirty="0">
                <a:latin typeface="+mn-lt"/>
              </a:rPr>
              <a:t>Tenemos las siguientes premisas:</a:t>
            </a:r>
          </a:p>
          <a:p>
            <a:pPr lvl="1"/>
            <a:r>
              <a:rPr lang="es-MX" sz="2000" dirty="0">
                <a:latin typeface="+mn-lt"/>
              </a:rPr>
              <a:t>“Todos los hombres son mortales”</a:t>
            </a:r>
          </a:p>
          <a:p>
            <a:pPr lvl="1"/>
            <a:r>
              <a:rPr lang="es-MX" sz="2000" dirty="0">
                <a:latin typeface="+mn-lt"/>
              </a:rPr>
              <a:t>“Sócrates es un hombre”</a:t>
            </a:r>
          </a:p>
          <a:p>
            <a:pPr lvl="1"/>
            <a:endParaRPr lang="es-MX" sz="2000" dirty="0">
              <a:latin typeface="+mn-lt"/>
            </a:endParaRPr>
          </a:p>
          <a:p>
            <a:pPr marL="584200" lvl="1" indent="0">
              <a:buNone/>
            </a:pPr>
            <a:r>
              <a:rPr lang="es-MX" sz="2000" dirty="0">
                <a:latin typeface="+mn-lt"/>
              </a:rPr>
              <a:t>Y la siguiente conclusión: “Sócrates es Mortal”</a:t>
            </a:r>
          </a:p>
          <a:p>
            <a:pPr marL="584200" lvl="1" indent="0">
              <a:buNone/>
            </a:pPr>
            <a:endParaRPr lang="es-MX" sz="2000" dirty="0">
              <a:latin typeface="+mn-lt"/>
            </a:endParaRPr>
          </a:p>
          <a:p>
            <a:pPr marL="584200" lvl="1" indent="0">
              <a:buNone/>
            </a:pPr>
            <a:r>
              <a:rPr lang="es-MX" sz="2000" dirty="0">
                <a:latin typeface="+mn-lt"/>
              </a:rPr>
              <a:t>¿Como es la representación en lógica cuantificacional de las premisas y la conclusión?</a:t>
            </a:r>
          </a:p>
          <a:p>
            <a:pPr marL="584200" lvl="1" indent="0">
              <a:buNone/>
            </a:pPr>
            <a:endParaRPr lang="es-MX" sz="2000" dirty="0">
              <a:latin typeface="+mn-lt"/>
            </a:endParaRPr>
          </a:p>
          <a:p>
            <a:pPr marL="584200" lvl="1" indent="0">
              <a:buNone/>
            </a:pPr>
            <a:endParaRPr lang="es-MX" sz="2000" dirty="0">
              <a:latin typeface="+mn-lt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CA570E02-E237-4AD5-8BF0-2EC819699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638" y="1427024"/>
            <a:ext cx="2051804" cy="214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925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84570" y="96038"/>
            <a:ext cx="1089078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1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876C1472-3150-454C-9C42-4CA3CB210A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570" y="862658"/>
                <a:ext cx="10890782" cy="16535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584200" indent="-457200">
                  <a:buFont typeface="+mj-lt"/>
                  <a:buAutoNum type="arabicPeriod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Reescriba los siguientes enunciados formales en diferentes formas equivalentes pero de manera más informal. No utilice el símbolo </a:t>
                </a: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o </a:t>
                </a: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</a:t>
                </a:r>
              </a:p>
              <a:p>
                <a:pPr marL="1041400" lvl="1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s-MX" sz="1800" b="0" dirty="0">
                  <a:latin typeface="+mn-lt"/>
                  <a:ea typeface="Cambria Math" panose="02040503050406030204" pitchFamily="18" charset="0"/>
                </a:endParaRPr>
              </a:p>
              <a:p>
                <a:pPr marL="1041400" lvl="1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</m:t>
                    </m:r>
                  </m:oMath>
                </a14:m>
                <a:endParaRPr lang="es-MX" sz="1800" b="0" dirty="0">
                  <a:latin typeface="+mn-lt"/>
                  <a:ea typeface="Cambria Math" panose="02040503050406030204" pitchFamily="18" charset="0"/>
                </a:endParaRPr>
              </a:p>
              <a:p>
                <a:pPr marL="1041400" lvl="1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tal</m:t>
                    </m:r>
                    <m:r>
                      <a:rPr lang="es-MX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que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s-MX" sz="1800" b="0" dirty="0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876C1472-3150-454C-9C42-4CA3CB210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570" y="862658"/>
                <a:ext cx="10890782" cy="1653527"/>
              </a:xfrm>
              <a:prstGeom prst="rect">
                <a:avLst/>
              </a:prstGeom>
              <a:blipFill>
                <a:blip r:embed="rId3"/>
                <a:stretch>
                  <a:fillRect b="-84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310;p34">
            <a:extLst>
              <a:ext uri="{FF2B5EF4-FFF2-40B4-BE49-F238E27FC236}">
                <a16:creationId xmlns:a16="http://schemas.microsoft.com/office/drawing/2014/main" id="{639448D4-1D18-4F78-8E9C-1FE0A6F4284B}"/>
              </a:ext>
            </a:extLst>
          </p:cNvPr>
          <p:cNvSpPr txBox="1">
            <a:spLocks/>
          </p:cNvSpPr>
          <p:nvPr/>
        </p:nvSpPr>
        <p:spPr>
          <a:xfrm>
            <a:off x="384570" y="2632299"/>
            <a:ext cx="10890782" cy="46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latin typeface="+mn-lt"/>
                <a:ea typeface="Roboto" panose="02000000000000000000" pitchFamily="2" charset="0"/>
              </a:rPr>
              <a:t>Solución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656673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84570" y="96038"/>
            <a:ext cx="1089078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1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Google Shape;310;p34">
            <a:extLst>
              <a:ext uri="{FF2B5EF4-FFF2-40B4-BE49-F238E27FC236}">
                <a16:creationId xmlns:a16="http://schemas.microsoft.com/office/drawing/2014/main" id="{639448D4-1D18-4F78-8E9C-1FE0A6F4284B}"/>
              </a:ext>
            </a:extLst>
          </p:cNvPr>
          <p:cNvSpPr txBox="1">
            <a:spLocks/>
          </p:cNvSpPr>
          <p:nvPr/>
        </p:nvSpPr>
        <p:spPr>
          <a:xfrm>
            <a:off x="384570" y="812578"/>
            <a:ext cx="10890782" cy="46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latin typeface="+mn-lt"/>
                <a:ea typeface="Roboto" panose="02000000000000000000" pitchFamily="2" charset="0"/>
              </a:rPr>
              <a:t>Solución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: En la siguiente tabla se resumen los resultados:</a:t>
            </a:r>
          </a:p>
          <a:p>
            <a:pPr marL="127000" indent="0">
              <a:buNone/>
            </a:pPr>
            <a:endParaRPr lang="es-MX" sz="2000" dirty="0">
              <a:latin typeface="+mn-lt"/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a 2">
                <a:extLst>
                  <a:ext uri="{FF2B5EF4-FFF2-40B4-BE49-F238E27FC236}">
                    <a16:creationId xmlns:a16="http://schemas.microsoft.com/office/drawing/2014/main" id="{D1964DE8-E8ED-46BB-A4CD-B961E6B504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1098035"/>
                  </p:ext>
                </p:extLst>
              </p:nvPr>
            </p:nvGraphicFramePr>
            <p:xfrm>
              <a:off x="384570" y="1417802"/>
              <a:ext cx="11324170" cy="524256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095887">
                      <a:extLst>
                        <a:ext uri="{9D8B030D-6E8A-4147-A177-3AD203B41FA5}">
                          <a16:colId xmlns:a16="http://schemas.microsoft.com/office/drawing/2014/main" val="3040117851"/>
                        </a:ext>
                      </a:extLst>
                    </a:gridCol>
                    <a:gridCol w="2530975">
                      <a:extLst>
                        <a:ext uri="{9D8B030D-6E8A-4147-A177-3AD203B41FA5}">
                          <a16:colId xmlns:a16="http://schemas.microsoft.com/office/drawing/2014/main" val="233515387"/>
                        </a:ext>
                      </a:extLst>
                    </a:gridCol>
                    <a:gridCol w="7697308">
                      <a:extLst>
                        <a:ext uri="{9D8B030D-6E8A-4147-A177-3AD203B41FA5}">
                          <a16:colId xmlns:a16="http://schemas.microsoft.com/office/drawing/2014/main" val="1526639365"/>
                        </a:ext>
                      </a:extLst>
                    </a:gridCol>
                  </a:tblGrid>
                  <a:tr h="139116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Numeral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Lenguaje formal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Lenguaje informal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339265"/>
                      </a:ext>
                    </a:extLst>
                  </a:tr>
                  <a:tr h="2822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a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ℝ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Todos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los números reales tienen cuadrados no negativos.</a:t>
                          </a:r>
                        </a:p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Todo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numero real tiene un cuadrado no negativo</a:t>
                          </a:r>
                        </a:p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Cualquier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numero real tiene un cuadrado no negativo.</a:t>
                          </a:r>
                        </a:p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El cuadrado de </a:t>
                          </a: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todo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numero real es no negativo.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9415664"/>
                      </a:ext>
                    </a:extLst>
                  </a:tr>
                  <a:tr h="2822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b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ℝ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≠1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Todos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los números reales tienen cuadrados que no son iguales a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−1</m:t>
                              </m:r>
                            </m:oMath>
                          </a14:m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.</a:t>
                          </a:r>
                        </a:p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No hay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números reales que tengan cuadrados iguales a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−1</m:t>
                              </m:r>
                            </m:oMath>
                          </a14:m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.</a:t>
                          </a:r>
                        </a:p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endParaRPr lang="es-MX" sz="2000" b="1" i="0" u="none" strike="noStrike" cap="none" baseline="0" dirty="0">
                            <a:solidFill>
                              <a:srgbClr val="000000"/>
                            </a:solidFill>
                            <a:latin typeface="+mn-lt"/>
                            <a:ea typeface="Roboto" panose="02000000000000000000" pitchFamily="2" charset="0"/>
                            <a:cs typeface="Arial"/>
                            <a:sym typeface="Arial"/>
                          </a:endParaRPr>
                        </a:p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Nota importante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: Las palabras </a:t>
                          </a:r>
                          <a:r>
                            <a:rPr lang="es-MX" sz="2000" b="1" i="1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ninguno es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o </a:t>
                          </a:r>
                          <a:r>
                            <a:rPr lang="es-MX" sz="2000" b="1" i="1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no … son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son equivalentes a las palabras </a:t>
                          </a:r>
                          <a:r>
                            <a:rPr lang="es-MX" sz="2000" b="1" i="1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todos no son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).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542563"/>
                      </a:ext>
                    </a:extLst>
                  </a:tr>
                  <a:tr h="2822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c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ℤ</m:t>
                                    </m:r>
                                  </m:e>
                                  <m:sup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tal</m:t>
                                </m:r>
                                <m:r>
                                  <a:rPr lang="es-MX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que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Hay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un entero positivo cuyo cuadrado es igual a si mismo.</a:t>
                          </a:r>
                        </a:p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Se puede encontrar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al menos un numero entero positivo igual a su propio cuadrado</a:t>
                          </a:r>
                        </a:p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Algún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entero positivo es igual a su propio cuadrado.</a:t>
                          </a:r>
                        </a:p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Algunos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números enteros positivos son iguales a sus propios cuadrados.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55346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a 2">
                <a:extLst>
                  <a:ext uri="{FF2B5EF4-FFF2-40B4-BE49-F238E27FC236}">
                    <a16:creationId xmlns:a16="http://schemas.microsoft.com/office/drawing/2014/main" id="{D1964DE8-E8ED-46BB-A4CD-B961E6B504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1098035"/>
                  </p:ext>
                </p:extLst>
              </p:nvPr>
            </p:nvGraphicFramePr>
            <p:xfrm>
              <a:off x="384570" y="1417802"/>
              <a:ext cx="11324170" cy="524256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095887">
                      <a:extLst>
                        <a:ext uri="{9D8B030D-6E8A-4147-A177-3AD203B41FA5}">
                          <a16:colId xmlns:a16="http://schemas.microsoft.com/office/drawing/2014/main" val="3040117851"/>
                        </a:ext>
                      </a:extLst>
                    </a:gridCol>
                    <a:gridCol w="2530975">
                      <a:extLst>
                        <a:ext uri="{9D8B030D-6E8A-4147-A177-3AD203B41FA5}">
                          <a16:colId xmlns:a16="http://schemas.microsoft.com/office/drawing/2014/main" val="233515387"/>
                        </a:ext>
                      </a:extLst>
                    </a:gridCol>
                    <a:gridCol w="7697308">
                      <a:extLst>
                        <a:ext uri="{9D8B030D-6E8A-4147-A177-3AD203B41FA5}">
                          <a16:colId xmlns:a16="http://schemas.microsoft.com/office/drawing/2014/main" val="152663936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Numeral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Lenguaje formal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Lenguaje informal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339265"/>
                      </a:ext>
                    </a:extLst>
                  </a:tr>
                  <a:tr h="1310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a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614" t="-32558" r="-304819" b="-2786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Todos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los números reales tienen cuadrados no negativos.</a:t>
                          </a:r>
                        </a:p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Todo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numero real tiene un cuadrado no negativo</a:t>
                          </a:r>
                        </a:p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Cualquier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numero real tiene un cuadrado no negativo.</a:t>
                          </a:r>
                        </a:p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El cuadrado de </a:t>
                          </a: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todo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numero real es no negativo.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9415664"/>
                      </a:ext>
                    </a:extLst>
                  </a:tr>
                  <a:tr h="16154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b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614" t="-107143" r="-304819" b="-125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7189" t="-107143" r="-158" b="-125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542563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c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614" t="-174921" r="-304819" b="-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Hay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un entero positivo cuyo cuadrado es igual a si mismo.</a:t>
                          </a:r>
                        </a:p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Se puede encontrar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al menos un numero entero positivo igual a su propio cuadrado</a:t>
                          </a:r>
                        </a:p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Algún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entero positivo es igual a su propio cuadrado.</a:t>
                          </a:r>
                        </a:p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Algunos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números enteros positivos son iguales a sus propios cuadrados.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55346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720729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60659" y="96038"/>
            <a:ext cx="885999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2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651D91B3-61C2-4E51-9097-6C4F12FC7B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0659" y="1039516"/>
                <a:ext cx="10890782" cy="13096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Reescriba los enunciados siguientes empleando lenguaje formal.</a:t>
                </a:r>
              </a:p>
              <a:p>
                <a:pPr marL="584200" indent="-457200">
                  <a:buFont typeface="+mj-lt"/>
                  <a:buAutoNum type="alphaLcPeriod"/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Para cualquier </a:t>
                </a:r>
                <a14:m>
                  <m:oMath xmlns:m="http://schemas.openxmlformats.org/officeDocument/2006/math"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MX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es par.</a:t>
                </a:r>
              </a:p>
              <a:p>
                <a:pPr marL="584200" indent="-457200">
                  <a:buFont typeface="+mj-lt"/>
                  <a:buAutoNum type="alphaLcPeriod"/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Existe al menos un numero real </a:t>
                </a:r>
                <a14:m>
                  <m:oMath xmlns:m="http://schemas.openxmlformats.org/officeDocument/2006/math"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tal que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MX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</m:t>
                    </m:r>
                  </m:oMath>
                </a14:m>
                <a:endParaRPr lang="es-MX" sz="2200" dirty="0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651D91B3-61C2-4E51-9097-6C4F12FC7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59" y="1039516"/>
                <a:ext cx="10890782" cy="1309681"/>
              </a:xfrm>
              <a:prstGeom prst="rect">
                <a:avLst/>
              </a:prstGeom>
              <a:blipFill>
                <a:blip r:embed="rId3"/>
                <a:stretch>
                  <a:fillRect b="-135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67885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60659" y="96038"/>
            <a:ext cx="885999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2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Google Shape;310;p34">
            <a:extLst>
              <a:ext uri="{FF2B5EF4-FFF2-40B4-BE49-F238E27FC236}">
                <a16:creationId xmlns:a16="http://schemas.microsoft.com/office/drawing/2014/main" id="{FFACCAA3-F92A-472D-8B56-DAC79E2234A3}"/>
              </a:ext>
            </a:extLst>
          </p:cNvPr>
          <p:cNvSpPr txBox="1">
            <a:spLocks/>
          </p:cNvSpPr>
          <p:nvPr/>
        </p:nvSpPr>
        <p:spPr>
          <a:xfrm>
            <a:off x="244545" y="812578"/>
            <a:ext cx="10890782" cy="46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latin typeface="+mn-lt"/>
                <a:ea typeface="Roboto" panose="02000000000000000000" pitchFamily="2" charset="0"/>
              </a:rPr>
              <a:t>Solución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: En la siguiente tabla se resumen los resultados:</a:t>
            </a:r>
          </a:p>
          <a:p>
            <a:pPr marL="127000" indent="0">
              <a:buNone/>
            </a:pPr>
            <a:endParaRPr lang="es-MX" sz="2000" dirty="0">
              <a:latin typeface="+mn-lt"/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a 2">
                <a:extLst>
                  <a:ext uri="{FF2B5EF4-FFF2-40B4-BE49-F238E27FC236}">
                    <a16:creationId xmlns:a16="http://schemas.microsoft.com/office/drawing/2014/main" id="{8B38145D-EABA-4CD0-950E-B414E7E251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4586743"/>
                  </p:ext>
                </p:extLst>
              </p:nvPr>
            </p:nvGraphicFramePr>
            <p:xfrm>
              <a:off x="558041" y="1762078"/>
              <a:ext cx="10693400" cy="362712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111102">
                      <a:extLst>
                        <a:ext uri="{9D8B030D-6E8A-4147-A177-3AD203B41FA5}">
                          <a16:colId xmlns:a16="http://schemas.microsoft.com/office/drawing/2014/main" val="3040117851"/>
                        </a:ext>
                      </a:extLst>
                    </a:gridCol>
                    <a:gridCol w="2724403">
                      <a:extLst>
                        <a:ext uri="{9D8B030D-6E8A-4147-A177-3AD203B41FA5}">
                          <a16:colId xmlns:a16="http://schemas.microsoft.com/office/drawing/2014/main" val="233515387"/>
                        </a:ext>
                      </a:extLst>
                    </a:gridCol>
                    <a:gridCol w="6857895">
                      <a:extLst>
                        <a:ext uri="{9D8B030D-6E8A-4147-A177-3AD203B41FA5}">
                          <a16:colId xmlns:a16="http://schemas.microsoft.com/office/drawing/2014/main" val="1526639365"/>
                        </a:ext>
                      </a:extLst>
                    </a:gridCol>
                  </a:tblGrid>
                  <a:tr h="282288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Numeral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Lenguaje informal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Lenguaje formal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339265"/>
                      </a:ext>
                    </a:extLst>
                  </a:tr>
                  <a:tr h="2822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a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Para cualquier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MX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es par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Dominio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: Enteros.</a:t>
                          </a:r>
                        </a:p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Predicado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:"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𝑥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es</m:t>
                              </m:r>
                              <m: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par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"</m:t>
                              </m:r>
                            </m:oMath>
                          </a14:m>
                          <a:endParaRPr lang="es-MX" sz="2000" b="0" i="0" u="none" strike="noStrike" cap="none" baseline="0" dirty="0">
                            <a:solidFill>
                              <a:srgbClr val="000000"/>
                            </a:solidFill>
                            <a:latin typeface="+mn-lt"/>
                            <a:ea typeface="Roboto" panose="02000000000000000000" pitchFamily="2" charset="0"/>
                            <a:cs typeface="Arial"/>
                            <a:sym typeface="Arial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endParaRPr lang="es-MX" sz="2000" i="1" dirty="0">
                            <a:latin typeface="+mn-lt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ℤ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2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es</m:t>
                                </m:r>
                                <m:r>
                                  <a:rPr lang="es-MX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par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ℤ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2000" i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endParaRPr lang="es-CO" sz="2000" i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9415664"/>
                      </a:ext>
                    </a:extLst>
                  </a:tr>
                  <a:tr h="2822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b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Existe al menos un numero real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tal que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MX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MX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≤0</m:t>
                              </m:r>
                            </m:oMath>
                          </a14:m>
                          <a:endParaRPr lang="es-MX" sz="2000" dirty="0">
                            <a:latin typeface="+mn-lt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Dominio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: Reales.</a:t>
                          </a:r>
                        </a:p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Predicado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:"</m:t>
                              </m:r>
                              <m:sSup>
                                <m:sSupPr>
                                  <m:ctrlP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</m:ctrlPr>
                                </m:sSupPr>
                                <m:e>
                                  <m: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≤0"</m:t>
                              </m:r>
                            </m:oMath>
                          </a14:m>
                          <a:endParaRPr lang="es-MX" sz="2000" b="0" i="0" u="none" strike="noStrike" cap="none" baseline="0" dirty="0">
                            <a:solidFill>
                              <a:srgbClr val="000000"/>
                            </a:solidFill>
                            <a:latin typeface="+mn-lt"/>
                            <a:ea typeface="Roboto" panose="02000000000000000000" pitchFamily="2" charset="0"/>
                            <a:cs typeface="Arial"/>
                            <a:sym typeface="Arial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endParaRPr lang="es-MX" sz="2000" i="1" dirty="0">
                            <a:latin typeface="+mn-lt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ℝ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s-MX" sz="2000" b="0" i="1" u="none" strike="noStrike" cap="none" baseline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  <a:cs typeface="Arial"/>
                                        <a:sym typeface="Arial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2000" b="0" i="1" u="none" strike="noStrike" cap="none" baseline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  <a:cs typeface="Arial"/>
                                        <a:sym typeface="Arial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MX" sz="2000" b="0" i="1" u="none" strike="noStrike" cap="none" baseline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  <a:cs typeface="Arial"/>
                                        <a:sym typeface="Arial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MX" sz="2000" b="0" i="1" u="none" strike="noStrike" cap="none" baseline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  <a:cs typeface="Arial"/>
                                    <a:sym typeface="Arial"/>
                                  </a:rPr>
                                  <m:t>≤0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ℝ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MX" sz="2000" b="0" i="1" u="none" strike="noStrike" cap="none" baseline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  <a:cs typeface="Arial"/>
                                    <a:sym typeface="Arial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s-MX" sz="2000" b="0" i="1" u="none" strike="noStrike" cap="none" baseline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  <a:cs typeface="Arial"/>
                                        <a:sym typeface="Arial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u="none" strike="noStrike" cap="none" baseline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  <a:cs typeface="Arial"/>
                                        <a:sym typeface="Arial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5425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a 2">
                <a:extLst>
                  <a:ext uri="{FF2B5EF4-FFF2-40B4-BE49-F238E27FC236}">
                    <a16:creationId xmlns:a16="http://schemas.microsoft.com/office/drawing/2014/main" id="{8B38145D-EABA-4CD0-950E-B414E7E251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4586743"/>
                  </p:ext>
                </p:extLst>
              </p:nvPr>
            </p:nvGraphicFramePr>
            <p:xfrm>
              <a:off x="558041" y="1762078"/>
              <a:ext cx="10693400" cy="362712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111102">
                      <a:extLst>
                        <a:ext uri="{9D8B030D-6E8A-4147-A177-3AD203B41FA5}">
                          <a16:colId xmlns:a16="http://schemas.microsoft.com/office/drawing/2014/main" val="3040117851"/>
                        </a:ext>
                      </a:extLst>
                    </a:gridCol>
                    <a:gridCol w="2724403">
                      <a:extLst>
                        <a:ext uri="{9D8B030D-6E8A-4147-A177-3AD203B41FA5}">
                          <a16:colId xmlns:a16="http://schemas.microsoft.com/office/drawing/2014/main" val="233515387"/>
                        </a:ext>
                      </a:extLst>
                    </a:gridCol>
                    <a:gridCol w="6857895">
                      <a:extLst>
                        <a:ext uri="{9D8B030D-6E8A-4147-A177-3AD203B41FA5}">
                          <a16:colId xmlns:a16="http://schemas.microsoft.com/office/drawing/2014/main" val="152663936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Numeral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Lenguaje informal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Lenguaje formal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339265"/>
                      </a:ext>
                    </a:extLst>
                  </a:tr>
                  <a:tr h="16154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a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940" t="-26316" r="-25234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950" t="-26316" r="-17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9415664"/>
                      </a:ext>
                    </a:extLst>
                  </a:tr>
                  <a:tr h="16154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b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940" t="-126792" r="-252349" b="-3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5950" t="-126792" r="-178" b="-3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5425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497645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82880" y="96038"/>
            <a:ext cx="903777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3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Google Shape;310;p34">
            <a:extLst>
              <a:ext uri="{FF2B5EF4-FFF2-40B4-BE49-F238E27FC236}">
                <a16:creationId xmlns:a16="http://schemas.microsoft.com/office/drawing/2014/main" id="{651D91B3-61C2-4E51-9097-6C4F12FC7BA9}"/>
              </a:ext>
            </a:extLst>
          </p:cNvPr>
          <p:cNvSpPr txBox="1">
            <a:spLocks/>
          </p:cNvSpPr>
          <p:nvPr/>
        </p:nvSpPr>
        <p:spPr>
          <a:xfrm>
            <a:off x="182880" y="973712"/>
            <a:ext cx="11491814" cy="180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dirty="0">
                <a:latin typeface="+mn-lt"/>
                <a:ea typeface="Roboto" panose="02000000000000000000" pitchFamily="2" charset="0"/>
              </a:rPr>
              <a:t>Reescriba cada uno de los siguientes enunciados formalmente. Use cuantificadores y variables.</a:t>
            </a:r>
          </a:p>
          <a:p>
            <a:pPr marL="584200" indent="-457200">
              <a:buFont typeface="+mj-lt"/>
              <a:buAutoNum type="alphaLcPeriod"/>
            </a:pPr>
            <a:r>
              <a:rPr lang="es-MX" sz="2000" dirty="0">
                <a:latin typeface="+mn-lt"/>
              </a:rPr>
              <a:t>Todos los triángulos tienen tres lados.</a:t>
            </a:r>
          </a:p>
          <a:p>
            <a:pPr marL="584200" indent="-457200">
              <a:buFont typeface="+mj-lt"/>
              <a:buAutoNum type="alphaLcPeriod"/>
            </a:pPr>
            <a:r>
              <a:rPr lang="es-MX" sz="2000" dirty="0">
                <a:latin typeface="+mn-lt"/>
              </a:rPr>
              <a:t>Ningún perro tiene alas.</a:t>
            </a:r>
          </a:p>
          <a:p>
            <a:pPr marL="584200" indent="-457200">
              <a:buFont typeface="+mj-lt"/>
              <a:buAutoNum type="alphaLcPeriod"/>
            </a:pPr>
            <a:r>
              <a:rPr lang="es-MX" sz="2000" dirty="0">
                <a:latin typeface="+mn-lt"/>
              </a:rPr>
              <a:t>Algunos programas están estructurados.</a:t>
            </a:r>
          </a:p>
          <a:p>
            <a:pPr marL="1041400" lvl="1" indent="-457200">
              <a:buFont typeface="+mj-lt"/>
              <a:buAutoNum type="alphaLcPeriod"/>
            </a:pPr>
            <a:endParaRPr lang="es-MX" sz="1800" dirty="0">
              <a:latin typeface="Roboto" panose="02000000000000000000" pitchFamily="2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1760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182880" y="96038"/>
            <a:ext cx="903777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3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Google Shape;310;p34">
            <a:extLst>
              <a:ext uri="{FF2B5EF4-FFF2-40B4-BE49-F238E27FC236}">
                <a16:creationId xmlns:a16="http://schemas.microsoft.com/office/drawing/2014/main" id="{FFACCAA3-F92A-472D-8B56-DAC79E2234A3}"/>
              </a:ext>
            </a:extLst>
          </p:cNvPr>
          <p:cNvSpPr txBox="1">
            <a:spLocks/>
          </p:cNvSpPr>
          <p:nvPr/>
        </p:nvSpPr>
        <p:spPr>
          <a:xfrm>
            <a:off x="182880" y="1045538"/>
            <a:ext cx="10890782" cy="46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latin typeface="+mn-lt"/>
                <a:ea typeface="Roboto" panose="02000000000000000000" pitchFamily="2" charset="0"/>
              </a:rPr>
              <a:t>Solución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: En la siguiente tabla se resumen los resultados:</a:t>
            </a:r>
          </a:p>
          <a:p>
            <a:pPr marL="127000" indent="0">
              <a:buNone/>
            </a:pPr>
            <a:endParaRPr lang="es-MX" sz="1800" dirty="0">
              <a:latin typeface="+mn-lt"/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a 2">
                <a:extLst>
                  <a:ext uri="{FF2B5EF4-FFF2-40B4-BE49-F238E27FC236}">
                    <a16:creationId xmlns:a16="http://schemas.microsoft.com/office/drawing/2014/main" id="{8B38145D-EABA-4CD0-950E-B414E7E251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6969435"/>
                  </p:ext>
                </p:extLst>
              </p:nvPr>
            </p:nvGraphicFramePr>
            <p:xfrm>
              <a:off x="498636" y="1803658"/>
              <a:ext cx="10954888" cy="4008804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150430">
                      <a:extLst>
                        <a:ext uri="{9D8B030D-6E8A-4147-A177-3AD203B41FA5}">
                          <a16:colId xmlns:a16="http://schemas.microsoft.com/office/drawing/2014/main" val="3040117851"/>
                        </a:ext>
                      </a:extLst>
                    </a:gridCol>
                    <a:gridCol w="2115214">
                      <a:extLst>
                        <a:ext uri="{9D8B030D-6E8A-4147-A177-3AD203B41FA5}">
                          <a16:colId xmlns:a16="http://schemas.microsoft.com/office/drawing/2014/main" val="233515387"/>
                        </a:ext>
                      </a:extLst>
                    </a:gridCol>
                    <a:gridCol w="5078066">
                      <a:extLst>
                        <a:ext uri="{9D8B030D-6E8A-4147-A177-3AD203B41FA5}">
                          <a16:colId xmlns:a16="http://schemas.microsoft.com/office/drawing/2014/main" val="1526639365"/>
                        </a:ext>
                      </a:extLst>
                    </a:gridCol>
                    <a:gridCol w="2611178">
                      <a:extLst>
                        <a:ext uri="{9D8B030D-6E8A-4147-A177-3AD203B41FA5}">
                          <a16:colId xmlns:a16="http://schemas.microsoft.com/office/drawing/2014/main" val="1100644209"/>
                        </a:ext>
                      </a:extLst>
                    </a:gridCol>
                  </a:tblGrid>
                  <a:tr h="473124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Numeral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Lenguaje informal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Lenguaje formal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339265"/>
                      </a:ext>
                    </a:extLst>
                  </a:tr>
                  <a:tr h="3473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a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Todos los triángulos tienen tres lados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Dominio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: </a:t>
                          </a:r>
                        </a:p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   - 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𝐹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: 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𝐸𝑠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𝑒𝑙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𝑐𝑜𝑛𝑗𝑢𝑛𝑡𝑜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𝑑𝑒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𝑡𝑜𝑑𝑜𝑠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𝑙𝑜𝑠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𝑡𝑟𝑖𝑎𝑛𝑔𝑢𝑙𝑜𝑠</m:t>
                              </m:r>
                            </m:oMath>
                          </a14:m>
                          <a:endParaRPr lang="es-MX" sz="2000" b="0" i="0" u="none" strike="noStrike" cap="none" baseline="0" dirty="0">
                            <a:solidFill>
                              <a:srgbClr val="000000"/>
                            </a:solidFill>
                            <a:latin typeface="+mn-lt"/>
                            <a:ea typeface="Roboto" panose="02000000000000000000" pitchFamily="2" charset="0"/>
                            <a:cs typeface="Arial"/>
                            <a:sym typeface="Arial"/>
                          </a:endParaRPr>
                        </a:p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Predicados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: </a:t>
                          </a:r>
                        </a:p>
                        <a:p>
                          <a:pPr marL="0" lvl="1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MX" sz="2000" b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   -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:"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𝑥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es</m:t>
                              </m:r>
                              <m: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un</m:t>
                              </m:r>
                              <m: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triangulo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“</m:t>
                              </m:r>
                            </m:oMath>
                          </a14:m>
                          <a:endParaRPr lang="es-MX" sz="2000" b="0" i="0" u="none" strike="noStrike" cap="none" baseline="0" dirty="0">
                            <a:solidFill>
                              <a:srgbClr val="000000"/>
                            </a:solidFill>
                            <a:latin typeface="+mn-lt"/>
                            <a:ea typeface="Roboto" panose="02000000000000000000" pitchFamily="2" charset="0"/>
                            <a:cs typeface="Arial"/>
                            <a:sym typeface="Arial"/>
                          </a:endParaRPr>
                        </a:p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   -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:"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𝑥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tiene</m:t>
                              </m:r>
                              <m: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tres</m:t>
                              </m:r>
                              <m: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lados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“</m:t>
                              </m:r>
                            </m:oMath>
                          </a14:m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sSub>
                                      <m:sSub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CO" sz="2000" i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9415664"/>
                      </a:ext>
                    </a:extLst>
                  </a:tr>
                  <a:tr h="6111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b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Ningún perro tiene alas</a:t>
                          </a:r>
                          <a:endParaRPr lang="es-MX" sz="2000" dirty="0">
                            <a:latin typeface="+mn-lt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Dominio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: </a:t>
                          </a:r>
                        </a:p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   - 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𝑆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: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𝐴𝑛𝑖𝑚𝑎𝑙𝑒𝑠</m:t>
                              </m:r>
                            </m:oMath>
                          </a14:m>
                          <a:endParaRPr lang="es-MX" sz="2000" b="0" i="0" u="none" strike="noStrike" cap="none" baseline="0" dirty="0">
                            <a:solidFill>
                              <a:srgbClr val="000000"/>
                            </a:solidFill>
                            <a:latin typeface="+mn-lt"/>
                            <a:ea typeface="Roboto" panose="02000000000000000000" pitchFamily="2" charset="0"/>
                            <a:cs typeface="Arial"/>
                            <a:sym typeface="Arial"/>
                          </a:endParaRPr>
                        </a:p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Predicados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: </a:t>
                          </a:r>
                        </a:p>
                        <a:p>
                          <a:pPr marL="0" lvl="1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MX" sz="2000" b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   -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:"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𝑥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es</m:t>
                              </m:r>
                              <m: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un</m:t>
                              </m:r>
                              <m: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perro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“</m:t>
                              </m:r>
                            </m:oMath>
                          </a14:m>
                          <a:endParaRPr lang="es-MX" sz="2000" b="0" i="0" u="none" strike="noStrike" cap="none" baseline="0" dirty="0">
                            <a:solidFill>
                              <a:srgbClr val="000000"/>
                            </a:solidFill>
                            <a:latin typeface="+mn-lt"/>
                            <a:ea typeface="Roboto" panose="02000000000000000000" pitchFamily="2" charset="0"/>
                            <a:cs typeface="Arial"/>
                            <a:sym typeface="Arial"/>
                          </a:endParaRPr>
                        </a:p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   -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:"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𝑥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tiene</m:t>
                              </m:r>
                              <m: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alas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“</m:t>
                              </m:r>
                            </m:oMath>
                          </a14:m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 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→¬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CO" sz="2000" i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¬∃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CO" sz="2000" i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5425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a 2">
                <a:extLst>
                  <a:ext uri="{FF2B5EF4-FFF2-40B4-BE49-F238E27FC236}">
                    <a16:creationId xmlns:a16="http://schemas.microsoft.com/office/drawing/2014/main" id="{8B38145D-EABA-4CD0-950E-B414E7E251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6969435"/>
                  </p:ext>
                </p:extLst>
              </p:nvPr>
            </p:nvGraphicFramePr>
            <p:xfrm>
              <a:off x="498636" y="1803658"/>
              <a:ext cx="10954888" cy="4008804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150430">
                      <a:extLst>
                        <a:ext uri="{9D8B030D-6E8A-4147-A177-3AD203B41FA5}">
                          <a16:colId xmlns:a16="http://schemas.microsoft.com/office/drawing/2014/main" val="3040117851"/>
                        </a:ext>
                      </a:extLst>
                    </a:gridCol>
                    <a:gridCol w="2115214">
                      <a:extLst>
                        <a:ext uri="{9D8B030D-6E8A-4147-A177-3AD203B41FA5}">
                          <a16:colId xmlns:a16="http://schemas.microsoft.com/office/drawing/2014/main" val="233515387"/>
                        </a:ext>
                      </a:extLst>
                    </a:gridCol>
                    <a:gridCol w="5078066">
                      <a:extLst>
                        <a:ext uri="{9D8B030D-6E8A-4147-A177-3AD203B41FA5}">
                          <a16:colId xmlns:a16="http://schemas.microsoft.com/office/drawing/2014/main" val="1526639365"/>
                        </a:ext>
                      </a:extLst>
                    </a:gridCol>
                    <a:gridCol w="2611178">
                      <a:extLst>
                        <a:ext uri="{9D8B030D-6E8A-4147-A177-3AD203B41FA5}">
                          <a16:colId xmlns:a16="http://schemas.microsoft.com/office/drawing/2014/main" val="1100644209"/>
                        </a:ext>
                      </a:extLst>
                    </a:gridCol>
                  </a:tblGrid>
                  <a:tr h="473124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Numeral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Lenguaje informal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Lenguaje formal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339265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a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Todos los triángulos tienen tres lados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346" t="-24762" r="-51741" b="-89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9114" t="-24762" r="-466" b="-89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9415664"/>
                      </a:ext>
                    </a:extLst>
                  </a:tr>
                  <a:tr h="16154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b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Ningún perro tiene alas</a:t>
                          </a:r>
                          <a:endParaRPr lang="es-MX" sz="2000" dirty="0">
                            <a:latin typeface="+mn-lt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346" t="-147744" r="-51741" b="-6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9114" t="-147744" r="-466" b="-6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5425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250099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60659" y="96038"/>
            <a:ext cx="1089078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3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Google Shape;310;p34">
            <a:extLst>
              <a:ext uri="{FF2B5EF4-FFF2-40B4-BE49-F238E27FC236}">
                <a16:creationId xmlns:a16="http://schemas.microsoft.com/office/drawing/2014/main" id="{FFACCAA3-F92A-472D-8B56-DAC79E2234A3}"/>
              </a:ext>
            </a:extLst>
          </p:cNvPr>
          <p:cNvSpPr txBox="1">
            <a:spLocks/>
          </p:cNvSpPr>
          <p:nvPr/>
        </p:nvSpPr>
        <p:spPr>
          <a:xfrm>
            <a:off x="223499" y="1045538"/>
            <a:ext cx="10890782" cy="46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latin typeface="+mn-lt"/>
                <a:ea typeface="Roboto" panose="02000000000000000000" pitchFamily="2" charset="0"/>
              </a:rPr>
              <a:t>Solución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: En la siguiente tabla se resumen los resultados:</a:t>
            </a:r>
          </a:p>
          <a:p>
            <a:pPr marL="127000" indent="0">
              <a:buNone/>
            </a:pPr>
            <a:endParaRPr lang="es-MX" sz="1800" dirty="0">
              <a:latin typeface="+mn-lt"/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a 2">
                <a:extLst>
                  <a:ext uri="{FF2B5EF4-FFF2-40B4-BE49-F238E27FC236}">
                    <a16:creationId xmlns:a16="http://schemas.microsoft.com/office/drawing/2014/main" id="{8B38145D-EABA-4CD0-950E-B414E7E251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4611495"/>
                  </p:ext>
                </p:extLst>
              </p:nvPr>
            </p:nvGraphicFramePr>
            <p:xfrm>
              <a:off x="360659" y="1751916"/>
              <a:ext cx="10992386" cy="2088564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222693">
                      <a:extLst>
                        <a:ext uri="{9D8B030D-6E8A-4147-A177-3AD203B41FA5}">
                          <a16:colId xmlns:a16="http://schemas.microsoft.com/office/drawing/2014/main" val="3040117851"/>
                        </a:ext>
                      </a:extLst>
                    </a:gridCol>
                    <a:gridCol w="2325869">
                      <a:extLst>
                        <a:ext uri="{9D8B030D-6E8A-4147-A177-3AD203B41FA5}">
                          <a16:colId xmlns:a16="http://schemas.microsoft.com/office/drawing/2014/main" val="233515387"/>
                        </a:ext>
                      </a:extLst>
                    </a:gridCol>
                    <a:gridCol w="4023360">
                      <a:extLst>
                        <a:ext uri="{9D8B030D-6E8A-4147-A177-3AD203B41FA5}">
                          <a16:colId xmlns:a16="http://schemas.microsoft.com/office/drawing/2014/main" val="1526639365"/>
                        </a:ext>
                      </a:extLst>
                    </a:gridCol>
                    <a:gridCol w="3420464">
                      <a:extLst>
                        <a:ext uri="{9D8B030D-6E8A-4147-A177-3AD203B41FA5}">
                          <a16:colId xmlns:a16="http://schemas.microsoft.com/office/drawing/2014/main" val="1100644209"/>
                        </a:ext>
                      </a:extLst>
                    </a:gridCol>
                  </a:tblGrid>
                  <a:tr h="473124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Numeral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Lenguaje informal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Lenguaje formal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339265"/>
                      </a:ext>
                    </a:extLst>
                  </a:tr>
                  <a:tr h="1971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c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Algunos programas están estructurados.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Dominio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: </a:t>
                          </a:r>
                        </a:p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   - 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𝑆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: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𝑃𝑟𝑜𝑔𝑟𝑎𝑚𝑎𝑠</m:t>
                              </m:r>
                            </m:oMath>
                          </a14:m>
                          <a:endParaRPr lang="es-MX" sz="2000" b="0" i="0" u="none" strike="noStrike" cap="none" baseline="0" dirty="0">
                            <a:solidFill>
                              <a:srgbClr val="000000"/>
                            </a:solidFill>
                            <a:latin typeface="+mn-lt"/>
                            <a:ea typeface="Roboto" panose="02000000000000000000" pitchFamily="2" charset="0"/>
                            <a:cs typeface="Arial"/>
                            <a:sym typeface="Arial"/>
                          </a:endParaRPr>
                        </a:p>
                        <a:p>
                          <a:pPr marL="171450" indent="-1714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sz="2000" b="1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Predicados</a:t>
                          </a: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: </a:t>
                          </a:r>
                        </a:p>
                        <a:p>
                          <a:pPr marL="0" lvl="1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MX" sz="2000" b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   -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:"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𝑥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es</m:t>
                              </m:r>
                              <m: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un</m:t>
                              </m:r>
                              <m: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programa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“</m:t>
                              </m:r>
                            </m:oMath>
                          </a14:m>
                          <a:endParaRPr lang="es-MX" sz="2000" b="0" i="0" u="none" strike="noStrike" cap="none" baseline="0" dirty="0">
                            <a:solidFill>
                              <a:srgbClr val="000000"/>
                            </a:solidFill>
                            <a:latin typeface="+mn-lt"/>
                            <a:ea typeface="Roboto" panose="02000000000000000000" pitchFamily="2" charset="0"/>
                            <a:cs typeface="Arial"/>
                            <a:sym typeface="Arial"/>
                          </a:endParaRPr>
                        </a:p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   -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u="none" strike="noStrike" cap="none" baseline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  <a:cs typeface="Arial"/>
                                      <a:sym typeface="Arial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:"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𝑥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esta</m:t>
                              </m:r>
                              <m: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estructurado</m:t>
                              </m:r>
                              <m:r>
                                <a:rPr lang="es-MX" sz="2000" b="0" i="1" u="none" strike="noStrike" cap="non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  <a:cs typeface="Arial"/>
                                  <a:sym typeface="Arial"/>
                                </a:rPr>
                                <m:t>“</m:t>
                              </m:r>
                            </m:oMath>
                          </a14:m>
                          <a:r>
                            <a:rPr lang="es-MX" sz="2000" b="0" i="0" u="none" strike="noStrike" cap="none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  <a:sym typeface="Arial"/>
                            </a:rPr>
                            <a:t>  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𝐸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69885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a 2">
                <a:extLst>
                  <a:ext uri="{FF2B5EF4-FFF2-40B4-BE49-F238E27FC236}">
                    <a16:creationId xmlns:a16="http://schemas.microsoft.com/office/drawing/2014/main" id="{8B38145D-EABA-4CD0-950E-B414E7E251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4611495"/>
                  </p:ext>
                </p:extLst>
              </p:nvPr>
            </p:nvGraphicFramePr>
            <p:xfrm>
              <a:off x="360659" y="1751916"/>
              <a:ext cx="10992386" cy="2088564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222693">
                      <a:extLst>
                        <a:ext uri="{9D8B030D-6E8A-4147-A177-3AD203B41FA5}">
                          <a16:colId xmlns:a16="http://schemas.microsoft.com/office/drawing/2014/main" val="3040117851"/>
                        </a:ext>
                      </a:extLst>
                    </a:gridCol>
                    <a:gridCol w="2325869">
                      <a:extLst>
                        <a:ext uri="{9D8B030D-6E8A-4147-A177-3AD203B41FA5}">
                          <a16:colId xmlns:a16="http://schemas.microsoft.com/office/drawing/2014/main" val="233515387"/>
                        </a:ext>
                      </a:extLst>
                    </a:gridCol>
                    <a:gridCol w="4023360">
                      <a:extLst>
                        <a:ext uri="{9D8B030D-6E8A-4147-A177-3AD203B41FA5}">
                          <a16:colId xmlns:a16="http://schemas.microsoft.com/office/drawing/2014/main" val="1526639365"/>
                        </a:ext>
                      </a:extLst>
                    </a:gridCol>
                    <a:gridCol w="3420464">
                      <a:extLst>
                        <a:ext uri="{9D8B030D-6E8A-4147-A177-3AD203B41FA5}">
                          <a16:colId xmlns:a16="http://schemas.microsoft.com/office/drawing/2014/main" val="1100644209"/>
                        </a:ext>
                      </a:extLst>
                    </a:gridCol>
                  </a:tblGrid>
                  <a:tr h="473124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Numeral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Lenguaje informal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Lenguaje formal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 sz="14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9339265"/>
                      </a:ext>
                    </a:extLst>
                  </a:tr>
                  <a:tr h="16154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c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Algunos programas están estructurados.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8200" t="-29811" r="-85023" b="-67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1747" t="-29811" r="-178" b="-67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698856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920739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68010" y="18747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4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310;p34">
                <a:extLst>
                  <a:ext uri="{FF2B5EF4-FFF2-40B4-BE49-F238E27FC236}">
                    <a16:creationId xmlns:a16="http://schemas.microsoft.com/office/drawing/2014/main" id="{02DFBE09-B1C4-4231-A034-EC20CAD799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8010" y="923618"/>
                <a:ext cx="10890782" cy="34197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584200" indent="-457200">
                  <a:buFont typeface="+mj-lt"/>
                  <a:buAutoNum type="arabicPeriod" startAt="4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Sean:</a:t>
                </a:r>
              </a:p>
              <a:p>
                <a:pPr marL="584200" lvl="1" indent="0">
                  <a:buNone/>
                </a:pPr>
                <a:endParaRPr lang="es-MX" sz="1800" dirty="0">
                  <a:latin typeface="+mn-lt"/>
                </a:endParaRPr>
              </a:p>
              <a:p>
                <a:pPr marL="1498600" lvl="3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es</m:t>
                          </m:r>
                          <m: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un</m:t>
                          </m:r>
                          <m: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habitante</m:t>
                          </m:r>
                          <m: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del</m:t>
                          </m:r>
                          <m: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continente</m:t>
                          </m:r>
                          <m: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africano</m:t>
                          </m:r>
                        </m:e>
                      </m:d>
                    </m:oMath>
                  </m:oMathPara>
                </a14:m>
                <a:endParaRPr lang="es-MX" sz="2000" b="0" dirty="0">
                  <a:latin typeface="+mn-lt"/>
                </a:endParaRPr>
              </a:p>
              <a:p>
                <a:pPr marL="1498600" lvl="3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</a:rPr>
                        <m:t>"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</a:rPr>
                        <m:t>Hablan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</a:rPr>
                        <m:t>frances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</a:rPr>
                        <m:t>"</m:t>
                      </m:r>
                    </m:oMath>
                  </m:oMathPara>
                </a14:m>
                <a:endParaRPr lang="es-MX" sz="2000" dirty="0">
                  <a:latin typeface="+mn-lt"/>
                </a:endParaRPr>
              </a:p>
              <a:p>
                <a:pPr marL="584200" lvl="1" indent="0">
                  <a:buNone/>
                </a:pPr>
                <a:endParaRPr lang="es-MX" sz="1800" dirty="0">
                  <a:latin typeface="+mn-lt"/>
                </a:endParaRPr>
              </a:p>
              <a:p>
                <a:pPr marL="584200" lvl="1" indent="0">
                  <a:buNone/>
                </a:pPr>
                <a:r>
                  <a:rPr lang="es-MX" sz="2000" dirty="0">
                    <a:latin typeface="+mn-lt"/>
                  </a:rPr>
                  <a:t>Si </a:t>
                </a:r>
                <a14:m>
                  <m:oMath xmlns:m="http://schemas.openxmlformats.org/officeDocument/2006/math">
                    <m:r>
                      <a:rPr lang="es-MX" sz="2000" b="1" i="1" smtClean="0">
                        <a:latin typeface="Cambria Math" panose="02040503050406030204" pitchFamily="18" charset="0"/>
                      </a:rPr>
                      <m:t>𝒑</m:t>
                    </m:r>
                    <m:d>
                      <m:dPr>
                        <m:ctrlPr>
                          <a:rPr lang="es-MX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MX" sz="2000" b="0" i="0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</a:rPr>
                      <m:t>habla</m:t>
                    </m:r>
                    <m:r>
                      <a:rPr lang="es-MX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</a:rPr>
                      <m:t>frances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endParaRPr lang="es-MX" sz="2000" dirty="0">
                  <a:latin typeface="+mn-lt"/>
                </a:endParaRPr>
              </a:p>
              <a:p>
                <a:pPr marL="584200" lvl="1" indent="0">
                  <a:buNone/>
                </a:pPr>
                <a:endParaRPr lang="es-MX" sz="2000" dirty="0">
                  <a:latin typeface="+mn-lt"/>
                </a:endParaRPr>
              </a:p>
              <a:p>
                <a:pPr marL="584200" lvl="1" indent="0">
                  <a:buNone/>
                </a:pPr>
                <a:r>
                  <a:rPr lang="es-MX" sz="2000" dirty="0">
                    <a:latin typeface="+mn-lt"/>
                  </a:rPr>
                  <a:t>Escriba en lenguaje informar las siguientes expresiones formales:</a:t>
                </a:r>
              </a:p>
              <a:p>
                <a:pPr marL="927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s-MX" sz="2000" b="0" i="1" dirty="0">
                  <a:latin typeface="+mn-lt"/>
                  <a:ea typeface="Cambria Math" panose="02040503050406030204" pitchFamily="18" charset="0"/>
                </a:endParaRPr>
              </a:p>
              <a:p>
                <a:pPr marL="927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MX" sz="2000" dirty="0">
                  <a:latin typeface="+mn-lt"/>
                </a:endParaRPr>
              </a:p>
              <a:p>
                <a:pPr lvl="1"/>
                <a:endParaRPr lang="es-MX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9" name="Google Shape;310;p34">
                <a:extLst>
                  <a:ext uri="{FF2B5EF4-FFF2-40B4-BE49-F238E27FC236}">
                    <a16:creationId xmlns:a16="http://schemas.microsoft.com/office/drawing/2014/main" id="{02DFBE09-B1C4-4231-A034-EC20CAD79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10" y="923618"/>
                <a:ext cx="10890782" cy="34197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67592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68010" y="18747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4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Google Shape;310;p34">
            <a:extLst>
              <a:ext uri="{FF2B5EF4-FFF2-40B4-BE49-F238E27FC236}">
                <a16:creationId xmlns:a16="http://schemas.microsoft.com/office/drawing/2014/main" id="{5DDCA3D7-E964-4629-ACC7-9E873F837189}"/>
              </a:ext>
            </a:extLst>
          </p:cNvPr>
          <p:cNvSpPr txBox="1">
            <a:spLocks/>
          </p:cNvSpPr>
          <p:nvPr/>
        </p:nvSpPr>
        <p:spPr>
          <a:xfrm>
            <a:off x="368010" y="1136978"/>
            <a:ext cx="10890782" cy="490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latin typeface="+mn-lt"/>
                <a:ea typeface="Roboto" panose="02000000000000000000" pitchFamily="2" charset="0"/>
              </a:rPr>
              <a:t>Solución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: En la siguiente tabla se resumen los resultados:</a:t>
            </a:r>
          </a:p>
          <a:p>
            <a:pPr marL="127000" indent="0">
              <a:buNone/>
            </a:pPr>
            <a:endParaRPr lang="es-MX" sz="2000" dirty="0">
              <a:latin typeface="+mn-lt"/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4F0DC78A-57D9-4F12-9F27-2BBF8DC69A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549257"/>
                  </p:ext>
                </p:extLst>
              </p:nvPr>
            </p:nvGraphicFramePr>
            <p:xfrm>
              <a:off x="1275182" y="2013107"/>
              <a:ext cx="9076438" cy="112776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150430">
                      <a:extLst>
                        <a:ext uri="{9D8B030D-6E8A-4147-A177-3AD203B41FA5}">
                          <a16:colId xmlns:a16="http://schemas.microsoft.com/office/drawing/2014/main" val="4011909688"/>
                        </a:ext>
                      </a:extLst>
                    </a:gridCol>
                    <a:gridCol w="1944307">
                      <a:extLst>
                        <a:ext uri="{9D8B030D-6E8A-4147-A177-3AD203B41FA5}">
                          <a16:colId xmlns:a16="http://schemas.microsoft.com/office/drawing/2014/main" val="472469541"/>
                        </a:ext>
                      </a:extLst>
                    </a:gridCol>
                    <a:gridCol w="5981701">
                      <a:extLst>
                        <a:ext uri="{9D8B030D-6E8A-4147-A177-3AD203B41FA5}">
                          <a16:colId xmlns:a16="http://schemas.microsoft.com/office/drawing/2014/main" val="3971440135"/>
                        </a:ext>
                      </a:extLst>
                    </a:gridCol>
                  </a:tblGrid>
                  <a:tr h="282288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Numeral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Lenguaje formal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Lenguaje informal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7867036"/>
                      </a:ext>
                    </a:extLst>
                  </a:tr>
                  <a:tr h="2822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800" dirty="0">
                              <a:latin typeface="+mn-lt"/>
                              <a:ea typeface="Roboto" panose="02000000000000000000" pitchFamily="2" charset="0"/>
                            </a:rPr>
                            <a:t>a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b="0" dirty="0">
                            <a:latin typeface="+mn-lt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es-CO" sz="1800" i="0" dirty="0">
                              <a:latin typeface="+mn-lt"/>
                              <a:ea typeface="Roboto" panose="02000000000000000000" pitchFamily="2" charset="0"/>
                            </a:rPr>
                            <a:t>Todos los africanos hablan francés.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0333023"/>
                      </a:ext>
                    </a:extLst>
                  </a:tr>
                  <a:tr h="2822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800" dirty="0">
                              <a:latin typeface="+mn-lt"/>
                              <a:ea typeface="Roboto" panose="02000000000000000000" pitchFamily="2" charset="0"/>
                            </a:rPr>
                            <a:t>b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800" dirty="0">
                            <a:latin typeface="+mn-lt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es-CO" sz="1800" dirty="0">
                              <a:latin typeface="+mn-lt"/>
                              <a:ea typeface="Roboto" panose="02000000000000000000" pitchFamily="2" charset="0"/>
                            </a:rPr>
                            <a:t>Algunos africanos hablan francés.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38507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4F0DC78A-57D9-4F12-9F27-2BBF8DC69A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549257"/>
                  </p:ext>
                </p:extLst>
              </p:nvPr>
            </p:nvGraphicFramePr>
            <p:xfrm>
              <a:off x="1275182" y="2013107"/>
              <a:ext cx="9076438" cy="112776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150430">
                      <a:extLst>
                        <a:ext uri="{9D8B030D-6E8A-4147-A177-3AD203B41FA5}">
                          <a16:colId xmlns:a16="http://schemas.microsoft.com/office/drawing/2014/main" val="4011909688"/>
                        </a:ext>
                      </a:extLst>
                    </a:gridCol>
                    <a:gridCol w="1944307">
                      <a:extLst>
                        <a:ext uri="{9D8B030D-6E8A-4147-A177-3AD203B41FA5}">
                          <a16:colId xmlns:a16="http://schemas.microsoft.com/office/drawing/2014/main" val="472469541"/>
                        </a:ext>
                      </a:extLst>
                    </a:gridCol>
                    <a:gridCol w="5981701">
                      <a:extLst>
                        <a:ext uri="{9D8B030D-6E8A-4147-A177-3AD203B41FA5}">
                          <a16:colId xmlns:a16="http://schemas.microsoft.com/office/drawing/2014/main" val="397144013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Numeral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Lenguaje formal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Lenguaje informal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786703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800" dirty="0">
                              <a:latin typeface="+mn-lt"/>
                              <a:ea typeface="Roboto" panose="02000000000000000000" pitchFamily="2" charset="0"/>
                            </a:rPr>
                            <a:t>a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9561" t="-114754" r="-30815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es-CO" sz="1800" i="0" dirty="0">
                              <a:latin typeface="+mn-lt"/>
                              <a:ea typeface="Roboto" panose="02000000000000000000" pitchFamily="2" charset="0"/>
                            </a:rPr>
                            <a:t>Todos los africanos hablan francés.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03330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800" dirty="0">
                              <a:latin typeface="+mn-lt"/>
                              <a:ea typeface="Roboto" panose="02000000000000000000" pitchFamily="2" charset="0"/>
                            </a:rPr>
                            <a:t>b 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9561" t="-218333" r="-30815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es-CO" sz="1800" dirty="0">
                              <a:latin typeface="+mn-lt"/>
                              <a:ea typeface="Roboto" panose="02000000000000000000" pitchFamily="2" charset="0"/>
                            </a:rPr>
                            <a:t>Algunos africanos hablan francés.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38507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8216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518161" y="96038"/>
            <a:ext cx="1114201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5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Google Shape;310;p34">
            <a:extLst>
              <a:ext uri="{FF2B5EF4-FFF2-40B4-BE49-F238E27FC236}">
                <a16:creationId xmlns:a16="http://schemas.microsoft.com/office/drawing/2014/main" id="{02DFBE09-B1C4-4231-A034-EC20CAD79937}"/>
              </a:ext>
            </a:extLst>
          </p:cNvPr>
          <p:cNvSpPr txBox="1">
            <a:spLocks/>
          </p:cNvSpPr>
          <p:nvPr/>
        </p:nvSpPr>
        <p:spPr>
          <a:xfrm>
            <a:off x="361218" y="985591"/>
            <a:ext cx="10890782" cy="760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dirty="0">
                <a:latin typeface="+mn-lt"/>
              </a:rPr>
              <a:t>Traduzca la siguiente oración a lógica de predicados: “Todos los estudiantes de esta clase han tomado un curso de Java”.</a:t>
            </a:r>
          </a:p>
        </p:txBody>
      </p:sp>
    </p:spTree>
    <p:extLst>
      <p:ext uri="{BB962C8B-B14F-4D97-AF65-F5344CB8AC3E}">
        <p14:creationId xmlns:p14="http://schemas.microsoft.com/office/powerpoint/2010/main" val="42078095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518161" y="96038"/>
            <a:ext cx="1114201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5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Google Shape;310;p34">
            <a:extLst>
              <a:ext uri="{FF2B5EF4-FFF2-40B4-BE49-F238E27FC236}">
                <a16:creationId xmlns:a16="http://schemas.microsoft.com/office/drawing/2014/main" id="{C0B73B66-8807-4B2C-8C9E-DBEFD63B85CF}"/>
              </a:ext>
            </a:extLst>
          </p:cNvPr>
          <p:cNvSpPr txBox="1">
            <a:spLocks/>
          </p:cNvSpPr>
          <p:nvPr/>
        </p:nvSpPr>
        <p:spPr>
          <a:xfrm>
            <a:off x="407309" y="1045538"/>
            <a:ext cx="2031860" cy="490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400" b="1" dirty="0">
                <a:latin typeface="+mn-lt"/>
                <a:ea typeface="Roboto" panose="02000000000000000000" pitchFamily="2" charset="0"/>
              </a:rPr>
              <a:t>Solución 1</a:t>
            </a:r>
            <a:r>
              <a:rPr lang="es-MX" sz="2400" dirty="0">
                <a:latin typeface="+mn-lt"/>
                <a:ea typeface="Roboto" panose="02000000000000000000" pitchFamily="2" charset="0"/>
              </a:rPr>
              <a:t>:</a:t>
            </a:r>
            <a:r>
              <a:rPr lang="es-MX" sz="2800" dirty="0">
                <a:latin typeface="+mn-lt"/>
                <a:ea typeface="Roboto" panose="02000000000000000000" pitchFamily="2" charset="0"/>
              </a:rPr>
              <a:t> </a:t>
            </a:r>
            <a:endParaRPr lang="es-MX" sz="2400" dirty="0">
              <a:latin typeface="+mn-lt"/>
              <a:ea typeface="Roboto" panose="02000000000000000000" pitchFamily="2" charset="0"/>
            </a:endParaRPr>
          </a:p>
          <a:p>
            <a:pPr marL="127000" indent="0">
              <a:buNone/>
            </a:pPr>
            <a:endParaRPr lang="es-MX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2">
                <a:extLst>
                  <a:ext uri="{FF2B5EF4-FFF2-40B4-BE49-F238E27FC236}">
                    <a16:creationId xmlns:a16="http://schemas.microsoft.com/office/drawing/2014/main" id="{A7924991-CC17-47C8-9BF6-751C3A854E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8611530"/>
                  </p:ext>
                </p:extLst>
              </p:nvPr>
            </p:nvGraphicFramePr>
            <p:xfrm>
              <a:off x="563880" y="1802140"/>
              <a:ext cx="6437276" cy="19812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075512">
                      <a:extLst>
                        <a:ext uri="{9D8B030D-6E8A-4147-A177-3AD203B41FA5}">
                          <a16:colId xmlns:a16="http://schemas.microsoft.com/office/drawing/2014/main" val="55665907"/>
                        </a:ext>
                      </a:extLst>
                    </a:gridCol>
                    <a:gridCol w="4361764">
                      <a:extLst>
                        <a:ext uri="{9D8B030D-6E8A-4147-A177-3AD203B41FA5}">
                          <a16:colId xmlns:a16="http://schemas.microsoft.com/office/drawing/2014/main" val="2393994677"/>
                        </a:ext>
                      </a:extLst>
                    </a:gridCol>
                  </a:tblGrid>
                  <a:tr h="24003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Dominio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𝑈</m:t>
                                </m:r>
                                <m:r>
                                  <a:rPr lang="es-MX" sz="2000" b="0" i="1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: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Todos</m:t>
                                </m:r>
                                <m: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los</m:t>
                                </m:r>
                                <m: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estudiantes</m:t>
                                </m:r>
                                <m: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de</m:t>
                                </m:r>
                                <m: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esta</m:t>
                                </m:r>
                                <m: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clase</m:t>
                                </m:r>
                              </m:oMath>
                            </m:oMathPara>
                          </a14:m>
                          <a:endParaRPr lang="es-CO" sz="2000" b="0" i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4054099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Variables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97047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Constantes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736836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Predicados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:"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ha</m:t>
                              </m:r>
                              <m: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tomado</m:t>
                              </m:r>
                              <m: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clade</m:t>
                              </m:r>
                              <m: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de</m:t>
                              </m:r>
                              <m: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Java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"</m:t>
                              </m:r>
                            </m:oMath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33263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Cuantificadores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01306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2">
                <a:extLst>
                  <a:ext uri="{FF2B5EF4-FFF2-40B4-BE49-F238E27FC236}">
                    <a16:creationId xmlns:a16="http://schemas.microsoft.com/office/drawing/2014/main" id="{A7924991-CC17-47C8-9BF6-751C3A854E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8611530"/>
                  </p:ext>
                </p:extLst>
              </p:nvPr>
            </p:nvGraphicFramePr>
            <p:xfrm>
              <a:off x="563880" y="1802140"/>
              <a:ext cx="6437276" cy="19812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075512">
                      <a:extLst>
                        <a:ext uri="{9D8B030D-6E8A-4147-A177-3AD203B41FA5}">
                          <a16:colId xmlns:a16="http://schemas.microsoft.com/office/drawing/2014/main" val="55665907"/>
                        </a:ext>
                      </a:extLst>
                    </a:gridCol>
                    <a:gridCol w="4361764">
                      <a:extLst>
                        <a:ext uri="{9D8B030D-6E8A-4147-A177-3AD203B41FA5}">
                          <a16:colId xmlns:a16="http://schemas.microsoft.com/office/drawing/2014/main" val="239399467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Dominio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7765" t="-7692" r="-279" b="-4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40540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Variables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7765" t="-107692" r="-279" b="-3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097047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Constantes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73683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Predicados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7765" t="-309231" r="-279" b="-1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29332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Cuantificadores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7765" t="-409231" r="-279" b="-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013063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Grupo 3">
            <a:extLst>
              <a:ext uri="{FF2B5EF4-FFF2-40B4-BE49-F238E27FC236}">
                <a16:creationId xmlns:a16="http://schemas.microsoft.com/office/drawing/2014/main" id="{5DE8FF77-BA5C-4BCD-B147-B1DB21CD49A2}"/>
              </a:ext>
            </a:extLst>
          </p:cNvPr>
          <p:cNvGrpSpPr/>
          <p:nvPr/>
        </p:nvGrpSpPr>
        <p:grpSpPr>
          <a:xfrm>
            <a:off x="3276600" y="4705967"/>
            <a:ext cx="8100615" cy="1567549"/>
            <a:chOff x="3938154" y="2789510"/>
            <a:chExt cx="8100615" cy="1567549"/>
          </a:xfrm>
        </p:grpSpPr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49C02D9F-67B8-4826-9351-66627699407B}"/>
                </a:ext>
              </a:extLst>
            </p:cNvPr>
            <p:cNvSpPr txBox="1"/>
            <p:nvPr/>
          </p:nvSpPr>
          <p:spPr>
            <a:xfrm>
              <a:off x="3938154" y="2789510"/>
              <a:ext cx="8100615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MX" sz="2200" b="1" dirty="0">
                  <a:solidFill>
                    <a:srgbClr val="0070C0"/>
                  </a:solidFill>
                  <a:ea typeface="Roboto" panose="02000000000000000000" pitchFamily="2" charset="0"/>
                </a:rPr>
                <a:t>Todos</a:t>
              </a:r>
              <a:r>
                <a:rPr lang="es-MX" sz="2200" b="1" dirty="0">
                  <a:ea typeface="Roboto" panose="02000000000000000000" pitchFamily="2" charset="0"/>
                </a:rPr>
                <a:t> </a:t>
              </a:r>
              <a:r>
                <a:rPr lang="es-MX" sz="2200" b="1" u="sng" dirty="0">
                  <a:ea typeface="Roboto" panose="02000000000000000000" pitchFamily="2" charset="0"/>
                </a:rPr>
                <a:t>los estudiantes de esta clase</a:t>
              </a:r>
              <a:r>
                <a:rPr lang="es-MX" sz="2200" b="1" dirty="0">
                  <a:ea typeface="Roboto" panose="02000000000000000000" pitchFamily="2" charset="0"/>
                </a:rPr>
                <a:t> </a:t>
              </a:r>
              <a:r>
                <a:rPr lang="es-MX" sz="2200" b="1" dirty="0">
                  <a:solidFill>
                    <a:srgbClr val="C00000"/>
                  </a:solidFill>
                  <a:ea typeface="Roboto" panose="02000000000000000000" pitchFamily="2" charset="0"/>
                </a:rPr>
                <a:t>han tomado un curso de Java</a:t>
              </a:r>
              <a:endParaRPr lang="es-CO" sz="2200" b="1" dirty="0">
                <a:solidFill>
                  <a:srgbClr val="C00000"/>
                </a:solidFill>
                <a:ea typeface="Roboto" panose="02000000000000000000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4CD259C5-9AB4-4273-B3BA-BCCC8124C5F7}"/>
                    </a:ext>
                  </a:extLst>
                </p:cNvPr>
                <p:cNvSpPr txBox="1"/>
                <p:nvPr/>
              </p:nvSpPr>
              <p:spPr>
                <a:xfrm>
                  <a:off x="7496438" y="4018505"/>
                  <a:ext cx="899028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O" sz="2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s-MX" sz="2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MX" sz="2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s-MX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s-CO" sz="22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4CD259C5-9AB4-4273-B3BA-BCCC8124C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438" y="4018505"/>
                  <a:ext cx="899028" cy="338554"/>
                </a:xfrm>
                <a:prstGeom prst="rect">
                  <a:avLst/>
                </a:prstGeom>
                <a:blipFill>
                  <a:blip r:embed="rId4"/>
                  <a:stretch>
                    <a:fillRect l="-6081" b="-29091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D2623BBF-3778-492B-B462-F09AE434CEC9}"/>
                </a:ext>
              </a:extLst>
            </p:cNvPr>
            <p:cNvGrpSpPr/>
            <p:nvPr/>
          </p:nvGrpSpPr>
          <p:grpSpPr>
            <a:xfrm>
              <a:off x="7616990" y="3271925"/>
              <a:ext cx="2706724" cy="647700"/>
              <a:chOff x="7581704" y="4312682"/>
              <a:chExt cx="2706724" cy="647700"/>
            </a:xfrm>
          </p:grpSpPr>
          <p:sp>
            <p:nvSpPr>
              <p:cNvPr id="14" name="Flecha: hacia abajo 13">
                <a:extLst>
                  <a:ext uri="{FF2B5EF4-FFF2-40B4-BE49-F238E27FC236}">
                    <a16:creationId xmlns:a16="http://schemas.microsoft.com/office/drawing/2014/main" id="{4CD02A8F-0EDF-44C5-8E34-8EF988892F8C}"/>
                  </a:ext>
                </a:extLst>
              </p:cNvPr>
              <p:cNvSpPr/>
              <p:nvPr/>
            </p:nvSpPr>
            <p:spPr>
              <a:xfrm>
                <a:off x="7581704" y="4312682"/>
                <a:ext cx="368300" cy="647700"/>
              </a:xfrm>
              <a:prstGeom prst="downArrow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2200"/>
              </a:p>
            </p:txBody>
          </p:sp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BDFDFF6-62D5-416D-9D11-6A72ECE29200}"/>
                  </a:ext>
                </a:extLst>
              </p:cNvPr>
              <p:cNvSpPr txBox="1"/>
              <p:nvPr/>
            </p:nvSpPr>
            <p:spPr>
              <a:xfrm>
                <a:off x="7950004" y="4360982"/>
                <a:ext cx="233842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200" b="1" dirty="0">
                    <a:solidFill>
                      <a:schemeClr val="bg1">
                        <a:lumMod val="50000"/>
                      </a:schemeClr>
                    </a:solidFill>
                    <a:ea typeface="Roboto" panose="02000000000000000000" pitchFamily="2" charset="0"/>
                  </a:rPr>
                  <a:t>Expresión lógica</a:t>
                </a:r>
                <a:endParaRPr lang="es-CO" sz="2200" dirty="0">
                  <a:solidFill>
                    <a:schemeClr val="bg1">
                      <a:lumMod val="50000"/>
                    </a:schemeClr>
                  </a:solidFill>
                  <a:ea typeface="Roboto" panose="020000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324150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518161" y="96038"/>
            <a:ext cx="1114201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5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Google Shape;310;p34">
            <a:extLst>
              <a:ext uri="{FF2B5EF4-FFF2-40B4-BE49-F238E27FC236}">
                <a16:creationId xmlns:a16="http://schemas.microsoft.com/office/drawing/2014/main" id="{A2917507-A5EA-4CAB-B273-B9F75E69FA11}"/>
              </a:ext>
            </a:extLst>
          </p:cNvPr>
          <p:cNvSpPr txBox="1">
            <a:spLocks/>
          </p:cNvSpPr>
          <p:nvPr/>
        </p:nvSpPr>
        <p:spPr>
          <a:xfrm>
            <a:off x="254831" y="907610"/>
            <a:ext cx="2031860" cy="490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400" b="1" dirty="0">
                <a:latin typeface="+mn-lt"/>
                <a:ea typeface="Roboto" panose="02000000000000000000" pitchFamily="2" charset="0"/>
              </a:rPr>
              <a:t>Solución 2</a:t>
            </a:r>
            <a:r>
              <a:rPr lang="es-MX" sz="2400" dirty="0">
                <a:latin typeface="+mn-lt"/>
                <a:ea typeface="Roboto" panose="02000000000000000000" pitchFamily="2" charset="0"/>
              </a:rPr>
              <a:t>: </a:t>
            </a:r>
          </a:p>
          <a:p>
            <a:pPr marL="127000" indent="0">
              <a:buNone/>
            </a:pPr>
            <a:endParaRPr lang="es-MX" sz="2400" dirty="0">
              <a:latin typeface="+mn-lt"/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a 2">
                <a:extLst>
                  <a:ext uri="{FF2B5EF4-FFF2-40B4-BE49-F238E27FC236}">
                    <a16:creationId xmlns:a16="http://schemas.microsoft.com/office/drawing/2014/main" id="{7F322CC8-043E-45AD-820F-3C53A88AEB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7590581"/>
                  </p:ext>
                </p:extLst>
              </p:nvPr>
            </p:nvGraphicFramePr>
            <p:xfrm>
              <a:off x="449099" y="1630306"/>
              <a:ext cx="6888479" cy="22860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220989">
                      <a:extLst>
                        <a:ext uri="{9D8B030D-6E8A-4147-A177-3AD203B41FA5}">
                          <a16:colId xmlns:a16="http://schemas.microsoft.com/office/drawing/2014/main" val="55665907"/>
                        </a:ext>
                      </a:extLst>
                    </a:gridCol>
                    <a:gridCol w="4667490">
                      <a:extLst>
                        <a:ext uri="{9D8B030D-6E8A-4147-A177-3AD203B41FA5}">
                          <a16:colId xmlns:a16="http://schemas.microsoft.com/office/drawing/2014/main" val="2393994677"/>
                        </a:ext>
                      </a:extLst>
                    </a:gridCol>
                  </a:tblGrid>
                  <a:tr h="24003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Dominio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𝑈</m:t>
                                </m:r>
                                <m:r>
                                  <a:rPr lang="es-MX" sz="2000" b="0" i="1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: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Todas</m:t>
                                </m:r>
                                <m: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personas</m:t>
                                </m:r>
                              </m:oMath>
                            </m:oMathPara>
                          </a14:m>
                          <a:endParaRPr lang="es-CO" sz="2000" b="0" i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4054099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Variables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97047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Constantes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736836"/>
                      </a:ext>
                    </a:extLst>
                  </a:tr>
                  <a:tr h="454554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Predicados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es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estudiante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de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esta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clase</m:t>
                              </m:r>
                            </m:oMath>
                          </a14:m>
                          <a:endParaRPr lang="es-MX" sz="2000" b="0" dirty="0">
                            <a:latin typeface="Roboto" panose="02000000000000000000" pitchFamily="2" charset="0"/>
                            <a:ea typeface="Cambria Math" panose="02040503050406030204" pitchFamily="18" charset="0"/>
                          </a:endParaRP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ha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tomado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clade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de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Java</m:t>
                              </m:r>
                            </m:oMath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33263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Cuantificadores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01306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a 2">
                <a:extLst>
                  <a:ext uri="{FF2B5EF4-FFF2-40B4-BE49-F238E27FC236}">
                    <a16:creationId xmlns:a16="http://schemas.microsoft.com/office/drawing/2014/main" id="{7F322CC8-043E-45AD-820F-3C53A88AEB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7590581"/>
                  </p:ext>
                </p:extLst>
              </p:nvPr>
            </p:nvGraphicFramePr>
            <p:xfrm>
              <a:off x="449099" y="1630306"/>
              <a:ext cx="6888479" cy="22860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220989">
                      <a:extLst>
                        <a:ext uri="{9D8B030D-6E8A-4147-A177-3AD203B41FA5}">
                          <a16:colId xmlns:a16="http://schemas.microsoft.com/office/drawing/2014/main" val="55665907"/>
                        </a:ext>
                      </a:extLst>
                    </a:gridCol>
                    <a:gridCol w="4667490">
                      <a:extLst>
                        <a:ext uri="{9D8B030D-6E8A-4147-A177-3AD203B41FA5}">
                          <a16:colId xmlns:a16="http://schemas.microsoft.com/office/drawing/2014/main" val="239399467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Dominio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7781" t="-6154" r="-261" b="-50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40540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Variables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7781" t="-106154" r="-261" b="-40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097047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Constantes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736836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Predicados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7781" t="-173913" r="-261" b="-7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29332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Cuantificadores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7781" t="-484615" r="-261" b="-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013063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6" name="Grupo 15">
            <a:extLst>
              <a:ext uri="{FF2B5EF4-FFF2-40B4-BE49-F238E27FC236}">
                <a16:creationId xmlns:a16="http://schemas.microsoft.com/office/drawing/2014/main" id="{CA568F6E-1794-41AC-BF84-610619EDF00D}"/>
              </a:ext>
            </a:extLst>
          </p:cNvPr>
          <p:cNvGrpSpPr/>
          <p:nvPr/>
        </p:nvGrpSpPr>
        <p:grpSpPr>
          <a:xfrm>
            <a:off x="3383280" y="4563578"/>
            <a:ext cx="8276899" cy="1621653"/>
            <a:chOff x="3761869" y="5040533"/>
            <a:chExt cx="8276899" cy="1621653"/>
          </a:xfrm>
        </p:grpSpPr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E1A9875D-8956-43D9-BE32-8F080C7FE551}"/>
                </a:ext>
              </a:extLst>
            </p:cNvPr>
            <p:cNvSpPr txBox="1"/>
            <p:nvPr/>
          </p:nvSpPr>
          <p:spPr>
            <a:xfrm>
              <a:off x="3761869" y="5040533"/>
              <a:ext cx="827689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MX" sz="2200" b="1" dirty="0">
                  <a:solidFill>
                    <a:srgbClr val="0070C0"/>
                  </a:solidFill>
                  <a:ea typeface="Roboto" panose="02000000000000000000" pitchFamily="2" charset="0"/>
                </a:rPr>
                <a:t>Todos</a:t>
              </a:r>
              <a:r>
                <a:rPr lang="es-MX" sz="2200" b="1" dirty="0">
                  <a:ea typeface="Roboto" panose="02000000000000000000" pitchFamily="2" charset="0"/>
                </a:rPr>
                <a:t> </a:t>
              </a:r>
              <a:r>
                <a:rPr lang="es-MX" sz="2200" b="1" dirty="0">
                  <a:solidFill>
                    <a:srgbClr val="C00000"/>
                  </a:solidFill>
                  <a:ea typeface="Roboto" panose="02000000000000000000" pitchFamily="2" charset="0"/>
                </a:rPr>
                <a:t>los</a:t>
              </a:r>
              <a:r>
                <a:rPr lang="es-MX" sz="2200" b="1" dirty="0">
                  <a:solidFill>
                    <a:schemeClr val="accent5"/>
                  </a:solidFill>
                  <a:ea typeface="Roboto" panose="02000000000000000000" pitchFamily="2" charset="0"/>
                </a:rPr>
                <a:t> </a:t>
              </a:r>
              <a:r>
                <a:rPr lang="es-MX" sz="2200" b="1" u="sng" dirty="0">
                  <a:solidFill>
                    <a:schemeClr val="accent6">
                      <a:lumMod val="50000"/>
                    </a:schemeClr>
                  </a:solidFill>
                  <a:ea typeface="Roboto" panose="02000000000000000000" pitchFamily="2" charset="0"/>
                </a:rPr>
                <a:t>estudiantes</a:t>
              </a:r>
              <a:r>
                <a:rPr lang="es-MX" sz="2200" b="1" dirty="0">
                  <a:solidFill>
                    <a:schemeClr val="accent5"/>
                  </a:solidFill>
                  <a:ea typeface="Roboto" panose="02000000000000000000" pitchFamily="2" charset="0"/>
                </a:rPr>
                <a:t> </a:t>
              </a:r>
              <a:r>
                <a:rPr lang="es-MX" sz="2200" b="1" dirty="0">
                  <a:solidFill>
                    <a:srgbClr val="C00000"/>
                  </a:solidFill>
                  <a:ea typeface="Roboto" panose="02000000000000000000" pitchFamily="2" charset="0"/>
                </a:rPr>
                <a:t>de esta clase</a:t>
              </a:r>
              <a:r>
                <a:rPr lang="es-MX" sz="2200" b="1" dirty="0">
                  <a:ea typeface="Roboto" panose="02000000000000000000" pitchFamily="2" charset="0"/>
                </a:rPr>
                <a:t> </a:t>
              </a:r>
              <a:r>
                <a:rPr lang="es-MX" sz="2200" b="1" dirty="0">
                  <a:solidFill>
                    <a:schemeClr val="accent6">
                      <a:lumMod val="50000"/>
                    </a:schemeClr>
                  </a:solidFill>
                  <a:ea typeface="Roboto" panose="02000000000000000000" pitchFamily="2" charset="0"/>
                </a:rPr>
                <a:t>han tomado un curso de Java</a:t>
              </a:r>
              <a:endParaRPr lang="es-CO" sz="2200" b="1" dirty="0">
                <a:solidFill>
                  <a:schemeClr val="accent6">
                    <a:lumMod val="50000"/>
                  </a:schemeClr>
                </a:solidFill>
                <a:ea typeface="Roboto" panose="02000000000000000000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6A91405A-FA9A-4067-8D94-E695E10596FD}"/>
                    </a:ext>
                  </a:extLst>
                </p:cNvPr>
                <p:cNvSpPr txBox="1"/>
                <p:nvPr/>
              </p:nvSpPr>
              <p:spPr>
                <a:xfrm>
                  <a:off x="6755164" y="6280030"/>
                  <a:ext cx="2101409" cy="38215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O" sz="2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s-MX" sz="2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s-MX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es-MX" sz="2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MX" sz="22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s-MX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s-MX" sz="22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s-MX" sz="22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MX" sz="22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s-CO" sz="2200" dirty="0"/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6A91405A-FA9A-4067-8D94-E695E10596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5164" y="6280030"/>
                  <a:ext cx="2101409" cy="382156"/>
                </a:xfrm>
                <a:prstGeom prst="rect">
                  <a:avLst/>
                </a:prstGeom>
                <a:blipFill>
                  <a:blip r:embed="rId4"/>
                  <a:stretch>
                    <a:fillRect l="-2319" b="-19048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782A46FF-162E-41A7-BC9A-E79BC3C1B485}"/>
                </a:ext>
              </a:extLst>
            </p:cNvPr>
            <p:cNvGrpSpPr/>
            <p:nvPr/>
          </p:nvGrpSpPr>
          <p:grpSpPr>
            <a:xfrm>
              <a:off x="7532017" y="5598042"/>
              <a:ext cx="2878487" cy="647700"/>
              <a:chOff x="7496731" y="4443225"/>
              <a:chExt cx="2878487" cy="647700"/>
            </a:xfrm>
          </p:grpSpPr>
          <p:sp>
            <p:nvSpPr>
              <p:cNvPr id="18" name="Flecha: hacia abajo 17">
                <a:extLst>
                  <a:ext uri="{FF2B5EF4-FFF2-40B4-BE49-F238E27FC236}">
                    <a16:creationId xmlns:a16="http://schemas.microsoft.com/office/drawing/2014/main" id="{A9160375-52E8-46E1-BB5B-E128B961D954}"/>
                  </a:ext>
                </a:extLst>
              </p:cNvPr>
              <p:cNvSpPr/>
              <p:nvPr/>
            </p:nvSpPr>
            <p:spPr>
              <a:xfrm>
                <a:off x="7496731" y="4443225"/>
                <a:ext cx="368300" cy="647700"/>
              </a:xfrm>
              <a:prstGeom prst="downArrow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2200"/>
              </a:p>
            </p:txBody>
          </p:sp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152D0AB6-B96D-4CA0-9870-631E685D9FC4}"/>
                  </a:ext>
                </a:extLst>
              </p:cNvPr>
              <p:cNvSpPr txBox="1"/>
              <p:nvPr/>
            </p:nvSpPr>
            <p:spPr>
              <a:xfrm>
                <a:off x="7865031" y="4506536"/>
                <a:ext cx="25101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bg1">
                        <a:lumMod val="50000"/>
                      </a:schemeClr>
                    </a:solidFill>
                    <a:ea typeface="Roboto" panose="02000000000000000000" pitchFamily="2" charset="0"/>
                  </a:rPr>
                  <a:t>Expresión lógica</a:t>
                </a:r>
                <a:endParaRPr lang="es-CO" sz="2000" dirty="0">
                  <a:solidFill>
                    <a:schemeClr val="bg1">
                      <a:lumMod val="50000"/>
                    </a:schemeClr>
                  </a:solidFill>
                  <a:ea typeface="Roboto" panose="020000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038082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609600" y="96038"/>
            <a:ext cx="86110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6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Google Shape;310;p34">
            <a:extLst>
              <a:ext uri="{FF2B5EF4-FFF2-40B4-BE49-F238E27FC236}">
                <a16:creationId xmlns:a16="http://schemas.microsoft.com/office/drawing/2014/main" id="{02DFBE09-B1C4-4231-A034-EC20CAD79937}"/>
              </a:ext>
            </a:extLst>
          </p:cNvPr>
          <p:cNvSpPr txBox="1">
            <a:spLocks/>
          </p:cNvSpPr>
          <p:nvPr/>
        </p:nvSpPr>
        <p:spPr>
          <a:xfrm>
            <a:off x="259080" y="1039456"/>
            <a:ext cx="11521440" cy="7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dirty="0">
                <a:latin typeface="+mn-lt"/>
              </a:rPr>
              <a:t>Traduzca la siguiente oración a lógica de predicados: “Algún estudiante de esta clase ha tomado un curso de Java”.</a:t>
            </a:r>
          </a:p>
        </p:txBody>
      </p:sp>
    </p:spTree>
    <p:extLst>
      <p:ext uri="{BB962C8B-B14F-4D97-AF65-F5344CB8AC3E}">
        <p14:creationId xmlns:p14="http://schemas.microsoft.com/office/powerpoint/2010/main" val="30296941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609600" y="96038"/>
            <a:ext cx="86110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6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Google Shape;310;p34">
            <a:extLst>
              <a:ext uri="{FF2B5EF4-FFF2-40B4-BE49-F238E27FC236}">
                <a16:creationId xmlns:a16="http://schemas.microsoft.com/office/drawing/2014/main" id="{02DFBE09-B1C4-4231-A034-EC20CAD79937}"/>
              </a:ext>
            </a:extLst>
          </p:cNvPr>
          <p:cNvSpPr txBox="1">
            <a:spLocks/>
          </p:cNvSpPr>
          <p:nvPr/>
        </p:nvSpPr>
        <p:spPr>
          <a:xfrm>
            <a:off x="259080" y="1039456"/>
            <a:ext cx="11521440" cy="7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dirty="0">
                <a:latin typeface="+mn-lt"/>
              </a:rPr>
              <a:t>Traduzca la siguiente oración a lógica de predicados: “Algún estudiante de esta clase ha tomado un curso de Java”.</a:t>
            </a:r>
          </a:p>
        </p:txBody>
      </p:sp>
      <p:sp>
        <p:nvSpPr>
          <p:cNvPr id="5" name="Google Shape;310;p34">
            <a:extLst>
              <a:ext uri="{FF2B5EF4-FFF2-40B4-BE49-F238E27FC236}">
                <a16:creationId xmlns:a16="http://schemas.microsoft.com/office/drawing/2014/main" id="{8AE0F99F-9459-47DE-96B9-14F28958A04D}"/>
              </a:ext>
            </a:extLst>
          </p:cNvPr>
          <p:cNvSpPr txBox="1">
            <a:spLocks/>
          </p:cNvSpPr>
          <p:nvPr/>
        </p:nvSpPr>
        <p:spPr>
          <a:xfrm>
            <a:off x="259080" y="1797656"/>
            <a:ext cx="2031860" cy="490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400" b="1" dirty="0">
                <a:latin typeface="+mn-lt"/>
                <a:ea typeface="Roboto" panose="02000000000000000000" pitchFamily="2" charset="0"/>
              </a:rPr>
              <a:t>Solución 1</a:t>
            </a:r>
            <a:r>
              <a:rPr lang="es-MX" sz="2400" dirty="0">
                <a:latin typeface="+mn-lt"/>
                <a:ea typeface="Roboto" panose="02000000000000000000" pitchFamily="2" charset="0"/>
              </a:rPr>
              <a:t>: </a:t>
            </a:r>
          </a:p>
          <a:p>
            <a:pPr marL="127000" indent="0">
              <a:buNone/>
            </a:pPr>
            <a:endParaRPr lang="es-MX" sz="2400" dirty="0">
              <a:latin typeface="+mn-lt"/>
              <a:ea typeface="Roboto" panose="02000000000000000000" pitchFamily="2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DDD1ADC1-9977-4729-B422-BA8003F385CA}"/>
              </a:ext>
            </a:extLst>
          </p:cNvPr>
          <p:cNvGrpSpPr/>
          <p:nvPr/>
        </p:nvGrpSpPr>
        <p:grpSpPr>
          <a:xfrm>
            <a:off x="4130566" y="4785762"/>
            <a:ext cx="7535917" cy="1433975"/>
            <a:chOff x="5022050" y="2789510"/>
            <a:chExt cx="7535917" cy="1433975"/>
          </a:xfrm>
        </p:grpSpPr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B714CBF-0D3E-439A-A6B6-1A15CB0F066F}"/>
                </a:ext>
              </a:extLst>
            </p:cNvPr>
            <p:cNvSpPr txBox="1"/>
            <p:nvPr/>
          </p:nvSpPr>
          <p:spPr>
            <a:xfrm>
              <a:off x="5022050" y="2789510"/>
              <a:ext cx="753591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MX" sz="2200" b="1" dirty="0">
                  <a:solidFill>
                    <a:srgbClr val="0070C0"/>
                  </a:solidFill>
                  <a:ea typeface="Roboto" panose="02000000000000000000" pitchFamily="2" charset="0"/>
                </a:rPr>
                <a:t>Algún</a:t>
              </a:r>
              <a:r>
                <a:rPr lang="es-MX" sz="2200" b="1" dirty="0">
                  <a:ea typeface="Roboto" panose="02000000000000000000" pitchFamily="2" charset="0"/>
                </a:rPr>
                <a:t> </a:t>
              </a:r>
              <a:r>
                <a:rPr lang="es-MX" sz="2200" b="1" u="sng" dirty="0">
                  <a:ea typeface="Roboto" panose="02000000000000000000" pitchFamily="2" charset="0"/>
                </a:rPr>
                <a:t>estudiante de esta clase</a:t>
              </a:r>
              <a:r>
                <a:rPr lang="es-MX" sz="2200" b="1" dirty="0">
                  <a:ea typeface="Roboto" panose="02000000000000000000" pitchFamily="2" charset="0"/>
                </a:rPr>
                <a:t> </a:t>
              </a:r>
              <a:r>
                <a:rPr lang="es-MX" sz="2200" b="1" dirty="0">
                  <a:solidFill>
                    <a:srgbClr val="00B050"/>
                  </a:solidFill>
                  <a:ea typeface="Roboto" panose="02000000000000000000" pitchFamily="2" charset="0"/>
                </a:rPr>
                <a:t>ha tomado un curso de Java</a:t>
              </a:r>
              <a:endParaRPr lang="es-CO" sz="2200" b="1" dirty="0">
                <a:solidFill>
                  <a:srgbClr val="00B050"/>
                </a:solidFill>
                <a:ea typeface="Roboto" panose="02000000000000000000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8A0A928B-A56C-48B1-A214-F05956164DAA}"/>
                    </a:ext>
                  </a:extLst>
                </p:cNvPr>
                <p:cNvSpPr txBox="1"/>
                <p:nvPr/>
              </p:nvSpPr>
              <p:spPr>
                <a:xfrm>
                  <a:off x="8171033" y="3884931"/>
                  <a:ext cx="886205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r>
                          <a:rPr lang="es-MX" sz="2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𝑥𝐽</m:t>
                        </m:r>
                        <m:d>
                          <m:dPr>
                            <m:ctrlPr>
                              <a:rPr lang="es-MX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s-CO" sz="22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8A0A928B-A56C-48B1-A214-F05956164D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1033" y="3884931"/>
                  <a:ext cx="886205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6164" b="-29091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2C9F196A-F210-4051-9BBF-9D6078B09789}"/>
                </a:ext>
              </a:extLst>
            </p:cNvPr>
            <p:cNvGrpSpPr/>
            <p:nvPr/>
          </p:nvGrpSpPr>
          <p:grpSpPr>
            <a:xfrm>
              <a:off x="8429986" y="3226443"/>
              <a:ext cx="2574682" cy="647700"/>
              <a:chOff x="8394700" y="4267200"/>
              <a:chExt cx="2574682" cy="647700"/>
            </a:xfrm>
          </p:grpSpPr>
          <p:sp>
            <p:nvSpPr>
              <p:cNvPr id="13" name="Flecha: hacia abajo 12">
                <a:extLst>
                  <a:ext uri="{FF2B5EF4-FFF2-40B4-BE49-F238E27FC236}">
                    <a16:creationId xmlns:a16="http://schemas.microsoft.com/office/drawing/2014/main" id="{AA4E9C62-52CA-43BA-A3D3-5B5B08FB7282}"/>
                  </a:ext>
                </a:extLst>
              </p:cNvPr>
              <p:cNvSpPr/>
              <p:nvPr/>
            </p:nvSpPr>
            <p:spPr>
              <a:xfrm>
                <a:off x="8394700" y="4267200"/>
                <a:ext cx="368300" cy="647700"/>
              </a:xfrm>
              <a:prstGeom prst="downArrow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2200"/>
              </a:p>
            </p:txBody>
          </p:sp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CD82141F-E39F-4B72-B21C-BB441E7F895B}"/>
                  </a:ext>
                </a:extLst>
              </p:cNvPr>
              <p:cNvSpPr txBox="1"/>
              <p:nvPr/>
            </p:nvSpPr>
            <p:spPr>
              <a:xfrm>
                <a:off x="8754722" y="4277988"/>
                <a:ext cx="221466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bg1">
                        <a:lumMod val="50000"/>
                      </a:schemeClr>
                    </a:solidFill>
                    <a:ea typeface="Roboto" panose="02000000000000000000" pitchFamily="2" charset="0"/>
                  </a:rPr>
                  <a:t>Expresión lógica</a:t>
                </a:r>
                <a:endParaRPr lang="es-CO" sz="2000" dirty="0">
                  <a:solidFill>
                    <a:schemeClr val="bg1">
                      <a:lumMod val="50000"/>
                    </a:schemeClr>
                  </a:solidFill>
                  <a:ea typeface="Roboto" panose="02000000000000000000" pitchFamily="2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a 2">
                <a:extLst>
                  <a:ext uri="{FF2B5EF4-FFF2-40B4-BE49-F238E27FC236}">
                    <a16:creationId xmlns:a16="http://schemas.microsoft.com/office/drawing/2014/main" id="{F108E629-3947-42C7-B7C8-27754033A8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7064487"/>
                  </p:ext>
                </p:extLst>
              </p:nvPr>
            </p:nvGraphicFramePr>
            <p:xfrm>
              <a:off x="454091" y="2403661"/>
              <a:ext cx="6687687" cy="19812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156250">
                      <a:extLst>
                        <a:ext uri="{9D8B030D-6E8A-4147-A177-3AD203B41FA5}">
                          <a16:colId xmlns:a16="http://schemas.microsoft.com/office/drawing/2014/main" val="55665907"/>
                        </a:ext>
                      </a:extLst>
                    </a:gridCol>
                    <a:gridCol w="4531437">
                      <a:extLst>
                        <a:ext uri="{9D8B030D-6E8A-4147-A177-3AD203B41FA5}">
                          <a16:colId xmlns:a16="http://schemas.microsoft.com/office/drawing/2014/main" val="2393994677"/>
                        </a:ext>
                      </a:extLst>
                    </a:gridCol>
                  </a:tblGrid>
                  <a:tr h="24003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Dominio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𝑈</m:t>
                                </m:r>
                                <m:r>
                                  <a:rPr lang="es-MX" sz="2000" b="0" i="1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: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Todos</m:t>
                                </m:r>
                                <m: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los</m:t>
                                </m:r>
                                <m: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estudiantes</m:t>
                                </m:r>
                                <m: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de</m:t>
                                </m:r>
                                <m: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esta</m:t>
                                </m:r>
                                <m: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clase</m:t>
                                </m:r>
                              </m:oMath>
                            </m:oMathPara>
                          </a14:m>
                          <a:endParaRPr lang="es-CO" sz="2000" b="0" i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4054099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Variables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97047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Constantes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736836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Predicados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:"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ha</m:t>
                              </m:r>
                              <m: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tomado</m:t>
                              </m:r>
                              <m: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clade</m:t>
                              </m:r>
                              <m: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de</m:t>
                              </m:r>
                              <m: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Java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"</m:t>
                              </m:r>
                            </m:oMath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33263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Cuantificadores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∃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01306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a 2">
                <a:extLst>
                  <a:ext uri="{FF2B5EF4-FFF2-40B4-BE49-F238E27FC236}">
                    <a16:creationId xmlns:a16="http://schemas.microsoft.com/office/drawing/2014/main" id="{F108E629-3947-42C7-B7C8-27754033A8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7064487"/>
                  </p:ext>
                </p:extLst>
              </p:nvPr>
            </p:nvGraphicFramePr>
            <p:xfrm>
              <a:off x="454091" y="2403661"/>
              <a:ext cx="6687687" cy="19812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156250">
                      <a:extLst>
                        <a:ext uri="{9D8B030D-6E8A-4147-A177-3AD203B41FA5}">
                          <a16:colId xmlns:a16="http://schemas.microsoft.com/office/drawing/2014/main" val="55665907"/>
                        </a:ext>
                      </a:extLst>
                    </a:gridCol>
                    <a:gridCol w="4531437">
                      <a:extLst>
                        <a:ext uri="{9D8B030D-6E8A-4147-A177-3AD203B41FA5}">
                          <a16:colId xmlns:a16="http://schemas.microsoft.com/office/drawing/2014/main" val="239399467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Dominio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7715" t="-7692" r="-269" b="-4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40540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Variables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7715" t="-107692" r="-269" b="-3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097047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Constantes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73683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Predicados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7715" t="-309231" r="-269" b="-1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29332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Cuantificadores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7715" t="-409231" r="-269" b="-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013063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620287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609600" y="96038"/>
            <a:ext cx="86110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6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Google Shape;310;p34">
            <a:extLst>
              <a:ext uri="{FF2B5EF4-FFF2-40B4-BE49-F238E27FC236}">
                <a16:creationId xmlns:a16="http://schemas.microsoft.com/office/drawing/2014/main" id="{02DFBE09-B1C4-4231-A034-EC20CAD79937}"/>
              </a:ext>
            </a:extLst>
          </p:cNvPr>
          <p:cNvSpPr txBox="1">
            <a:spLocks/>
          </p:cNvSpPr>
          <p:nvPr/>
        </p:nvSpPr>
        <p:spPr>
          <a:xfrm>
            <a:off x="259080" y="1039456"/>
            <a:ext cx="11521440" cy="7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dirty="0">
                <a:latin typeface="+mn-lt"/>
              </a:rPr>
              <a:t>Traduzca la siguiente oración a lógica de predicados: “Algún estudiante de esta clase ha tomado un curso de Java”.</a:t>
            </a:r>
          </a:p>
        </p:txBody>
      </p:sp>
      <p:sp>
        <p:nvSpPr>
          <p:cNvPr id="6" name="Google Shape;310;p34">
            <a:extLst>
              <a:ext uri="{FF2B5EF4-FFF2-40B4-BE49-F238E27FC236}">
                <a16:creationId xmlns:a16="http://schemas.microsoft.com/office/drawing/2014/main" id="{13DBC244-77D6-4C96-A73F-98B98B159E85}"/>
              </a:ext>
            </a:extLst>
          </p:cNvPr>
          <p:cNvSpPr txBox="1">
            <a:spLocks/>
          </p:cNvSpPr>
          <p:nvPr/>
        </p:nvSpPr>
        <p:spPr>
          <a:xfrm>
            <a:off x="259080" y="1814686"/>
            <a:ext cx="2031860" cy="490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400" b="1" dirty="0">
                <a:latin typeface="+mn-lt"/>
                <a:ea typeface="Roboto" panose="02000000000000000000" pitchFamily="2" charset="0"/>
              </a:rPr>
              <a:t>Solución 2</a:t>
            </a:r>
            <a:r>
              <a:rPr lang="es-MX" sz="2400" dirty="0">
                <a:latin typeface="+mn-lt"/>
                <a:ea typeface="Roboto" panose="02000000000000000000" pitchFamily="2" charset="0"/>
              </a:rPr>
              <a:t>: </a:t>
            </a:r>
          </a:p>
          <a:p>
            <a:pPr marL="127000" indent="0">
              <a:buNone/>
            </a:pPr>
            <a:endParaRPr lang="es-MX" sz="2400" dirty="0">
              <a:latin typeface="+mn-lt"/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a 2">
                <a:extLst>
                  <a:ext uri="{FF2B5EF4-FFF2-40B4-BE49-F238E27FC236}">
                    <a16:creationId xmlns:a16="http://schemas.microsoft.com/office/drawing/2014/main" id="{5508F284-9112-444F-9BFE-07AF600C81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2033630"/>
                  </p:ext>
                </p:extLst>
              </p:nvPr>
            </p:nvGraphicFramePr>
            <p:xfrm>
              <a:off x="483007" y="2372602"/>
              <a:ext cx="6078560" cy="22860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959854">
                      <a:extLst>
                        <a:ext uri="{9D8B030D-6E8A-4147-A177-3AD203B41FA5}">
                          <a16:colId xmlns:a16="http://schemas.microsoft.com/office/drawing/2014/main" val="55665907"/>
                        </a:ext>
                      </a:extLst>
                    </a:gridCol>
                    <a:gridCol w="4118706">
                      <a:extLst>
                        <a:ext uri="{9D8B030D-6E8A-4147-A177-3AD203B41FA5}">
                          <a16:colId xmlns:a16="http://schemas.microsoft.com/office/drawing/2014/main" val="2393994677"/>
                        </a:ext>
                      </a:extLst>
                    </a:gridCol>
                  </a:tblGrid>
                  <a:tr h="24003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Dominio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𝑈</m:t>
                                </m:r>
                                <m:r>
                                  <a:rPr lang="es-MX" sz="2000" b="0" i="1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: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Todas</m:t>
                                </m:r>
                                <m: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personas</m:t>
                                </m:r>
                              </m:oMath>
                            </m:oMathPara>
                          </a14:m>
                          <a:endParaRPr lang="es-CO" sz="2000" b="0" i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4054099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Variables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97047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Constantes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736836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Predicados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es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estudiante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de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esta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clase</m:t>
                              </m:r>
                            </m:oMath>
                          </a14:m>
                          <a:endParaRPr lang="es-MX" sz="2000" b="0" dirty="0">
                            <a:latin typeface="+mn-lt"/>
                            <a:ea typeface="Cambria Math" panose="02040503050406030204" pitchFamily="18" charset="0"/>
                          </a:endParaRP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ha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tomado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clade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de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Java</m:t>
                              </m:r>
                            </m:oMath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33263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Cuantificadores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∃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01306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a 2">
                <a:extLst>
                  <a:ext uri="{FF2B5EF4-FFF2-40B4-BE49-F238E27FC236}">
                    <a16:creationId xmlns:a16="http://schemas.microsoft.com/office/drawing/2014/main" id="{5508F284-9112-444F-9BFE-07AF600C81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2033630"/>
                  </p:ext>
                </p:extLst>
              </p:nvPr>
            </p:nvGraphicFramePr>
            <p:xfrm>
              <a:off x="483007" y="2372602"/>
              <a:ext cx="6078560" cy="22860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959854">
                      <a:extLst>
                        <a:ext uri="{9D8B030D-6E8A-4147-A177-3AD203B41FA5}">
                          <a16:colId xmlns:a16="http://schemas.microsoft.com/office/drawing/2014/main" val="55665907"/>
                        </a:ext>
                      </a:extLst>
                    </a:gridCol>
                    <a:gridCol w="4118706">
                      <a:extLst>
                        <a:ext uri="{9D8B030D-6E8A-4147-A177-3AD203B41FA5}">
                          <a16:colId xmlns:a16="http://schemas.microsoft.com/office/drawing/2014/main" val="239399467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Dominio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7781" t="-7692" r="-148" b="-5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40540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Variables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7781" t="-107692" r="-148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097047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Constantes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736836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Predicados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7781" t="-174783" r="-148" b="-713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29332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Cuantificadores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7781" t="-486154" r="-148" b="-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013063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5" name="Grupo 14">
            <a:extLst>
              <a:ext uri="{FF2B5EF4-FFF2-40B4-BE49-F238E27FC236}">
                <a16:creationId xmlns:a16="http://schemas.microsoft.com/office/drawing/2014/main" id="{9993A7CE-6B94-42CF-AC41-10FD7CF5A269}"/>
              </a:ext>
            </a:extLst>
          </p:cNvPr>
          <p:cNvGrpSpPr/>
          <p:nvPr/>
        </p:nvGrpSpPr>
        <p:grpSpPr>
          <a:xfrm>
            <a:off x="3783724" y="5050899"/>
            <a:ext cx="7409793" cy="1535289"/>
            <a:chOff x="5047854" y="5040533"/>
            <a:chExt cx="7409793" cy="1535289"/>
          </a:xfrm>
        </p:grpSpPr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09A2B8C7-5B43-4E23-90CC-A9EF77F87141}"/>
                </a:ext>
              </a:extLst>
            </p:cNvPr>
            <p:cNvSpPr txBox="1"/>
            <p:nvPr/>
          </p:nvSpPr>
          <p:spPr>
            <a:xfrm>
              <a:off x="5047854" y="5040533"/>
              <a:ext cx="740979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MX" sz="2200" b="1" dirty="0">
                  <a:solidFill>
                    <a:srgbClr val="0070C0"/>
                  </a:solidFill>
                  <a:ea typeface="Roboto" panose="02000000000000000000" pitchFamily="2" charset="0"/>
                </a:rPr>
                <a:t>Algún</a:t>
              </a:r>
              <a:r>
                <a:rPr lang="es-MX" sz="2200" b="1" dirty="0">
                  <a:ea typeface="Roboto" panose="02000000000000000000" pitchFamily="2" charset="0"/>
                </a:rPr>
                <a:t> </a:t>
              </a:r>
              <a:r>
                <a:rPr lang="es-MX" sz="2200" b="1" u="sng" dirty="0">
                  <a:solidFill>
                    <a:schemeClr val="accent6">
                      <a:lumMod val="50000"/>
                    </a:schemeClr>
                  </a:solidFill>
                  <a:ea typeface="Roboto" panose="02000000000000000000" pitchFamily="2" charset="0"/>
                </a:rPr>
                <a:t>estudiante</a:t>
              </a:r>
              <a:r>
                <a:rPr lang="es-MX" sz="2200" b="1" dirty="0">
                  <a:solidFill>
                    <a:schemeClr val="accent5"/>
                  </a:solidFill>
                  <a:ea typeface="Roboto" panose="02000000000000000000" pitchFamily="2" charset="0"/>
                </a:rPr>
                <a:t> </a:t>
              </a:r>
              <a:r>
                <a:rPr lang="es-MX" sz="2200" b="1" dirty="0">
                  <a:solidFill>
                    <a:schemeClr val="accent6">
                      <a:lumMod val="50000"/>
                    </a:schemeClr>
                  </a:solidFill>
                  <a:ea typeface="Roboto" panose="02000000000000000000" pitchFamily="2" charset="0"/>
                </a:rPr>
                <a:t>de esta clase</a:t>
              </a:r>
              <a:r>
                <a:rPr lang="es-MX" sz="2200" b="1" dirty="0">
                  <a:ea typeface="Roboto" panose="02000000000000000000" pitchFamily="2" charset="0"/>
                </a:rPr>
                <a:t> </a:t>
              </a:r>
              <a:r>
                <a:rPr lang="es-MX" sz="2200" b="1" dirty="0">
                  <a:solidFill>
                    <a:srgbClr val="C00000"/>
                  </a:solidFill>
                  <a:ea typeface="Roboto" panose="02000000000000000000" pitchFamily="2" charset="0"/>
                </a:rPr>
                <a:t>ha tomado un curso de Java</a:t>
              </a:r>
              <a:endParaRPr lang="es-CO" sz="2200" b="1" dirty="0">
                <a:solidFill>
                  <a:srgbClr val="C00000"/>
                </a:solidFill>
                <a:ea typeface="Roboto" panose="02000000000000000000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6DA9E67F-5F1A-41EF-9EBB-4E960C76098F}"/>
                    </a:ext>
                  </a:extLst>
                </p:cNvPr>
                <p:cNvSpPr txBox="1"/>
                <p:nvPr/>
              </p:nvSpPr>
              <p:spPr>
                <a:xfrm>
                  <a:off x="7748450" y="6193666"/>
                  <a:ext cx="1988365" cy="38215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r>
                          <a:rPr lang="es-MX" sz="2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s-MX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2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es-MX" sz="22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MX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s-MX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s-MX" sz="2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s-MX" sz="2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MX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s-CO" sz="2200" dirty="0"/>
                </a:p>
              </p:txBody>
            </p:sp>
          </mc:Choice>
          <mc:Fallback xmlns="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6DA9E67F-5F1A-41EF-9EBB-4E960C7609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8450" y="6193666"/>
                  <a:ext cx="1988365" cy="382156"/>
                </a:xfrm>
                <a:prstGeom prst="rect">
                  <a:avLst/>
                </a:prstGeom>
                <a:blipFill>
                  <a:blip r:embed="rId4"/>
                  <a:stretch>
                    <a:fillRect l="-2454" b="-20968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A737DAE8-358B-4CCC-964E-0CB91CE56EA4}"/>
                </a:ext>
              </a:extLst>
            </p:cNvPr>
            <p:cNvGrpSpPr/>
            <p:nvPr/>
          </p:nvGrpSpPr>
          <p:grpSpPr>
            <a:xfrm>
              <a:off x="8429986" y="5422017"/>
              <a:ext cx="2592998" cy="647700"/>
              <a:chOff x="8394700" y="4267200"/>
              <a:chExt cx="2592998" cy="647700"/>
            </a:xfrm>
          </p:grpSpPr>
          <p:sp>
            <p:nvSpPr>
              <p:cNvPr id="19" name="Flecha: hacia abajo 18">
                <a:extLst>
                  <a:ext uri="{FF2B5EF4-FFF2-40B4-BE49-F238E27FC236}">
                    <a16:creationId xmlns:a16="http://schemas.microsoft.com/office/drawing/2014/main" id="{EAD8B96E-3876-4AAA-BE19-AE47D1ACF62D}"/>
                  </a:ext>
                </a:extLst>
              </p:cNvPr>
              <p:cNvSpPr/>
              <p:nvPr/>
            </p:nvSpPr>
            <p:spPr>
              <a:xfrm>
                <a:off x="8394700" y="4267200"/>
                <a:ext cx="368300" cy="647700"/>
              </a:xfrm>
              <a:prstGeom prst="downArrow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2200"/>
              </a:p>
            </p:txBody>
          </p:sp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B803BD8F-298A-4ED7-ACD8-826E8B1E73FF}"/>
                  </a:ext>
                </a:extLst>
              </p:cNvPr>
              <p:cNvSpPr txBox="1"/>
              <p:nvPr/>
            </p:nvSpPr>
            <p:spPr>
              <a:xfrm>
                <a:off x="8762999" y="4382701"/>
                <a:ext cx="22246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bg1">
                        <a:lumMod val="50000"/>
                      </a:schemeClr>
                    </a:solidFill>
                    <a:ea typeface="Roboto" panose="02000000000000000000" pitchFamily="2" charset="0"/>
                  </a:rPr>
                  <a:t>Expresión lógica</a:t>
                </a:r>
                <a:endParaRPr lang="es-CO" sz="2000" dirty="0">
                  <a:solidFill>
                    <a:schemeClr val="bg1">
                      <a:lumMod val="50000"/>
                    </a:schemeClr>
                  </a:solidFill>
                  <a:ea typeface="Roboto" panose="020000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933974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533400" y="96038"/>
            <a:ext cx="86872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7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Google Shape;310;p34">
            <a:extLst>
              <a:ext uri="{FF2B5EF4-FFF2-40B4-BE49-F238E27FC236}">
                <a16:creationId xmlns:a16="http://schemas.microsoft.com/office/drawing/2014/main" id="{02DFBE09-B1C4-4231-A034-EC20CAD79937}"/>
              </a:ext>
            </a:extLst>
          </p:cNvPr>
          <p:cNvSpPr txBox="1">
            <a:spLocks/>
          </p:cNvSpPr>
          <p:nvPr/>
        </p:nvSpPr>
        <p:spPr>
          <a:xfrm>
            <a:off x="402170" y="1034786"/>
            <a:ext cx="10665223" cy="341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</a:rPr>
              <a:t>Tenemos las siguientes premisas:</a:t>
            </a:r>
          </a:p>
          <a:p>
            <a:r>
              <a:rPr lang="es-MX" sz="2200" dirty="0">
                <a:latin typeface="+mn-lt"/>
              </a:rPr>
              <a:t>“Todos los hombres son mortales”</a:t>
            </a:r>
          </a:p>
          <a:p>
            <a:r>
              <a:rPr lang="es-MX" sz="2200" dirty="0">
                <a:latin typeface="+mn-lt"/>
              </a:rPr>
              <a:t>“Sócrates es un hombre”</a:t>
            </a:r>
          </a:p>
          <a:p>
            <a:pPr lvl="1"/>
            <a:endParaRPr lang="es-MX" dirty="0">
              <a:latin typeface="+mn-lt"/>
            </a:endParaRPr>
          </a:p>
          <a:p>
            <a:pPr marL="584200" lvl="1" indent="0">
              <a:buNone/>
            </a:pPr>
            <a:r>
              <a:rPr lang="es-MX" dirty="0">
                <a:latin typeface="+mn-lt"/>
              </a:rPr>
              <a:t>Y la siguiente conclusión: “Sócrates es Mortal”</a:t>
            </a:r>
          </a:p>
          <a:p>
            <a:pPr marL="584200" lvl="1" indent="0">
              <a:buNone/>
            </a:pPr>
            <a:endParaRPr lang="es-MX" dirty="0">
              <a:latin typeface="+mn-lt"/>
            </a:endParaRPr>
          </a:p>
          <a:p>
            <a:pPr marL="127000" indent="0">
              <a:buNone/>
            </a:pPr>
            <a:r>
              <a:rPr lang="es-MX" sz="2200" dirty="0">
                <a:latin typeface="+mn-lt"/>
              </a:rPr>
              <a:t>¿Como es la representación en lógica cuantificacional de las premisas y la conclusión?</a:t>
            </a:r>
          </a:p>
          <a:p>
            <a:pPr marL="584200" lvl="1" indent="0">
              <a:buNone/>
            </a:pPr>
            <a:endParaRPr lang="es-MX" dirty="0"/>
          </a:p>
          <a:p>
            <a:pPr marL="584200" lvl="1" indent="0">
              <a:buNone/>
            </a:pPr>
            <a:endParaRPr lang="es-MX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0FE429C-4E35-4C5F-B8E7-F25AAAD0D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890" y="911204"/>
            <a:ext cx="2049519" cy="214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8671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533400" y="96038"/>
            <a:ext cx="86872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7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0FE429C-4E35-4C5F-B8E7-F25AAAD0D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360" y="2017191"/>
            <a:ext cx="1507647" cy="1578739"/>
          </a:xfrm>
          <a:prstGeom prst="rect">
            <a:avLst/>
          </a:prstGeom>
        </p:spPr>
      </p:pic>
      <p:sp>
        <p:nvSpPr>
          <p:cNvPr id="16" name="Google Shape;310;p34">
            <a:extLst>
              <a:ext uri="{FF2B5EF4-FFF2-40B4-BE49-F238E27FC236}">
                <a16:creationId xmlns:a16="http://schemas.microsoft.com/office/drawing/2014/main" id="{12637DF4-CAA8-4CFC-8DAC-213162FAD006}"/>
              </a:ext>
            </a:extLst>
          </p:cNvPr>
          <p:cNvSpPr txBox="1">
            <a:spLocks/>
          </p:cNvSpPr>
          <p:nvPr/>
        </p:nvSpPr>
        <p:spPr>
          <a:xfrm>
            <a:off x="533400" y="1011390"/>
            <a:ext cx="9635359" cy="490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latin typeface="+mn-lt"/>
                <a:ea typeface="Roboto" panose="02000000000000000000" pitchFamily="2" charset="0"/>
              </a:rPr>
              <a:t>Solución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:</a:t>
            </a:r>
            <a:r>
              <a:rPr lang="es-MX" sz="2400" dirty="0">
                <a:latin typeface="+mn-lt"/>
                <a:ea typeface="Roboto" panose="02000000000000000000" pitchFamily="2" charset="0"/>
              </a:rPr>
              <a:t> 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Primero se definen los elementos necesarios para realizar la traducción:</a:t>
            </a:r>
          </a:p>
          <a:p>
            <a:pPr marL="127000" indent="0">
              <a:buNone/>
            </a:pPr>
            <a:endParaRPr lang="es-MX" sz="2000" dirty="0">
              <a:latin typeface="+mn-lt"/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a 2">
                <a:extLst>
                  <a:ext uri="{FF2B5EF4-FFF2-40B4-BE49-F238E27FC236}">
                    <a16:creationId xmlns:a16="http://schemas.microsoft.com/office/drawing/2014/main" id="{9171B35E-A65F-4354-8497-B27B54093C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9597239"/>
                  </p:ext>
                </p:extLst>
              </p:nvPr>
            </p:nvGraphicFramePr>
            <p:xfrm>
              <a:off x="877787" y="1625405"/>
              <a:ext cx="5491481" cy="22860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061569">
                      <a:extLst>
                        <a:ext uri="{9D8B030D-6E8A-4147-A177-3AD203B41FA5}">
                          <a16:colId xmlns:a16="http://schemas.microsoft.com/office/drawing/2014/main" val="55665907"/>
                        </a:ext>
                      </a:extLst>
                    </a:gridCol>
                    <a:gridCol w="3429912">
                      <a:extLst>
                        <a:ext uri="{9D8B030D-6E8A-4147-A177-3AD203B41FA5}">
                          <a16:colId xmlns:a16="http://schemas.microsoft.com/office/drawing/2014/main" val="2393994677"/>
                        </a:ext>
                      </a:extLst>
                    </a:gridCol>
                  </a:tblGrid>
                  <a:tr h="24003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Dominio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𝑈</m:t>
                                </m:r>
                                <m:r>
                                  <a:rPr lang="es-MX" sz="2000" b="0" i="1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: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Todas</m:t>
                                </m:r>
                                <m: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2000" b="0" i="0" dirty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personas</m:t>
                                </m:r>
                              </m:oMath>
                            </m:oMathPara>
                          </a14:m>
                          <a:endParaRPr lang="es-CO" sz="2000" b="0" i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4054099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Variables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97047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Constantes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𝑆𝑜𝑐𝑟𝑎𝑡𝑒𝑠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736836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Predicados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𝑀𝑎𝑛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m:rPr>
                                  <m:nor/>
                                </m:rPr>
                                <a:rPr lang="es-MX" sz="2000" b="0" i="1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es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un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hombrel</m:t>
                              </m:r>
                            </m:oMath>
                          </a14:m>
                          <a:endParaRPr lang="es-MX" sz="2000" b="0" dirty="0">
                            <a:latin typeface="+mn-lt"/>
                            <a:ea typeface="Cambria Math" panose="02040503050406030204" pitchFamily="18" charset="0"/>
                          </a:endParaRP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𝑀𝑜𝑟𝑡𝑎𝑙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m:rPr>
                                  <m:nor/>
                                </m:rPr>
                                <a:rPr lang="es-MX" sz="2000" b="0" i="1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es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2000" b="0" i="0" smtClean="0">
                                  <a:latin typeface="+mn-lt"/>
                                  <a:ea typeface="Cambria Math" panose="02040503050406030204" pitchFamily="18" charset="0"/>
                                </a:rPr>
                                <m:t>mortal</m:t>
                              </m:r>
                            </m:oMath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33263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Cuantificadores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01306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a 2">
                <a:extLst>
                  <a:ext uri="{FF2B5EF4-FFF2-40B4-BE49-F238E27FC236}">
                    <a16:creationId xmlns:a16="http://schemas.microsoft.com/office/drawing/2014/main" id="{9171B35E-A65F-4354-8497-B27B54093C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9597239"/>
                  </p:ext>
                </p:extLst>
              </p:nvPr>
            </p:nvGraphicFramePr>
            <p:xfrm>
              <a:off x="877787" y="1625405"/>
              <a:ext cx="5491481" cy="22860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061569">
                      <a:extLst>
                        <a:ext uri="{9D8B030D-6E8A-4147-A177-3AD203B41FA5}">
                          <a16:colId xmlns:a16="http://schemas.microsoft.com/office/drawing/2014/main" val="55665907"/>
                        </a:ext>
                      </a:extLst>
                    </a:gridCol>
                    <a:gridCol w="3429912">
                      <a:extLst>
                        <a:ext uri="{9D8B030D-6E8A-4147-A177-3AD203B41FA5}">
                          <a16:colId xmlns:a16="http://schemas.microsoft.com/office/drawing/2014/main" val="239399467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Dominio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60213" t="-7692" r="-355" b="-50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40540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Variables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60213" t="-107692" r="-355" b="-40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097047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Constantes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60213" t="-204545" r="-355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736836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Predicados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60213" t="-174783" r="-355" b="-7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29332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Cuantificadores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60213" t="-486154" r="-355" b="-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01306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50C34473-C7C8-49E6-B181-B1321A1370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6694262"/>
                  </p:ext>
                </p:extLst>
              </p:nvPr>
            </p:nvGraphicFramePr>
            <p:xfrm>
              <a:off x="1029985" y="4801548"/>
              <a:ext cx="9164847" cy="1624203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654442">
                      <a:extLst>
                        <a:ext uri="{9D8B030D-6E8A-4147-A177-3AD203B41FA5}">
                          <a16:colId xmlns:a16="http://schemas.microsoft.com/office/drawing/2014/main" val="333568175"/>
                        </a:ext>
                      </a:extLst>
                    </a:gridCol>
                    <a:gridCol w="4073524">
                      <a:extLst>
                        <a:ext uri="{9D8B030D-6E8A-4147-A177-3AD203B41FA5}">
                          <a16:colId xmlns:a16="http://schemas.microsoft.com/office/drawing/2014/main" val="3669833194"/>
                        </a:ext>
                      </a:extLst>
                    </a:gridCol>
                    <a:gridCol w="3436881">
                      <a:extLst>
                        <a:ext uri="{9D8B030D-6E8A-4147-A177-3AD203B41FA5}">
                          <a16:colId xmlns:a16="http://schemas.microsoft.com/office/drawing/2014/main" val="2144027174"/>
                        </a:ext>
                      </a:extLst>
                    </a:gridCol>
                  </a:tblGrid>
                  <a:tr h="240030">
                    <a:tc>
                      <a:txBody>
                        <a:bodyPr/>
                        <a:lstStyle/>
                        <a:p>
                          <a:endParaRPr lang="es-CO" sz="2000" b="1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i="0" dirty="0">
                              <a:latin typeface="+mn-lt"/>
                              <a:ea typeface="Roboto" panose="02000000000000000000" pitchFamily="2" charset="0"/>
                            </a:rPr>
                            <a:t>Lenguaje informal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i="0" dirty="0">
                              <a:latin typeface="+mn-lt"/>
                              <a:ea typeface="Roboto" panose="02000000000000000000" pitchFamily="2" charset="0"/>
                            </a:rPr>
                            <a:t>Lenguaje Formal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2037087"/>
                      </a:ext>
                    </a:extLst>
                  </a:tr>
                  <a:tr h="240030">
                    <a:tc rowSpan="2"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Premisas</a:t>
                          </a:r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“Todos los hombres son mortales”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brk m:alnAt="7"/>
                                  </m:rPr>
                                  <a:rPr lang="es-CO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𝑀𝑎𝑛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𝑀𝑜𝑟𝑡𝑎𝑙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CO" sz="2000" b="0" i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1875811"/>
                      </a:ext>
                    </a:extLst>
                  </a:tr>
                  <a:tr h="240030">
                    <a:tc vMerge="1">
                      <a:txBody>
                        <a:bodyPr/>
                        <a:lstStyle/>
                        <a:p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“Sócrates es un hombre”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𝑀𝑎𝑛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𝑆𝑜𝑐𝑟𝑎𝑡𝑒𝑠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2000" b="0" i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7370108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Conclusión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“Sócrates es Mortal”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𝑀𝑜𝑟𝑡𝑎𝑙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𝑆𝑜𝑐𝑟𝑎𝑡𝑒𝑠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51497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50C34473-C7C8-49E6-B181-B1321A1370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6694262"/>
                  </p:ext>
                </p:extLst>
              </p:nvPr>
            </p:nvGraphicFramePr>
            <p:xfrm>
              <a:off x="1029985" y="4801548"/>
              <a:ext cx="9164847" cy="1624203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654442">
                      <a:extLst>
                        <a:ext uri="{9D8B030D-6E8A-4147-A177-3AD203B41FA5}">
                          <a16:colId xmlns:a16="http://schemas.microsoft.com/office/drawing/2014/main" val="333568175"/>
                        </a:ext>
                      </a:extLst>
                    </a:gridCol>
                    <a:gridCol w="4073524">
                      <a:extLst>
                        <a:ext uri="{9D8B030D-6E8A-4147-A177-3AD203B41FA5}">
                          <a16:colId xmlns:a16="http://schemas.microsoft.com/office/drawing/2014/main" val="3669833194"/>
                        </a:ext>
                      </a:extLst>
                    </a:gridCol>
                    <a:gridCol w="3436881">
                      <a:extLst>
                        <a:ext uri="{9D8B030D-6E8A-4147-A177-3AD203B41FA5}">
                          <a16:colId xmlns:a16="http://schemas.microsoft.com/office/drawing/2014/main" val="2144027174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s-CO" sz="2000" b="1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i="0" dirty="0">
                              <a:latin typeface="+mn-lt"/>
                              <a:ea typeface="Roboto" panose="02000000000000000000" pitchFamily="2" charset="0"/>
                            </a:rPr>
                            <a:t>Lenguaje informal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i="0" dirty="0">
                              <a:latin typeface="+mn-lt"/>
                              <a:ea typeface="Roboto" panose="02000000000000000000" pitchFamily="2" charset="0"/>
                            </a:rPr>
                            <a:t>Lenguaje Formal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2037087"/>
                      </a:ext>
                    </a:extLst>
                  </a:tr>
                  <a:tr h="435483">
                    <a:tc rowSpan="2"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Premisas</a:t>
                          </a:r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“Todos los hombres son mortales”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66844" t="-97222" r="-177" b="-2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1875811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“Sócrates es un hombre”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66844" t="-215152" r="-177" b="-1242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737010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Conclusión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“Sócrates es Mortal”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66844" t="-320000" r="-177" b="-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51497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FD55ACD4-B310-4B9D-AD22-88BFD7E91E7F}"/>
              </a:ext>
            </a:extLst>
          </p:cNvPr>
          <p:cNvSpPr txBox="1">
            <a:spLocks/>
          </p:cNvSpPr>
          <p:nvPr/>
        </p:nvSpPr>
        <p:spPr>
          <a:xfrm>
            <a:off x="559473" y="4111222"/>
            <a:ext cx="9635359" cy="490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dirty="0">
                <a:latin typeface="+mn-lt"/>
                <a:ea typeface="Roboto" panose="02000000000000000000" pitchFamily="2" charset="0"/>
              </a:rPr>
              <a:t>Luego, teniendo en cuenta las definiciones de la tabla anterior, se procede a la traducción:</a:t>
            </a:r>
          </a:p>
          <a:p>
            <a:pPr marL="127000" indent="0">
              <a:buNone/>
            </a:pPr>
            <a:endParaRPr lang="es-MX" sz="2000" dirty="0">
              <a:latin typeface="+mn-lt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6065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25048</TotalTime>
  <Words>4633</Words>
  <Application>Microsoft Office PowerPoint</Application>
  <PresentationFormat>Panorámica</PresentationFormat>
  <Paragraphs>718</Paragraphs>
  <Slides>56</Slides>
  <Notes>56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56</vt:i4>
      </vt:variant>
    </vt:vector>
  </HeadingPairs>
  <TitlesOfParts>
    <vt:vector size="63" baseType="lpstr">
      <vt:lpstr>Roboto</vt:lpstr>
      <vt:lpstr>Roboto Slab</vt:lpstr>
      <vt:lpstr>Arial</vt:lpstr>
      <vt:lpstr>Calibri</vt:lpstr>
      <vt:lpstr>Calibri Light</vt:lpstr>
      <vt:lpstr>Cambria Math</vt:lpstr>
      <vt:lpstr>Tema de Office</vt:lpstr>
      <vt:lpstr>Matemáticas Discretas I</vt:lpstr>
      <vt:lpstr>Resumen rápido lógica proposicional</vt:lpstr>
      <vt:lpstr>Resumen rápido lógica proposicional</vt:lpstr>
      <vt:lpstr>Lógica cuantificacional - Modelo</vt:lpstr>
      <vt:lpstr>Lógica cuantificacional – Conceptos importantes</vt:lpstr>
      <vt:lpstr>Cuantificadores</vt:lpstr>
      <vt:lpstr>Cuantificadores</vt:lpstr>
      <vt:lpstr>Cuantificador Universal (∀)</vt:lpstr>
      <vt:lpstr>Cuantificador Universal (∀)</vt:lpstr>
      <vt:lpstr>Cuantificadores (∃)</vt:lpstr>
      <vt:lpstr>Cuantificadores (∃)</vt:lpstr>
      <vt:lpstr>Resumen cuantificadores</vt:lpstr>
      <vt:lpstr>Cuantificador de unicidad (∃!)</vt:lpstr>
      <vt:lpstr>Cuantificador de unicidad (∃!)</vt:lpstr>
      <vt:lpstr>Propiedades de los cuantificadores</vt:lpstr>
      <vt:lpstr>Propiedades de los cuantificadores</vt:lpstr>
      <vt:lpstr>Precedencia de cuantificadores</vt:lpstr>
      <vt:lpstr>Cuantificadores como funciones y disyunciones</vt:lpstr>
      <vt:lpstr>Cuantificador universal (∀) ≈ Conjunción (∧)</vt:lpstr>
      <vt:lpstr>Cuantificador Existencial (∃) ≈ Disyunción (∨)</vt:lpstr>
      <vt:lpstr>Ejemplos</vt:lpstr>
      <vt:lpstr>Ejemplos </vt:lpstr>
      <vt:lpstr>Ejemplos</vt:lpstr>
      <vt:lpstr>Ejemplo 1</vt:lpstr>
      <vt:lpstr>Ejemplo 1</vt:lpstr>
      <vt:lpstr>Ejemplo 2</vt:lpstr>
      <vt:lpstr>Ejemplo 2</vt:lpstr>
      <vt:lpstr>Ejemplo 3</vt:lpstr>
      <vt:lpstr>Ejemplos 4</vt:lpstr>
      <vt:lpstr>Ejemplo 5</vt:lpstr>
      <vt:lpstr>Ejemplo 6</vt:lpstr>
      <vt:lpstr>Ejemplo 7</vt:lpstr>
      <vt:lpstr>Ejemplos 8</vt:lpstr>
      <vt:lpstr>Ejemplos 9</vt:lpstr>
      <vt:lpstr>Proceso de traducción de lenguaje natural a formal</vt:lpstr>
      <vt:lpstr>Lenguaje formal .vs. lenguaje informal</vt:lpstr>
      <vt:lpstr>Lenguaje formal .vs. lenguaje informal</vt:lpstr>
      <vt:lpstr>Lenguaje formal .vs. lenguaje informal</vt:lpstr>
      <vt:lpstr>Lenguaje formal .vs. lenguaje informal</vt:lpstr>
      <vt:lpstr>Ejemplo 1</vt:lpstr>
      <vt:lpstr>Ejemplo 1</vt:lpstr>
      <vt:lpstr>Ejemplo 2</vt:lpstr>
      <vt:lpstr>Ejemplo 2</vt:lpstr>
      <vt:lpstr>Ejemplo 3</vt:lpstr>
      <vt:lpstr>Ejemplo 3</vt:lpstr>
      <vt:lpstr>Ejemplo 3</vt:lpstr>
      <vt:lpstr>Ejemplo 4</vt:lpstr>
      <vt:lpstr>Ejemplo 4</vt:lpstr>
      <vt:lpstr>Ejemplo 5</vt:lpstr>
      <vt:lpstr>Ejemplo 5</vt:lpstr>
      <vt:lpstr>Ejemplo 5</vt:lpstr>
      <vt:lpstr>Ejemplo 6</vt:lpstr>
      <vt:lpstr>Ejemplo 6</vt:lpstr>
      <vt:lpstr>Ejemplo 6</vt:lpstr>
      <vt:lpstr>Ejemplo 7</vt:lpstr>
      <vt:lpstr>Ejemplo 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Matemáticas Discretas I</dc:title>
  <dc:creator>Usuario</dc:creator>
  <cp:lastModifiedBy>HENRY ALBERTO ARCILA RAMIREZ</cp:lastModifiedBy>
  <cp:revision>283</cp:revision>
  <dcterms:modified xsi:type="dcterms:W3CDTF">2026-09-16T21:24:37Z</dcterms:modified>
</cp:coreProperties>
</file>